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Predicted</c:v>
                </c:pt>
              </c:strCache>
            </c:strRef>
          </c:tx>
          <c:spPr>
            <a:solidFill>
              <a:srgbClr val="1B7A8C"/>
            </a:solidFill>
            <a:ln w="31750" cap="flat">
              <a:solidFill>
                <a:srgbClr val="1B7A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B7A8C"/>
              </a:solidFill>
              <a:ln w="9525" cap="flat">
                <a:solidFill>
                  <a:srgbClr val="1B7A8C"/>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5.2</c:v>
                </c:pt>
                <c:pt idx="1">
                  <c:v>10.4</c:v>
                </c:pt>
                <c:pt idx="2">
                  <c:v>15.5</c:v>
                </c:pt>
                <c:pt idx="3">
                  <c:v>19.4</c:v>
                </c:pt>
                <c:pt idx="4">
                  <c:v>23</c:v>
                </c:pt>
                <c:pt idx="5">
                  <c:v>29.1</c:v>
                </c:pt>
                <c:pt idx="6">
                  <c:v>35.4</c:v>
                </c:pt>
                <c:pt idx="7">
                  <c:v>43.6</c:v>
                </c:pt>
                <c:pt idx="8">
                  <c:v>53.7</c:v>
                </c:pt>
                <c:pt idx="9">
                  <c:v>69.6</c:v>
                </c:pt>
              </c:numCache>
            </c:numRef>
          </c:val>
          <c:smooth val="0"/>
        </c:ser>
        <c:ser>
          <c:idx val="1"/>
          <c:order val="1"/>
          <c:tx>
            <c:strRef>
              <c:f>Sheet1!$C$1</c:f>
              <c:strCache>
                <c:ptCount val="1"/>
                <c:pt idx="0">
                  <c:v>Actual</c:v>
                </c:pt>
              </c:strCache>
            </c:strRef>
          </c:tx>
          <c:spPr>
            <a:solidFill>
              <a:srgbClr val="F0A63C"/>
            </a:solidFill>
            <a:ln w="31750" cap="flat">
              <a:solidFill>
                <a:srgbClr val="F0A6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0A63C"/>
              </a:solidFill>
              <a:ln w="9525" cap="flat">
                <a:solidFill>
                  <a:srgbClr val="F0A63C"/>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7.3</c:v>
                </c:pt>
                <c:pt idx="1">
                  <c:v>11.3</c:v>
                </c:pt>
                <c:pt idx="2">
                  <c:v>17.9</c:v>
                </c:pt>
                <c:pt idx="3">
                  <c:v>23.8</c:v>
                </c:pt>
                <c:pt idx="4">
                  <c:v>30.5</c:v>
                </c:pt>
                <c:pt idx="5">
                  <c:v>25.8</c:v>
                </c:pt>
                <c:pt idx="6">
                  <c:v>36</c:v>
                </c:pt>
                <c:pt idx="7">
                  <c:v>39.1</c:v>
                </c:pt>
                <c:pt idx="8">
                  <c:v>55</c:v>
                </c:pt>
                <c:pt idx="9">
                  <c:v>69.5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000000"/>
                    </a:solidFill>
                    <a:latin typeface="Arial"/>
                  </a:defRPr>
                </a:pPr>
                <a:r>
                  <a:rPr sz="900" b="0" i="0" u="none" strike="noStrike">
                    <a:solidFill>
                      <a:srgbClr val="000000"/>
                    </a:solidFill>
                    <a:latin typeface="Arial"/>
                  </a:rPr>
                  <a:t>Risk decile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1525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DF1"/>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Exit rate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C8F9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C1A24"/>
                </a:solidFill>
                <a:latin typeface="Trebuchet MS"/>
              </a:defRPr>
            </a:pPr>
            <a:r>
              <a:rPr sz="1200" b="0" i="0" u="none" strike="noStrike">
                <a:solidFill>
                  <a:srgbClr val="0C1A24"/>
                </a:solidFill>
                <a:latin typeface="Trebuchet MS"/>
              </a:rPr>
              <a:t>Spend plateaus as constraints bind</a:t>
            </a:r>
          </a:p>
        </c:rich>
      </c:tx>
      <c:layout/>
      <c:overlay val="0"/>
    </c:title>
    <c:autoTitleDeleted val="0"/>
    <c:plotArea>
      <c:layout/>
      <c:lineChart>
        <c:varyColors val="0"/>
        <c:ser>
          <c:idx val="0"/>
          <c:order val="0"/>
          <c:tx>
            <c:strRef>
              <c:f>Sheet1!$B$1</c:f>
              <c:strCache>
                <c:ptCount val="1"/>
                <c:pt idx="0">
                  <c:v>Committed (€M)</c:v>
                </c:pt>
              </c:strCache>
            </c:strRef>
          </c:tx>
          <c:spPr>
            <a:solidFill>
              <a:srgbClr val="1B7A8C"/>
            </a:solidFill>
            <a:ln w="31750" cap="flat">
              <a:solidFill>
                <a:srgbClr val="1B7A8C"/>
              </a:solidFill>
              <a:prstDash val="solid"/>
              <a:round/>
            </a:ln>
            <a:effectLst/>
          </c:spPr>
          <c:invertIfNegative val="0"/>
          <c:dLbls>
            <c:numFmt formatCode="#,##0" sourceLinked="0"/>
            <c:txPr>
              <a:bodyPr/>
              <a:lstStyle/>
              <a:p>
                <a:pPr>
                  <a:defRPr b="0" i="0" strike="noStrike" sz="1000" u="none">
                    <a:solidFill>
                      <a:srgbClr val="41525E"/>
                    </a:solidFill>
                    <a:latin typeface="Arial"/>
                  </a:defRPr>
                </a:pPr>
              </a:p>
            </c:txPr>
            <c:dLblPos val="t"/>
            <c:showLegendKey val="0"/>
            <c:showVal val="1"/>
            <c:showCatName val="0"/>
            <c:showSerName val="0"/>
            <c:showPercent val="0"/>
            <c:showBubbleSize val="0"/>
            <c:showLeaderLines val="0"/>
          </c:dLbls>
          <c:marker>
            <c:symbol val="circle"/>
            <c:size val="6"/>
            <c:spPr>
              <a:solidFill>
                <a:srgbClr val="1B7A8C"/>
              </a:solidFill>
              <a:ln w="9525" cap="flat">
                <a:solidFill>
                  <a:srgbClr val="1B7A8C"/>
                </a:solidFill>
                <a:prstDash val="solid"/>
                <a:round/>
              </a:ln>
              <a:effectLst/>
            </c:spPr>
          </c:marker>
          <c:cat>
            <c:multiLvlStrRef>
              <c:f>Sheet1!$A$2:$A$6</c:f>
              <c:multiLvlStrCache>
                <c:ptCount val="5"/>
                <c:lvl>
                  <c:pt idx="0">
                    <c:v>€20M</c:v>
                  </c:pt>
                  <c:pt idx="1">
                    <c:v>€35M</c:v>
                  </c:pt>
                  <c:pt idx="2">
                    <c:v>€50M</c:v>
                  </c:pt>
                  <c:pt idx="3">
                    <c:v>€75M</c:v>
                  </c:pt>
                  <c:pt idx="4">
                    <c:v>€100M</c:v>
                  </c:pt>
                </c:lvl>
              </c:multiLvlStrCache>
            </c:multiLvlStrRef>
          </c:cat>
          <c:val>
            <c:numRef>
              <c:f>Sheet1!$B$2:$B$6</c:f>
              <c:numCache>
                <c:formatCode>General</c:formatCode>
                <c:ptCount val="5"/>
                <c:pt idx="0">
                  <c:v>20</c:v>
                </c:pt>
                <c:pt idx="1">
                  <c:v>34</c:v>
                </c:pt>
                <c:pt idx="2">
                  <c:v>48</c:v>
                </c:pt>
                <c:pt idx="3">
                  <c:v>52</c:v>
                </c:pt>
                <c:pt idx="4">
                  <c:v>52</c:v>
                </c:pt>
              </c:numCache>
            </c:numRef>
          </c:val>
          <c:smooth val="0"/>
        </c:ser>
        <c:dLbls>
          <c:numFmt formatCode="#,##0" sourceLinked="0"/>
          <c:txPr>
            <a:bodyPr/>
            <a:lstStyle/>
            <a:p>
              <a:pPr>
                <a:defRPr b="0" i="0" strike="noStrike" sz="1000" u="none">
                  <a:solidFill>
                    <a:srgbClr val="41525E"/>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1525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D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C8F9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Price Tag. A decision-support system for allocating a football club's transfer budget. The story: we set out to find undervalued players, tested that hypothesis properly, and what we found changed the system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properties shape the decision. The key line: recruitment is capital budgeting, but clubs treat the budget as a running balance rather than a portfolio to allocate.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logic the project began with. It is plausible and widely held. The critical question is whether the gap is opportunity or model error, and those point in opposite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dataset, every join on integer IDs, no name matching anywhere. Strict time-based validation: no feature, threshold or constant was ever fitted using validation or test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numbered stages, run in order. The point is not the count: it is that each stage writes a frozen artifact, so every figure in this deck can be traced back to the file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Held-out 2024/25, n=1,508, identical rows for all three models. Model 2 is not 'better': its residual is deviation from Transfermarkt's own persistence, which has no economic meaning. That is why Model 1 stays primary despite lower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project. A promising validation differential did not replicate on test, the signature of a signal that was noise. The discipline of stopping is what makes the negative result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diagnostic that invalidated the mispricing reading revealed a far stronger relationship running the other way. Calibration matters as much as discrimination: predicted and actual converge closely at both extremes.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Buonanotte is the important example: model and market agree on his price, and he was still selected. That is the clearest proof the system is no longer a bargain-finder. Coppola shows position-appropriate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hero slide. Read the top-right quadrant carefully: a large valuation gap combined with high exit risk is the profile the naive approach would rank FIRST, and it is the one this system flags as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caveat out loud. The exit-risk model is validated at population level, n=1,508. This three-player portfolio demonstrates the method; it does not prove the method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here is more persuasive than claiming robustness. Stassin survives every weighting; the other two do not. The budget plateau tells a director to examine their constraints before asking for more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is Arm B's initial failure, not the passing scores. A brief with three invented statistics passed five of six checks. Say the three numbers aloud: they are all plausible,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exists and runs from the same frozen artifacts as this deck. Five views. The interactive optimizer reproduces the recommended portfolio exactly, which is the check that matters: the interface is not a separate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Working-with-AI contribution. The essential design choice was that the reviewing model received the artifact files, never the other model's description of them. A portfolio was reported as 48 million while the delivered file contained 41: only artifact-level review could have caught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Everything above the amber rule is reproducible, auditable and explicitly uncertain. Everything below requires information the system cannot obtain from public data, and saying so is what makes the tool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A24"/>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1E3A4C">
              <a:alpha val="45000"/>
            </a:srgbClr>
          </a:solidFill>
          <a:ln w="12700">
            <a:solidFill>
              <a:srgbClr val="333333"/>
            </a:solidFill>
            <a:prstDash val="solid"/>
          </a:ln>
        </p:spPr>
      </p:sp>
      <p:sp>
        <p:nvSpPr>
          <p:cNvPr id="3" name="Shape 1"/>
          <p:cNvSpPr/>
          <p:nvPr/>
        </p:nvSpPr>
        <p:spPr>
          <a:xfrm>
            <a:off x="384048" y="6547104"/>
            <a:ext cx="11420856" cy="10973"/>
          </a:xfrm>
          <a:prstGeom prst="rect">
            <a:avLst/>
          </a:prstGeom>
          <a:solidFill>
            <a:srgbClr val="1E3A4C">
              <a:alpha val="45000"/>
            </a:srgbClr>
          </a:solidFill>
          <a:ln w="12700">
            <a:solidFill>
              <a:srgbClr val="333333"/>
            </a:solidFill>
            <a:prstDash val="solid"/>
          </a:ln>
        </p:spPr>
      </p:sp>
      <p:sp>
        <p:nvSpPr>
          <p:cNvPr id="4" name="Shape 2"/>
          <p:cNvSpPr/>
          <p:nvPr/>
        </p:nvSpPr>
        <p:spPr>
          <a:xfrm>
            <a:off x="384048" y="310896"/>
            <a:ext cx="10973" cy="6236208"/>
          </a:xfrm>
          <a:prstGeom prst="rect">
            <a:avLst/>
          </a:prstGeom>
          <a:solidFill>
            <a:srgbClr val="1E3A4C">
              <a:alpha val="45000"/>
            </a:srgbClr>
          </a:solidFill>
          <a:ln w="12700">
            <a:solidFill>
              <a:srgbClr val="333333"/>
            </a:solidFill>
            <a:prstDash val="solid"/>
          </a:ln>
        </p:spPr>
      </p:sp>
      <p:sp>
        <p:nvSpPr>
          <p:cNvPr id="5" name="Shape 3"/>
          <p:cNvSpPr/>
          <p:nvPr/>
        </p:nvSpPr>
        <p:spPr>
          <a:xfrm>
            <a:off x="11795760" y="310896"/>
            <a:ext cx="10973" cy="6236208"/>
          </a:xfrm>
          <a:prstGeom prst="rect">
            <a:avLst/>
          </a:prstGeom>
          <a:solidFill>
            <a:srgbClr val="1E3A4C">
              <a:alpha val="45000"/>
            </a:srgbClr>
          </a:solidFill>
          <a:ln w="12700">
            <a:solidFill>
              <a:srgbClr val="333333"/>
            </a:solidFill>
            <a:prstDash val="solid"/>
          </a:ln>
        </p:spPr>
      </p:sp>
      <p:sp>
        <p:nvSpPr>
          <p:cNvPr id="6" name="Shape 4"/>
          <p:cNvSpPr/>
          <p:nvPr/>
        </p:nvSpPr>
        <p:spPr>
          <a:xfrm>
            <a:off x="6080760" y="310896"/>
            <a:ext cx="10973" cy="6236208"/>
          </a:xfrm>
          <a:prstGeom prst="rect">
            <a:avLst/>
          </a:prstGeom>
          <a:solidFill>
            <a:srgbClr val="1E3A4C">
              <a:alpha val="45000"/>
            </a:srgbClr>
          </a:solidFill>
          <a:ln w="12700">
            <a:solidFill>
              <a:srgbClr val="333333"/>
            </a:solidFill>
            <a:prstDash val="solid"/>
          </a:ln>
        </p:spPr>
      </p:sp>
      <p:sp>
        <p:nvSpPr>
          <p:cNvPr id="7" name="Shape 5"/>
          <p:cNvSpPr/>
          <p:nvPr/>
        </p:nvSpPr>
        <p:spPr>
          <a:xfrm>
            <a:off x="5029200" y="3291840"/>
            <a:ext cx="2103120" cy="2103120"/>
          </a:xfrm>
          <a:prstGeom prst="ellipse">
            <a:avLst/>
          </a:prstGeom>
          <a:ln w="12700">
            <a:solidFill>
              <a:srgbClr val="1E3A4C">
                <a:alpha val="45000"/>
              </a:srgbClr>
            </a:solidFill>
            <a:prstDash val="solid"/>
          </a:ln>
        </p:spPr>
      </p:sp>
      <p:sp>
        <p:nvSpPr>
          <p:cNvPr id="8" name="Shape 6"/>
          <p:cNvSpPr/>
          <p:nvPr/>
        </p:nvSpPr>
        <p:spPr>
          <a:xfrm>
            <a:off x="384048" y="1965960"/>
            <a:ext cx="1600200" cy="10973"/>
          </a:xfrm>
          <a:prstGeom prst="rect">
            <a:avLst/>
          </a:prstGeom>
          <a:solidFill>
            <a:srgbClr val="1E3A4C">
              <a:alpha val="45000"/>
            </a:srgbClr>
          </a:solidFill>
          <a:ln w="12700">
            <a:solidFill>
              <a:srgbClr val="333333"/>
            </a:solidFill>
            <a:prstDash val="solid"/>
          </a:ln>
        </p:spPr>
      </p:sp>
      <p:sp>
        <p:nvSpPr>
          <p:cNvPr id="9" name="Shape 7"/>
          <p:cNvSpPr/>
          <p:nvPr/>
        </p:nvSpPr>
        <p:spPr>
          <a:xfrm>
            <a:off x="384048" y="4892040"/>
            <a:ext cx="1600200" cy="10973"/>
          </a:xfrm>
          <a:prstGeom prst="rect">
            <a:avLst/>
          </a:prstGeom>
          <a:solidFill>
            <a:srgbClr val="1E3A4C">
              <a:alpha val="45000"/>
            </a:srgbClr>
          </a:solidFill>
          <a:ln w="12700">
            <a:solidFill>
              <a:srgbClr val="333333"/>
            </a:solidFill>
            <a:prstDash val="solid"/>
          </a:ln>
        </p:spPr>
      </p:sp>
      <p:sp>
        <p:nvSpPr>
          <p:cNvPr id="10" name="Shape 8"/>
          <p:cNvSpPr/>
          <p:nvPr/>
        </p:nvSpPr>
        <p:spPr>
          <a:xfrm>
            <a:off x="1984248" y="1965960"/>
            <a:ext cx="10973" cy="2926080"/>
          </a:xfrm>
          <a:prstGeom prst="rect">
            <a:avLst/>
          </a:prstGeom>
          <a:solidFill>
            <a:srgbClr val="1E3A4C">
              <a:alpha val="45000"/>
            </a:srgbClr>
          </a:solidFill>
          <a:ln w="12700">
            <a:solidFill>
              <a:srgbClr val="333333"/>
            </a:solidFill>
            <a:prstDash val="solid"/>
          </a:ln>
        </p:spPr>
      </p:sp>
      <p:sp>
        <p:nvSpPr>
          <p:cNvPr id="11" name="Shape 9"/>
          <p:cNvSpPr/>
          <p:nvPr/>
        </p:nvSpPr>
        <p:spPr>
          <a:xfrm>
            <a:off x="10204704" y="1965960"/>
            <a:ext cx="1600200" cy="10973"/>
          </a:xfrm>
          <a:prstGeom prst="rect">
            <a:avLst/>
          </a:prstGeom>
          <a:solidFill>
            <a:srgbClr val="1E3A4C">
              <a:alpha val="45000"/>
            </a:srgbClr>
          </a:solidFill>
          <a:ln w="12700">
            <a:solidFill>
              <a:srgbClr val="333333"/>
            </a:solidFill>
            <a:prstDash val="solid"/>
          </a:ln>
        </p:spPr>
      </p:sp>
      <p:sp>
        <p:nvSpPr>
          <p:cNvPr id="12" name="Shape 10"/>
          <p:cNvSpPr/>
          <p:nvPr/>
        </p:nvSpPr>
        <p:spPr>
          <a:xfrm>
            <a:off x="10204704" y="4892040"/>
            <a:ext cx="1600200" cy="10973"/>
          </a:xfrm>
          <a:prstGeom prst="rect">
            <a:avLst/>
          </a:prstGeom>
          <a:solidFill>
            <a:srgbClr val="1E3A4C">
              <a:alpha val="45000"/>
            </a:srgbClr>
          </a:solidFill>
          <a:ln w="12700">
            <a:solidFill>
              <a:srgbClr val="333333"/>
            </a:solidFill>
            <a:prstDash val="solid"/>
          </a:ln>
        </p:spPr>
      </p:sp>
      <p:sp>
        <p:nvSpPr>
          <p:cNvPr id="13" name="Shape 11"/>
          <p:cNvSpPr/>
          <p:nvPr/>
        </p:nvSpPr>
        <p:spPr>
          <a:xfrm>
            <a:off x="10204704" y="1965960"/>
            <a:ext cx="10973" cy="2926080"/>
          </a:xfrm>
          <a:prstGeom prst="rect">
            <a:avLst/>
          </a:prstGeom>
          <a:solidFill>
            <a:srgbClr val="1E3A4C">
              <a:alpha val="45000"/>
            </a:srgbClr>
          </a:solidFill>
          <a:ln w="12700">
            <a:solidFill>
              <a:srgbClr val="333333"/>
            </a:solidFill>
            <a:prstDash val="solid"/>
          </a:ln>
        </p:spPr>
      </p:sp>
      <p:sp>
        <p:nvSpPr>
          <p:cNvPr id="14" name="Shape 12"/>
          <p:cNvSpPr/>
          <p:nvPr/>
        </p:nvSpPr>
        <p:spPr>
          <a:xfrm>
            <a:off x="384048" y="2788920"/>
            <a:ext cx="658368" cy="10973"/>
          </a:xfrm>
          <a:prstGeom prst="rect">
            <a:avLst/>
          </a:prstGeom>
          <a:solidFill>
            <a:srgbClr val="1E3A4C">
              <a:alpha val="45000"/>
            </a:srgbClr>
          </a:solidFill>
          <a:ln w="12700">
            <a:solidFill>
              <a:srgbClr val="333333"/>
            </a:solidFill>
            <a:prstDash val="solid"/>
          </a:ln>
        </p:spPr>
      </p:sp>
      <p:sp>
        <p:nvSpPr>
          <p:cNvPr id="15" name="Shape 13"/>
          <p:cNvSpPr/>
          <p:nvPr/>
        </p:nvSpPr>
        <p:spPr>
          <a:xfrm>
            <a:off x="384048" y="4069080"/>
            <a:ext cx="658368" cy="10973"/>
          </a:xfrm>
          <a:prstGeom prst="rect">
            <a:avLst/>
          </a:prstGeom>
          <a:solidFill>
            <a:srgbClr val="1E3A4C">
              <a:alpha val="45000"/>
            </a:srgbClr>
          </a:solidFill>
          <a:ln w="12700">
            <a:solidFill>
              <a:srgbClr val="333333"/>
            </a:solidFill>
            <a:prstDash val="solid"/>
          </a:ln>
        </p:spPr>
      </p:sp>
      <p:sp>
        <p:nvSpPr>
          <p:cNvPr id="16" name="Shape 14"/>
          <p:cNvSpPr/>
          <p:nvPr/>
        </p:nvSpPr>
        <p:spPr>
          <a:xfrm>
            <a:off x="1042416" y="2788920"/>
            <a:ext cx="10973" cy="1280160"/>
          </a:xfrm>
          <a:prstGeom prst="rect">
            <a:avLst/>
          </a:prstGeom>
          <a:solidFill>
            <a:srgbClr val="1E3A4C">
              <a:alpha val="45000"/>
            </a:srgbClr>
          </a:solidFill>
          <a:ln w="12700">
            <a:solidFill>
              <a:srgbClr val="333333"/>
            </a:solidFill>
            <a:prstDash val="solid"/>
          </a:ln>
        </p:spPr>
      </p:sp>
      <p:sp>
        <p:nvSpPr>
          <p:cNvPr id="17" name="Shape 15"/>
          <p:cNvSpPr/>
          <p:nvPr/>
        </p:nvSpPr>
        <p:spPr>
          <a:xfrm>
            <a:off x="11146536" y="2788920"/>
            <a:ext cx="658368" cy="10973"/>
          </a:xfrm>
          <a:prstGeom prst="rect">
            <a:avLst/>
          </a:prstGeom>
          <a:solidFill>
            <a:srgbClr val="1E3A4C">
              <a:alpha val="45000"/>
            </a:srgbClr>
          </a:solidFill>
          <a:ln w="12700">
            <a:solidFill>
              <a:srgbClr val="333333"/>
            </a:solidFill>
            <a:prstDash val="solid"/>
          </a:ln>
        </p:spPr>
      </p:sp>
      <p:sp>
        <p:nvSpPr>
          <p:cNvPr id="18" name="Shape 16"/>
          <p:cNvSpPr/>
          <p:nvPr/>
        </p:nvSpPr>
        <p:spPr>
          <a:xfrm>
            <a:off x="11146536" y="4069080"/>
            <a:ext cx="658368" cy="10973"/>
          </a:xfrm>
          <a:prstGeom prst="rect">
            <a:avLst/>
          </a:prstGeom>
          <a:solidFill>
            <a:srgbClr val="1E3A4C">
              <a:alpha val="45000"/>
            </a:srgbClr>
          </a:solidFill>
          <a:ln w="12700">
            <a:solidFill>
              <a:srgbClr val="333333"/>
            </a:solidFill>
            <a:prstDash val="solid"/>
          </a:ln>
        </p:spPr>
      </p:sp>
      <p:sp>
        <p:nvSpPr>
          <p:cNvPr id="19" name="Shape 17"/>
          <p:cNvSpPr/>
          <p:nvPr/>
        </p:nvSpPr>
        <p:spPr>
          <a:xfrm>
            <a:off x="11146536" y="2788920"/>
            <a:ext cx="10973" cy="1280160"/>
          </a:xfrm>
          <a:prstGeom prst="rect">
            <a:avLst/>
          </a:prstGeom>
          <a:solidFill>
            <a:srgbClr val="1E3A4C">
              <a:alpha val="45000"/>
            </a:srgbClr>
          </a:solidFill>
          <a:ln w="12700">
            <a:solidFill>
              <a:srgbClr val="333333"/>
            </a:solidFill>
            <a:prstDash val="solid"/>
          </a:ln>
        </p:spPr>
      </p:sp>
      <p:sp>
        <p:nvSpPr>
          <p:cNvPr id="20" name="Shape 18"/>
          <p:cNvSpPr/>
          <p:nvPr/>
        </p:nvSpPr>
        <p:spPr>
          <a:xfrm>
            <a:off x="384048" y="310896"/>
            <a:ext cx="11420856" cy="10973"/>
          </a:xfrm>
          <a:prstGeom prst="rect">
            <a:avLst/>
          </a:prstGeom>
          <a:solidFill>
            <a:srgbClr val="1E3A4C">
              <a:alpha val="75000"/>
            </a:srgbClr>
          </a:solidFill>
          <a:ln w="12700">
            <a:solidFill>
              <a:srgbClr val="333333"/>
            </a:solidFill>
            <a:prstDash val="solid"/>
          </a:ln>
        </p:spPr>
      </p:sp>
      <p:sp>
        <p:nvSpPr>
          <p:cNvPr id="21" name="Shape 19"/>
          <p:cNvSpPr/>
          <p:nvPr/>
        </p:nvSpPr>
        <p:spPr>
          <a:xfrm>
            <a:off x="384048" y="6547104"/>
            <a:ext cx="11420856" cy="10973"/>
          </a:xfrm>
          <a:prstGeom prst="rect">
            <a:avLst/>
          </a:prstGeom>
          <a:solidFill>
            <a:srgbClr val="1E3A4C">
              <a:alpha val="75000"/>
            </a:srgbClr>
          </a:solidFill>
          <a:ln w="12700">
            <a:solidFill>
              <a:srgbClr val="333333"/>
            </a:solidFill>
            <a:prstDash val="solid"/>
          </a:ln>
        </p:spPr>
      </p:sp>
      <p:sp>
        <p:nvSpPr>
          <p:cNvPr id="22" name="Shape 20"/>
          <p:cNvSpPr/>
          <p:nvPr/>
        </p:nvSpPr>
        <p:spPr>
          <a:xfrm>
            <a:off x="384048" y="310896"/>
            <a:ext cx="10973" cy="6236208"/>
          </a:xfrm>
          <a:prstGeom prst="rect">
            <a:avLst/>
          </a:prstGeom>
          <a:solidFill>
            <a:srgbClr val="1E3A4C">
              <a:alpha val="75000"/>
            </a:srgbClr>
          </a:solidFill>
          <a:ln w="12700">
            <a:solidFill>
              <a:srgbClr val="333333"/>
            </a:solidFill>
            <a:prstDash val="solid"/>
          </a:ln>
        </p:spPr>
      </p:sp>
      <p:sp>
        <p:nvSpPr>
          <p:cNvPr id="23" name="Shape 21"/>
          <p:cNvSpPr/>
          <p:nvPr/>
        </p:nvSpPr>
        <p:spPr>
          <a:xfrm>
            <a:off x="11795760" y="310896"/>
            <a:ext cx="10973" cy="6236208"/>
          </a:xfrm>
          <a:prstGeom prst="rect">
            <a:avLst/>
          </a:prstGeom>
          <a:solidFill>
            <a:srgbClr val="1E3A4C">
              <a:alpha val="75000"/>
            </a:srgbClr>
          </a:solidFill>
          <a:ln w="12700">
            <a:solidFill>
              <a:srgbClr val="333333"/>
            </a:solidFill>
            <a:prstDash val="solid"/>
          </a:ln>
        </p:spPr>
      </p:sp>
      <p:sp>
        <p:nvSpPr>
          <p:cNvPr id="24" name="Shape 22"/>
          <p:cNvSpPr/>
          <p:nvPr/>
        </p:nvSpPr>
        <p:spPr>
          <a:xfrm>
            <a:off x="6080760" y="310896"/>
            <a:ext cx="10973" cy="6236208"/>
          </a:xfrm>
          <a:prstGeom prst="rect">
            <a:avLst/>
          </a:prstGeom>
          <a:solidFill>
            <a:srgbClr val="1E3A4C">
              <a:alpha val="75000"/>
            </a:srgbClr>
          </a:solidFill>
          <a:ln w="12700">
            <a:solidFill>
              <a:srgbClr val="333333"/>
            </a:solidFill>
            <a:prstDash val="solid"/>
          </a:ln>
        </p:spPr>
      </p:sp>
      <p:sp>
        <p:nvSpPr>
          <p:cNvPr id="25" name="Shape 23"/>
          <p:cNvSpPr/>
          <p:nvPr/>
        </p:nvSpPr>
        <p:spPr>
          <a:xfrm>
            <a:off x="5029200" y="3291840"/>
            <a:ext cx="2103120" cy="2103120"/>
          </a:xfrm>
          <a:prstGeom prst="ellipse">
            <a:avLst/>
          </a:prstGeom>
          <a:ln w="12700">
            <a:solidFill>
              <a:srgbClr val="1E3A4C">
                <a:alpha val="75000"/>
              </a:srgbClr>
            </a:solidFill>
            <a:prstDash val="solid"/>
          </a:ln>
        </p:spPr>
      </p:sp>
      <p:sp>
        <p:nvSpPr>
          <p:cNvPr id="26" name="Shape 24"/>
          <p:cNvSpPr/>
          <p:nvPr/>
        </p:nvSpPr>
        <p:spPr>
          <a:xfrm>
            <a:off x="384048" y="1965960"/>
            <a:ext cx="1600200" cy="10973"/>
          </a:xfrm>
          <a:prstGeom prst="rect">
            <a:avLst/>
          </a:prstGeom>
          <a:solidFill>
            <a:srgbClr val="1E3A4C">
              <a:alpha val="75000"/>
            </a:srgbClr>
          </a:solidFill>
          <a:ln w="12700">
            <a:solidFill>
              <a:srgbClr val="333333"/>
            </a:solidFill>
            <a:prstDash val="solid"/>
          </a:ln>
        </p:spPr>
      </p:sp>
      <p:sp>
        <p:nvSpPr>
          <p:cNvPr id="27" name="Shape 25"/>
          <p:cNvSpPr/>
          <p:nvPr/>
        </p:nvSpPr>
        <p:spPr>
          <a:xfrm>
            <a:off x="384048" y="4892040"/>
            <a:ext cx="1600200" cy="10973"/>
          </a:xfrm>
          <a:prstGeom prst="rect">
            <a:avLst/>
          </a:prstGeom>
          <a:solidFill>
            <a:srgbClr val="1E3A4C">
              <a:alpha val="75000"/>
            </a:srgbClr>
          </a:solidFill>
          <a:ln w="12700">
            <a:solidFill>
              <a:srgbClr val="333333"/>
            </a:solidFill>
            <a:prstDash val="solid"/>
          </a:ln>
        </p:spPr>
      </p:sp>
      <p:sp>
        <p:nvSpPr>
          <p:cNvPr id="28" name="Shape 26"/>
          <p:cNvSpPr/>
          <p:nvPr/>
        </p:nvSpPr>
        <p:spPr>
          <a:xfrm>
            <a:off x="1984248" y="1965960"/>
            <a:ext cx="10973" cy="2926080"/>
          </a:xfrm>
          <a:prstGeom prst="rect">
            <a:avLst/>
          </a:prstGeom>
          <a:solidFill>
            <a:srgbClr val="1E3A4C">
              <a:alpha val="75000"/>
            </a:srgbClr>
          </a:solidFill>
          <a:ln w="12700">
            <a:solidFill>
              <a:srgbClr val="333333"/>
            </a:solidFill>
            <a:prstDash val="solid"/>
          </a:ln>
        </p:spPr>
      </p:sp>
      <p:sp>
        <p:nvSpPr>
          <p:cNvPr id="29" name="Shape 27"/>
          <p:cNvSpPr/>
          <p:nvPr/>
        </p:nvSpPr>
        <p:spPr>
          <a:xfrm>
            <a:off x="10204704" y="1965960"/>
            <a:ext cx="1600200" cy="10973"/>
          </a:xfrm>
          <a:prstGeom prst="rect">
            <a:avLst/>
          </a:prstGeom>
          <a:solidFill>
            <a:srgbClr val="1E3A4C">
              <a:alpha val="75000"/>
            </a:srgbClr>
          </a:solidFill>
          <a:ln w="12700">
            <a:solidFill>
              <a:srgbClr val="333333"/>
            </a:solidFill>
            <a:prstDash val="solid"/>
          </a:ln>
        </p:spPr>
      </p:sp>
      <p:sp>
        <p:nvSpPr>
          <p:cNvPr id="30" name="Shape 28"/>
          <p:cNvSpPr/>
          <p:nvPr/>
        </p:nvSpPr>
        <p:spPr>
          <a:xfrm>
            <a:off x="10204704" y="4892040"/>
            <a:ext cx="1600200" cy="10973"/>
          </a:xfrm>
          <a:prstGeom prst="rect">
            <a:avLst/>
          </a:prstGeom>
          <a:solidFill>
            <a:srgbClr val="1E3A4C">
              <a:alpha val="75000"/>
            </a:srgbClr>
          </a:solidFill>
          <a:ln w="12700">
            <a:solidFill>
              <a:srgbClr val="333333"/>
            </a:solidFill>
            <a:prstDash val="solid"/>
          </a:ln>
        </p:spPr>
      </p:sp>
      <p:sp>
        <p:nvSpPr>
          <p:cNvPr id="31" name="Shape 29"/>
          <p:cNvSpPr/>
          <p:nvPr/>
        </p:nvSpPr>
        <p:spPr>
          <a:xfrm>
            <a:off x="10204704" y="1965960"/>
            <a:ext cx="10973" cy="2926080"/>
          </a:xfrm>
          <a:prstGeom prst="rect">
            <a:avLst/>
          </a:prstGeom>
          <a:solidFill>
            <a:srgbClr val="1E3A4C">
              <a:alpha val="75000"/>
            </a:srgbClr>
          </a:solidFill>
          <a:ln w="12700">
            <a:solidFill>
              <a:srgbClr val="333333"/>
            </a:solidFill>
            <a:prstDash val="solid"/>
          </a:ln>
        </p:spPr>
      </p:sp>
      <p:sp>
        <p:nvSpPr>
          <p:cNvPr id="32" name="Shape 30"/>
          <p:cNvSpPr/>
          <p:nvPr/>
        </p:nvSpPr>
        <p:spPr>
          <a:xfrm>
            <a:off x="384048" y="2788920"/>
            <a:ext cx="658368" cy="10973"/>
          </a:xfrm>
          <a:prstGeom prst="rect">
            <a:avLst/>
          </a:prstGeom>
          <a:solidFill>
            <a:srgbClr val="1E3A4C">
              <a:alpha val="75000"/>
            </a:srgbClr>
          </a:solidFill>
          <a:ln w="12700">
            <a:solidFill>
              <a:srgbClr val="333333"/>
            </a:solidFill>
            <a:prstDash val="solid"/>
          </a:ln>
        </p:spPr>
      </p:sp>
      <p:sp>
        <p:nvSpPr>
          <p:cNvPr id="33" name="Shape 31"/>
          <p:cNvSpPr/>
          <p:nvPr/>
        </p:nvSpPr>
        <p:spPr>
          <a:xfrm>
            <a:off x="384048" y="4069080"/>
            <a:ext cx="658368" cy="10973"/>
          </a:xfrm>
          <a:prstGeom prst="rect">
            <a:avLst/>
          </a:prstGeom>
          <a:solidFill>
            <a:srgbClr val="1E3A4C">
              <a:alpha val="75000"/>
            </a:srgbClr>
          </a:solidFill>
          <a:ln w="12700">
            <a:solidFill>
              <a:srgbClr val="333333"/>
            </a:solidFill>
            <a:prstDash val="solid"/>
          </a:ln>
        </p:spPr>
      </p:sp>
      <p:sp>
        <p:nvSpPr>
          <p:cNvPr id="34" name="Shape 32"/>
          <p:cNvSpPr/>
          <p:nvPr/>
        </p:nvSpPr>
        <p:spPr>
          <a:xfrm>
            <a:off x="1042416" y="2788920"/>
            <a:ext cx="10973" cy="1280160"/>
          </a:xfrm>
          <a:prstGeom prst="rect">
            <a:avLst/>
          </a:prstGeom>
          <a:solidFill>
            <a:srgbClr val="1E3A4C">
              <a:alpha val="75000"/>
            </a:srgbClr>
          </a:solidFill>
          <a:ln w="12700">
            <a:solidFill>
              <a:srgbClr val="333333"/>
            </a:solidFill>
            <a:prstDash val="solid"/>
          </a:ln>
        </p:spPr>
      </p:sp>
      <p:sp>
        <p:nvSpPr>
          <p:cNvPr id="35" name="Shape 33"/>
          <p:cNvSpPr/>
          <p:nvPr/>
        </p:nvSpPr>
        <p:spPr>
          <a:xfrm>
            <a:off x="11146536" y="2788920"/>
            <a:ext cx="658368" cy="10973"/>
          </a:xfrm>
          <a:prstGeom prst="rect">
            <a:avLst/>
          </a:prstGeom>
          <a:solidFill>
            <a:srgbClr val="1E3A4C">
              <a:alpha val="75000"/>
            </a:srgbClr>
          </a:solidFill>
          <a:ln w="12700">
            <a:solidFill>
              <a:srgbClr val="333333"/>
            </a:solidFill>
            <a:prstDash val="solid"/>
          </a:ln>
        </p:spPr>
      </p:sp>
      <p:sp>
        <p:nvSpPr>
          <p:cNvPr id="36" name="Shape 34"/>
          <p:cNvSpPr/>
          <p:nvPr/>
        </p:nvSpPr>
        <p:spPr>
          <a:xfrm>
            <a:off x="11146536" y="4069080"/>
            <a:ext cx="658368" cy="10973"/>
          </a:xfrm>
          <a:prstGeom prst="rect">
            <a:avLst/>
          </a:prstGeom>
          <a:solidFill>
            <a:srgbClr val="1E3A4C">
              <a:alpha val="75000"/>
            </a:srgbClr>
          </a:solidFill>
          <a:ln w="12700">
            <a:solidFill>
              <a:srgbClr val="333333"/>
            </a:solidFill>
            <a:prstDash val="solid"/>
          </a:ln>
        </p:spPr>
      </p:sp>
      <p:sp>
        <p:nvSpPr>
          <p:cNvPr id="37" name="Shape 35"/>
          <p:cNvSpPr/>
          <p:nvPr/>
        </p:nvSpPr>
        <p:spPr>
          <a:xfrm>
            <a:off x="11146536" y="2788920"/>
            <a:ext cx="10973" cy="1280160"/>
          </a:xfrm>
          <a:prstGeom prst="rect">
            <a:avLst/>
          </a:prstGeom>
          <a:solidFill>
            <a:srgbClr val="1E3A4C">
              <a:alpha val="75000"/>
            </a:srgbClr>
          </a:solidFill>
          <a:ln w="12700">
            <a:solidFill>
              <a:srgbClr val="333333"/>
            </a:solidFill>
            <a:prstDash val="solid"/>
          </a:ln>
        </p:spPr>
      </p:sp>
      <p:sp>
        <p:nvSpPr>
          <p:cNvPr id="38" name="Text 36"/>
          <p:cNvSpPr txBox="1"/>
          <p:nvPr/>
        </p:nvSpPr>
        <p:spPr>
          <a:xfrm>
            <a:off x="685800" y="2057400"/>
            <a:ext cx="10789920" cy="1371600"/>
          </a:xfrm>
          <a:prstGeom prst="rect">
            <a:avLst/>
          </a:prstGeom>
          <a:noFill/>
          <a:ln/>
        </p:spPr>
        <p:txBody>
          <a:bodyPr wrap="square" lIns="0" tIns="0" rIns="0" bIns="0" rtlCol="0" anchor="ctr"/>
          <a:lstStyle/>
          <a:p>
            <a:pPr indent="0" marL="0">
              <a:buNone/>
            </a:pPr>
            <a:r>
              <a:rPr lang="en-US" sz="6000" b="1" dirty="0">
                <a:solidFill>
                  <a:srgbClr val="F2F6F8"/>
                </a:solidFill>
                <a:latin typeface="Georgia" pitchFamily="34" charset="0"/>
                <a:ea typeface="Georgia" pitchFamily="34" charset="-122"/>
                <a:cs typeface="Georgia" pitchFamily="34" charset="-120"/>
              </a:rPr>
              <a:t>Beyond the Price Tag</a:t>
            </a:r>
            <a:endParaRPr lang="en-US" sz="6000" dirty="0"/>
          </a:p>
        </p:txBody>
      </p:sp>
      <p:sp>
        <p:nvSpPr>
          <p:cNvPr id="39" name="Text 37"/>
          <p:cNvSpPr txBox="1"/>
          <p:nvPr/>
        </p:nvSpPr>
        <p:spPr>
          <a:xfrm>
            <a:off x="685800" y="3401568"/>
            <a:ext cx="7863840" cy="731520"/>
          </a:xfrm>
          <a:prstGeom prst="rect">
            <a:avLst/>
          </a:prstGeom>
          <a:noFill/>
          <a:ln/>
        </p:spPr>
        <p:txBody>
          <a:bodyPr wrap="square" lIns="0" tIns="0" rIns="0" bIns="0" rtlCol="0" anchor="ctr"/>
          <a:lstStyle/>
          <a:p>
            <a:pPr indent="0" marL="0">
              <a:lnSpc>
                <a:spcPts val="2600"/>
              </a:lnSpc>
              <a:buNone/>
            </a:pPr>
            <a:r>
              <a:rPr lang="en-US" sz="1700" dirty="0">
                <a:solidFill>
                  <a:srgbClr val="7C97A8"/>
                </a:solidFill>
                <a:latin typeface="Trebuchet MS" pitchFamily="34" charset="0"/>
                <a:ea typeface="Trebuchet MS" pitchFamily="34" charset="-122"/>
                <a:cs typeface="Trebuchet MS" pitchFamily="34" charset="-120"/>
              </a:rPr>
              <a:t>An explainable AI decision-support system for football transfer-budget allocation</a:t>
            </a:r>
            <a:endParaRPr lang="en-US" sz="1700" dirty="0"/>
          </a:p>
        </p:txBody>
      </p:sp>
      <p:sp>
        <p:nvSpPr>
          <p:cNvPr id="40" name="Shape 38"/>
          <p:cNvSpPr/>
          <p:nvPr/>
        </p:nvSpPr>
        <p:spPr>
          <a:xfrm>
            <a:off x="685800" y="4343400"/>
            <a:ext cx="2212848" cy="310896"/>
          </a:xfrm>
          <a:prstGeom prst="rect">
            <a:avLst/>
          </a:prstGeom>
          <a:ln w="12700">
            <a:solidFill>
              <a:srgbClr val="38C6D9"/>
            </a:solidFill>
            <a:prstDash val="solid"/>
          </a:ln>
        </p:spPr>
      </p:sp>
      <p:sp>
        <p:nvSpPr>
          <p:cNvPr id="41" name="Text 39"/>
          <p:cNvSpPr txBox="1"/>
          <p:nvPr/>
        </p:nvSpPr>
        <p:spPr>
          <a:xfrm>
            <a:off x="685800" y="4343400"/>
            <a:ext cx="2212848" cy="310896"/>
          </a:xfrm>
          <a:prstGeom prst="rect">
            <a:avLst/>
          </a:prstGeom>
          <a:noFill/>
          <a:ln/>
        </p:spPr>
        <p:txBody>
          <a:bodyPr wrap="square" lIns="0" tIns="0" rIns="0" bIns="0" rtlCol="0" anchor="ctr"/>
          <a:lstStyle/>
          <a:p>
            <a:pPr algn="ctr" indent="0" marL="0">
              <a:buNone/>
            </a:pPr>
            <a:r>
              <a:rPr lang="en-US" sz="950" b="1" spc="140" kern="0" dirty="0">
                <a:solidFill>
                  <a:srgbClr val="38C6D9"/>
                </a:solidFill>
                <a:latin typeface="Consolas" pitchFamily="34" charset="0"/>
                <a:ea typeface="Consolas" pitchFamily="34" charset="-122"/>
                <a:cs typeface="Consolas" pitchFamily="34" charset="-120"/>
              </a:rPr>
              <a:t>SPORTS ANALYTICS</a:t>
            </a:r>
            <a:endParaRPr lang="en-US" sz="950" dirty="0"/>
          </a:p>
        </p:txBody>
      </p:sp>
      <p:sp>
        <p:nvSpPr>
          <p:cNvPr id="42" name="Shape 40"/>
          <p:cNvSpPr/>
          <p:nvPr/>
        </p:nvSpPr>
        <p:spPr>
          <a:xfrm>
            <a:off x="3099816" y="4343400"/>
            <a:ext cx="2450592" cy="310896"/>
          </a:xfrm>
          <a:prstGeom prst="rect">
            <a:avLst/>
          </a:prstGeom>
          <a:ln w="12700">
            <a:solidFill>
              <a:srgbClr val="38C6D9"/>
            </a:solidFill>
            <a:prstDash val="solid"/>
          </a:ln>
        </p:spPr>
      </p:sp>
      <p:sp>
        <p:nvSpPr>
          <p:cNvPr id="43" name="Text 41"/>
          <p:cNvSpPr txBox="1"/>
          <p:nvPr/>
        </p:nvSpPr>
        <p:spPr>
          <a:xfrm>
            <a:off x="3099816" y="4343400"/>
            <a:ext cx="2450592" cy="310896"/>
          </a:xfrm>
          <a:prstGeom prst="rect">
            <a:avLst/>
          </a:prstGeom>
          <a:noFill/>
          <a:ln/>
        </p:spPr>
        <p:txBody>
          <a:bodyPr wrap="square" lIns="0" tIns="0" rIns="0" bIns="0" rtlCol="0" anchor="ctr"/>
          <a:lstStyle/>
          <a:p>
            <a:pPr algn="ctr" indent="0" marL="0">
              <a:buNone/>
            </a:pPr>
            <a:r>
              <a:rPr lang="en-US" sz="950" b="1" spc="140" kern="0" dirty="0">
                <a:solidFill>
                  <a:srgbClr val="38C6D9"/>
                </a:solidFill>
                <a:latin typeface="Consolas" pitchFamily="34" charset="0"/>
                <a:ea typeface="Consolas" pitchFamily="34" charset="-122"/>
                <a:cs typeface="Consolas" pitchFamily="34" charset="-120"/>
              </a:rPr>
              <a:t>CAPITAL ALLOCATION</a:t>
            </a:r>
            <a:endParaRPr lang="en-US" sz="950" dirty="0"/>
          </a:p>
        </p:txBody>
      </p:sp>
      <p:sp>
        <p:nvSpPr>
          <p:cNvPr id="44" name="Shape 42"/>
          <p:cNvSpPr/>
          <p:nvPr/>
        </p:nvSpPr>
        <p:spPr>
          <a:xfrm>
            <a:off x="5751576" y="4343400"/>
            <a:ext cx="3044952" cy="310896"/>
          </a:xfrm>
          <a:prstGeom prst="rect">
            <a:avLst/>
          </a:prstGeom>
          <a:ln w="12700">
            <a:solidFill>
              <a:srgbClr val="F0A63C"/>
            </a:solidFill>
            <a:prstDash val="solid"/>
          </a:ln>
        </p:spPr>
      </p:sp>
      <p:sp>
        <p:nvSpPr>
          <p:cNvPr id="45" name="Text 43"/>
          <p:cNvSpPr txBox="1"/>
          <p:nvPr/>
        </p:nvSpPr>
        <p:spPr>
          <a:xfrm>
            <a:off x="5751576" y="4343400"/>
            <a:ext cx="3044952" cy="310896"/>
          </a:xfrm>
          <a:prstGeom prst="rect">
            <a:avLst/>
          </a:prstGeom>
          <a:noFill/>
          <a:ln/>
        </p:spPr>
        <p:txBody>
          <a:bodyPr wrap="square" lIns="0" tIns="0" rIns="0" bIns="0" rtlCol="0" anchor="ctr"/>
          <a:lstStyle/>
          <a:p>
            <a:pPr algn="ctr" indent="0" marL="0">
              <a:buNone/>
            </a:pPr>
            <a:r>
              <a:rPr lang="en-US" sz="950" b="1" spc="140" kern="0" dirty="0">
                <a:solidFill>
                  <a:srgbClr val="F0A63C"/>
                </a:solidFill>
                <a:latin typeface="Consolas" pitchFamily="34" charset="0"/>
                <a:ea typeface="Consolas" pitchFamily="34" charset="-122"/>
                <a:cs typeface="Consolas" pitchFamily="34" charset="-120"/>
              </a:rPr>
              <a:t>ADVERSARIAL AI WORKFLOW</a:t>
            </a:r>
            <a:endParaRPr lang="en-US" sz="950" dirty="0"/>
          </a:p>
        </p:txBody>
      </p:sp>
      <p:sp>
        <p:nvSpPr>
          <p:cNvPr id="46" name="Shape 44"/>
          <p:cNvSpPr/>
          <p:nvPr/>
        </p:nvSpPr>
        <p:spPr>
          <a:xfrm>
            <a:off x="685800" y="5212080"/>
            <a:ext cx="2377440" cy="50292"/>
          </a:xfrm>
          <a:prstGeom prst="rect">
            <a:avLst/>
          </a:prstGeom>
          <a:solidFill>
            <a:srgbClr val="38C6D9"/>
          </a:solidFill>
          <a:ln w="12700">
            <a:solidFill>
              <a:srgbClr val="333333"/>
            </a:solidFill>
            <a:prstDash val="solid"/>
          </a:ln>
        </p:spPr>
      </p:sp>
      <p:sp>
        <p:nvSpPr>
          <p:cNvPr id="47" name="Text 45"/>
          <p:cNvSpPr txBox="1"/>
          <p:nvPr/>
        </p:nvSpPr>
        <p:spPr>
          <a:xfrm>
            <a:off x="685800" y="5440680"/>
            <a:ext cx="7315200" cy="292608"/>
          </a:xfrm>
          <a:prstGeom prst="rect">
            <a:avLst/>
          </a:prstGeom>
          <a:noFill/>
          <a:ln/>
        </p:spPr>
        <p:txBody>
          <a:bodyPr wrap="square" lIns="0" tIns="0" rIns="0" bIns="0" rtlCol="0" anchor="ctr"/>
          <a:lstStyle/>
          <a:p>
            <a:pPr indent="0" marL="0">
              <a:buNone/>
            </a:pPr>
            <a:r>
              <a:rPr lang="en-US" sz="1100" spc="100" kern="0" dirty="0">
                <a:solidFill>
                  <a:srgbClr val="F2F6F8"/>
                </a:solidFill>
                <a:latin typeface="Consolas" pitchFamily="34" charset="0"/>
                <a:ea typeface="Consolas" pitchFamily="34" charset="-122"/>
                <a:cs typeface="Consolas" pitchFamily="34" charset="-120"/>
              </a:rPr>
              <a:t>Gudladona Venkata Rahul   ·   M13A-25   ·   MBA Marketing</a:t>
            </a:r>
            <a:endParaRPr lang="en-US" sz="1100" dirty="0"/>
          </a:p>
        </p:txBody>
      </p:sp>
      <p:sp>
        <p:nvSpPr>
          <p:cNvPr id="48" name="Text 46"/>
          <p:cNvSpPr txBox="1"/>
          <p:nvPr/>
        </p:nvSpPr>
        <p:spPr>
          <a:xfrm>
            <a:off x="685800" y="5742432"/>
            <a:ext cx="7315200" cy="274320"/>
          </a:xfrm>
          <a:prstGeom prst="rect">
            <a:avLst/>
          </a:prstGeom>
          <a:noFill/>
          <a:ln/>
        </p:spPr>
        <p:txBody>
          <a:bodyPr wrap="square" lIns="0" tIns="0" rIns="0" bIns="0" rtlCol="0" anchor="ctr"/>
          <a:lstStyle/>
          <a:p>
            <a:pPr indent="0" marL="0">
              <a:buNone/>
            </a:pPr>
            <a:r>
              <a:rPr lang="en-US" sz="950" spc="100" kern="0" dirty="0">
                <a:solidFill>
                  <a:srgbClr val="7C97A8"/>
                </a:solidFill>
                <a:latin typeface="Consolas" pitchFamily="34" charset="0"/>
                <a:ea typeface="Consolas" pitchFamily="34" charset="-122"/>
                <a:cs typeface="Consolas" pitchFamily="34" charset="-120"/>
              </a:rPr>
              <a:t>Indian Institute of Management Ranchi   ·   Prof. Yelleti Vivek</a:t>
            </a:r>
            <a:endParaRPr lang="en-US" sz="950" dirty="0"/>
          </a:p>
        </p:txBody>
      </p:sp>
      <p:sp>
        <p:nvSpPr>
          <p:cNvPr id="49" name="Text 47"/>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1B7A8C"/>
                </a:solidFill>
                <a:latin typeface="Consolas" pitchFamily="34" charset="0"/>
                <a:ea typeface="Consolas" pitchFamily="34" charset="-122"/>
                <a:cs typeface="Consolas" pitchFamily="34" charset="-120"/>
              </a:rPr>
              <a:t>01 / 16</a:t>
            </a:r>
            <a:endParaRPr lang="en-US" sz="900" dirty="0"/>
          </a:p>
        </p:txBody>
      </p:sp>
      <p:sp>
        <p:nvSpPr>
          <p:cNvPr id="50" name="Text 48"/>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2C4A5C"/>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THE MANAGERIAL PROBLEM</a:t>
            </a:r>
            <a:endParaRPr lang="en-US" sz="1000" dirty="0"/>
          </a:p>
        </p:txBody>
      </p:sp>
      <p:sp>
        <p:nvSpPr>
          <p:cNvPr id="4" name="Text 2"/>
          <p:cNvSpPr txBox="1"/>
          <p:nvPr/>
        </p:nvSpPr>
        <p:spPr>
          <a:xfrm>
            <a:off x="685800" y="841248"/>
            <a:ext cx="10789920" cy="1005840"/>
          </a:xfrm>
          <a:prstGeom prst="rect">
            <a:avLst/>
          </a:prstGeom>
          <a:noFill/>
          <a:ln/>
        </p:spPr>
        <p:txBody>
          <a:bodyPr wrap="square" lIns="0" tIns="0" rIns="0" bIns="0" rtlCol="0" anchor="t"/>
          <a:lstStyle/>
          <a:p>
            <a:pPr indent="0" marL="0">
              <a:lnSpc>
                <a:spcPts val="4000"/>
              </a:lnSpc>
              <a:buNone/>
            </a:pPr>
            <a:r>
              <a:rPr lang="en-US" sz="3000" b="1" dirty="0">
                <a:solidFill>
                  <a:srgbClr val="0C1A24"/>
                </a:solidFill>
                <a:latin typeface="Georgia" pitchFamily="34" charset="0"/>
                <a:ea typeface="Georgia" pitchFamily="34" charset="-122"/>
                <a:cs typeface="Georgia" pitchFamily="34" charset="-120"/>
              </a:rPr>
              <a:t>How should a club allocate a finite transfer budget</a:t>
            </a:r>
            <a:endParaRPr lang="en-US" sz="3000" dirty="0"/>
          </a:p>
          <a:p>
            <a:pPr indent="0" marL="0">
              <a:lnSpc>
                <a:spcPts val="4000"/>
              </a:lnSpc>
              <a:buNone/>
            </a:pPr>
            <a:r>
              <a:rPr lang="en-US" sz="3000" b="1" dirty="0">
                <a:solidFill>
                  <a:srgbClr val="0C1A24"/>
                </a:solidFill>
                <a:latin typeface="Georgia" pitchFamily="34" charset="0"/>
                <a:ea typeface="Georgia" pitchFamily="34" charset="-122"/>
                <a:cs typeface="Georgia" pitchFamily="34" charset="-120"/>
              </a:rPr>
              <a:t>when market value is informative but incomplete?</a:t>
            </a:r>
            <a:endParaRPr lang="en-US" sz="3000" dirty="0"/>
          </a:p>
        </p:txBody>
      </p:sp>
      <p:sp>
        <p:nvSpPr>
          <p:cNvPr id="5" name="Shape 3"/>
          <p:cNvSpPr/>
          <p:nvPr/>
        </p:nvSpPr>
        <p:spPr>
          <a:xfrm>
            <a:off x="685800" y="2286000"/>
            <a:ext cx="1463040" cy="41148"/>
          </a:xfrm>
          <a:prstGeom prst="rect">
            <a:avLst/>
          </a:prstGeom>
          <a:solidFill>
            <a:srgbClr val="1B7A8C"/>
          </a:solidFill>
          <a:ln w="12700">
            <a:solidFill>
              <a:srgbClr val="333333"/>
            </a:solidFill>
            <a:prstDash val="solid"/>
          </a:ln>
        </p:spPr>
      </p:sp>
      <p:sp>
        <p:nvSpPr>
          <p:cNvPr id="6" name="Text 4"/>
          <p:cNvSpPr txBox="1"/>
          <p:nvPr/>
        </p:nvSpPr>
        <p:spPr>
          <a:xfrm>
            <a:off x="685800" y="2743200"/>
            <a:ext cx="640080" cy="457200"/>
          </a:xfrm>
          <a:prstGeom prst="rect">
            <a:avLst/>
          </a:prstGeom>
          <a:noFill/>
          <a:ln/>
        </p:spPr>
        <p:txBody>
          <a:bodyPr wrap="square" lIns="0" tIns="0" rIns="0" bIns="0" rtlCol="0" anchor="ctr"/>
          <a:lstStyle/>
          <a:p>
            <a:pPr indent="0" marL="0">
              <a:buNone/>
            </a:pPr>
            <a:r>
              <a:rPr lang="en-US" sz="2600" b="1" dirty="0">
                <a:solidFill>
                  <a:srgbClr val="C9D8E0"/>
                </a:solidFill>
                <a:latin typeface="Georgia" pitchFamily="34" charset="0"/>
                <a:ea typeface="Georgia" pitchFamily="34" charset="-122"/>
                <a:cs typeface="Georgia" pitchFamily="34" charset="-120"/>
              </a:rPr>
              <a:t>01</a:t>
            </a:r>
            <a:endParaRPr lang="en-US" sz="2600" dirty="0"/>
          </a:p>
        </p:txBody>
      </p:sp>
      <p:sp>
        <p:nvSpPr>
          <p:cNvPr id="7" name="Text 5"/>
          <p:cNvSpPr txBox="1"/>
          <p:nvPr/>
        </p:nvSpPr>
        <p:spPr>
          <a:xfrm>
            <a:off x="1371600" y="2779776"/>
            <a:ext cx="4206240" cy="329184"/>
          </a:xfrm>
          <a:prstGeom prst="rect">
            <a:avLst/>
          </a:prstGeom>
          <a:noFill/>
          <a:ln/>
        </p:spPr>
        <p:txBody>
          <a:bodyPr wrap="square" lIns="0" tIns="0" rIns="0" bIns="0" rtlCol="0" anchor="ctr"/>
          <a:lstStyle/>
          <a:p>
            <a:pPr indent="0" marL="0">
              <a:buNone/>
            </a:pPr>
            <a:r>
              <a:rPr lang="en-US" sz="1700" b="1" dirty="0">
                <a:solidFill>
                  <a:srgbClr val="0C1A24"/>
                </a:solidFill>
                <a:latin typeface="Georgia" pitchFamily="34" charset="0"/>
                <a:ea typeface="Georgia" pitchFamily="34" charset="-122"/>
                <a:cs typeface="Georgia" pitchFamily="34" charset="-120"/>
              </a:rPr>
              <a:t>Irreversible</a:t>
            </a:r>
            <a:endParaRPr lang="en-US" sz="1700" dirty="0"/>
          </a:p>
        </p:txBody>
      </p:sp>
      <p:sp>
        <p:nvSpPr>
          <p:cNvPr id="8" name="Text 6"/>
          <p:cNvSpPr txBox="1"/>
          <p:nvPr/>
        </p:nvSpPr>
        <p:spPr>
          <a:xfrm>
            <a:off x="1371600" y="3145536"/>
            <a:ext cx="4297680" cy="822960"/>
          </a:xfrm>
          <a:prstGeom prst="rect">
            <a:avLst/>
          </a:prstGeom>
          <a:noFill/>
          <a:ln/>
        </p:spPr>
        <p:txBody>
          <a:bodyPr wrap="square" lIns="0" tIns="0" rIns="0" bIns="0" rtlCol="0" anchor="ctr"/>
          <a:lstStyle/>
          <a:p>
            <a:pPr indent="0" marL="0">
              <a:lnSpc>
                <a:spcPts val="1600"/>
              </a:lnSpc>
              <a:buNone/>
            </a:pPr>
            <a:r>
              <a:rPr lang="en-US" sz="1150" dirty="0">
                <a:solidFill>
                  <a:srgbClr val="41525E"/>
                </a:solidFill>
                <a:latin typeface="Trebuchet MS" pitchFamily="34" charset="0"/>
                <a:ea typeface="Trebuchet MS" pitchFamily="34" charset="-122"/>
                <a:cs typeface="Trebuchet MS" pitchFamily="34" charset="-120"/>
              </a:rPr>
              <a:t>A fee is sunk. Wages persist for years. The squad slot is unavailable to anyone else.</a:t>
            </a:r>
            <a:endParaRPr lang="en-US" sz="1150" dirty="0"/>
          </a:p>
        </p:txBody>
      </p:sp>
      <p:sp>
        <p:nvSpPr>
          <p:cNvPr id="9" name="Text 7"/>
          <p:cNvSpPr txBox="1"/>
          <p:nvPr/>
        </p:nvSpPr>
        <p:spPr>
          <a:xfrm>
            <a:off x="6172200" y="2743200"/>
            <a:ext cx="640080" cy="457200"/>
          </a:xfrm>
          <a:prstGeom prst="rect">
            <a:avLst/>
          </a:prstGeom>
          <a:noFill/>
          <a:ln/>
        </p:spPr>
        <p:txBody>
          <a:bodyPr wrap="square" lIns="0" tIns="0" rIns="0" bIns="0" rtlCol="0" anchor="ctr"/>
          <a:lstStyle/>
          <a:p>
            <a:pPr indent="0" marL="0">
              <a:buNone/>
            </a:pPr>
            <a:r>
              <a:rPr lang="en-US" sz="2600" b="1" dirty="0">
                <a:solidFill>
                  <a:srgbClr val="C9D8E0"/>
                </a:solidFill>
                <a:latin typeface="Georgia" pitchFamily="34" charset="0"/>
                <a:ea typeface="Georgia" pitchFamily="34" charset="-122"/>
                <a:cs typeface="Georgia" pitchFamily="34" charset="-120"/>
              </a:rPr>
              <a:t>02</a:t>
            </a:r>
            <a:endParaRPr lang="en-US" sz="2600" dirty="0"/>
          </a:p>
        </p:txBody>
      </p:sp>
      <p:sp>
        <p:nvSpPr>
          <p:cNvPr id="10" name="Text 8"/>
          <p:cNvSpPr txBox="1"/>
          <p:nvPr/>
        </p:nvSpPr>
        <p:spPr>
          <a:xfrm>
            <a:off x="6858000" y="2779776"/>
            <a:ext cx="4206240" cy="329184"/>
          </a:xfrm>
          <a:prstGeom prst="rect">
            <a:avLst/>
          </a:prstGeom>
          <a:noFill/>
          <a:ln/>
        </p:spPr>
        <p:txBody>
          <a:bodyPr wrap="square" lIns="0" tIns="0" rIns="0" bIns="0" rtlCol="0" anchor="ctr"/>
          <a:lstStyle/>
          <a:p>
            <a:pPr indent="0" marL="0">
              <a:buNone/>
            </a:pPr>
            <a:r>
              <a:rPr lang="en-US" sz="1700" b="1" dirty="0">
                <a:solidFill>
                  <a:srgbClr val="0C1A24"/>
                </a:solidFill>
                <a:latin typeface="Georgia" pitchFamily="34" charset="0"/>
                <a:ea typeface="Georgia" pitchFamily="34" charset="-122"/>
                <a:cs typeface="Georgia" pitchFamily="34" charset="-120"/>
              </a:rPr>
              <a:t>Constrained</a:t>
            </a:r>
            <a:endParaRPr lang="en-US" sz="1700" dirty="0"/>
          </a:p>
        </p:txBody>
      </p:sp>
      <p:sp>
        <p:nvSpPr>
          <p:cNvPr id="11" name="Text 9"/>
          <p:cNvSpPr txBox="1"/>
          <p:nvPr/>
        </p:nvSpPr>
        <p:spPr>
          <a:xfrm>
            <a:off x="6858000" y="3145536"/>
            <a:ext cx="4297680" cy="822960"/>
          </a:xfrm>
          <a:prstGeom prst="rect">
            <a:avLst/>
          </a:prstGeom>
          <a:noFill/>
          <a:ln/>
        </p:spPr>
        <p:txBody>
          <a:bodyPr wrap="square" lIns="0" tIns="0" rIns="0" bIns="0" rtlCol="0" anchor="ctr"/>
          <a:lstStyle/>
          <a:p>
            <a:pPr indent="0" marL="0">
              <a:lnSpc>
                <a:spcPts val="1600"/>
              </a:lnSpc>
              <a:buNone/>
            </a:pPr>
            <a:r>
              <a:rPr lang="en-US" sz="1150" dirty="0">
                <a:solidFill>
                  <a:srgbClr val="41525E"/>
                </a:solidFill>
                <a:latin typeface="Trebuchet MS" pitchFamily="34" charset="0"/>
                <a:ea typeface="Trebuchet MS" pitchFamily="34" charset="-122"/>
                <a:cs typeface="Trebuchet MS" pitchFamily="34" charset="-120"/>
              </a:rPr>
              <a:t>A budget cannot be exceeded, and five wingers do not solve a defensive problem.</a:t>
            </a:r>
            <a:endParaRPr lang="en-US" sz="1150" dirty="0"/>
          </a:p>
        </p:txBody>
      </p:sp>
      <p:sp>
        <p:nvSpPr>
          <p:cNvPr id="12" name="Text 10"/>
          <p:cNvSpPr txBox="1"/>
          <p:nvPr/>
        </p:nvSpPr>
        <p:spPr>
          <a:xfrm>
            <a:off x="685800" y="4343400"/>
            <a:ext cx="640080" cy="457200"/>
          </a:xfrm>
          <a:prstGeom prst="rect">
            <a:avLst/>
          </a:prstGeom>
          <a:noFill/>
          <a:ln/>
        </p:spPr>
        <p:txBody>
          <a:bodyPr wrap="square" lIns="0" tIns="0" rIns="0" bIns="0" rtlCol="0" anchor="ctr"/>
          <a:lstStyle/>
          <a:p>
            <a:pPr indent="0" marL="0">
              <a:buNone/>
            </a:pPr>
            <a:r>
              <a:rPr lang="en-US" sz="2600" b="1" dirty="0">
                <a:solidFill>
                  <a:srgbClr val="C9D8E0"/>
                </a:solidFill>
                <a:latin typeface="Georgia" pitchFamily="34" charset="0"/>
                <a:ea typeface="Georgia" pitchFamily="34" charset="-122"/>
                <a:cs typeface="Georgia" pitchFamily="34" charset="-120"/>
              </a:rPr>
              <a:t>03</a:t>
            </a:r>
            <a:endParaRPr lang="en-US" sz="2600" dirty="0"/>
          </a:p>
        </p:txBody>
      </p:sp>
      <p:sp>
        <p:nvSpPr>
          <p:cNvPr id="13" name="Text 11"/>
          <p:cNvSpPr txBox="1"/>
          <p:nvPr/>
        </p:nvSpPr>
        <p:spPr>
          <a:xfrm>
            <a:off x="1371600" y="4379976"/>
            <a:ext cx="4206240" cy="329184"/>
          </a:xfrm>
          <a:prstGeom prst="rect">
            <a:avLst/>
          </a:prstGeom>
          <a:noFill/>
          <a:ln/>
        </p:spPr>
        <p:txBody>
          <a:bodyPr wrap="square" lIns="0" tIns="0" rIns="0" bIns="0" rtlCol="0" anchor="ctr"/>
          <a:lstStyle/>
          <a:p>
            <a:pPr indent="0" marL="0">
              <a:buNone/>
            </a:pPr>
            <a:r>
              <a:rPr lang="en-US" sz="1700" b="1" dirty="0">
                <a:solidFill>
                  <a:srgbClr val="0C1A24"/>
                </a:solidFill>
                <a:latin typeface="Georgia" pitchFamily="34" charset="0"/>
                <a:ea typeface="Georgia" pitchFamily="34" charset="-122"/>
                <a:cs typeface="Georgia" pitchFamily="34" charset="-120"/>
              </a:rPr>
              <a:t>Partly hidden</a:t>
            </a:r>
            <a:endParaRPr lang="en-US" sz="1700" dirty="0"/>
          </a:p>
        </p:txBody>
      </p:sp>
      <p:sp>
        <p:nvSpPr>
          <p:cNvPr id="14" name="Text 12"/>
          <p:cNvSpPr txBox="1"/>
          <p:nvPr/>
        </p:nvSpPr>
        <p:spPr>
          <a:xfrm>
            <a:off x="1371600" y="4745736"/>
            <a:ext cx="4297680" cy="822960"/>
          </a:xfrm>
          <a:prstGeom prst="rect">
            <a:avLst/>
          </a:prstGeom>
          <a:noFill/>
          <a:ln/>
        </p:spPr>
        <p:txBody>
          <a:bodyPr wrap="square" lIns="0" tIns="0" rIns="0" bIns="0" rtlCol="0" anchor="ctr"/>
          <a:lstStyle/>
          <a:p>
            <a:pPr indent="0" marL="0">
              <a:lnSpc>
                <a:spcPts val="1600"/>
              </a:lnSpc>
              <a:buNone/>
            </a:pPr>
            <a:r>
              <a:rPr lang="en-US" sz="1150" dirty="0">
                <a:solidFill>
                  <a:srgbClr val="41525E"/>
                </a:solidFill>
                <a:latin typeface="Trebuchet MS" pitchFamily="34" charset="0"/>
                <a:ea typeface="Trebuchet MS" pitchFamily="34" charset="-122"/>
                <a:cs typeface="Trebuchet MS" pitchFamily="34" charset="-120"/>
              </a:rPr>
              <a:t>Contract, medical, tactical and personal information sit outside public data.</a:t>
            </a:r>
            <a:endParaRPr lang="en-US" sz="1150" dirty="0"/>
          </a:p>
        </p:txBody>
      </p:sp>
      <p:sp>
        <p:nvSpPr>
          <p:cNvPr id="15" name="Text 13"/>
          <p:cNvSpPr txBox="1"/>
          <p:nvPr/>
        </p:nvSpPr>
        <p:spPr>
          <a:xfrm>
            <a:off x="6172200" y="4343400"/>
            <a:ext cx="640080" cy="457200"/>
          </a:xfrm>
          <a:prstGeom prst="rect">
            <a:avLst/>
          </a:prstGeom>
          <a:noFill/>
          <a:ln/>
        </p:spPr>
        <p:txBody>
          <a:bodyPr wrap="square" lIns="0" tIns="0" rIns="0" bIns="0" rtlCol="0" anchor="ctr"/>
          <a:lstStyle/>
          <a:p>
            <a:pPr indent="0" marL="0">
              <a:buNone/>
            </a:pPr>
            <a:r>
              <a:rPr lang="en-US" sz="2600" b="1" dirty="0">
                <a:solidFill>
                  <a:srgbClr val="C9D8E0"/>
                </a:solidFill>
                <a:latin typeface="Georgia" pitchFamily="34" charset="0"/>
                <a:ea typeface="Georgia" pitchFamily="34" charset="-122"/>
                <a:cs typeface="Georgia" pitchFamily="34" charset="-120"/>
              </a:rPr>
              <a:t>04</a:t>
            </a:r>
            <a:endParaRPr lang="en-US" sz="2600" dirty="0"/>
          </a:p>
        </p:txBody>
      </p:sp>
      <p:sp>
        <p:nvSpPr>
          <p:cNvPr id="16" name="Text 14"/>
          <p:cNvSpPr txBox="1"/>
          <p:nvPr/>
        </p:nvSpPr>
        <p:spPr>
          <a:xfrm>
            <a:off x="6858000" y="4379976"/>
            <a:ext cx="4206240" cy="329184"/>
          </a:xfrm>
          <a:prstGeom prst="rect">
            <a:avLst/>
          </a:prstGeom>
          <a:noFill/>
          <a:ln/>
        </p:spPr>
        <p:txBody>
          <a:bodyPr wrap="square" lIns="0" tIns="0" rIns="0" bIns="0" rtlCol="0" anchor="ctr"/>
          <a:lstStyle/>
          <a:p>
            <a:pPr indent="0" marL="0">
              <a:buNone/>
            </a:pPr>
            <a:r>
              <a:rPr lang="en-US" sz="1700" b="1" dirty="0">
                <a:solidFill>
                  <a:srgbClr val="0C1A24"/>
                </a:solidFill>
                <a:latin typeface="Georgia" pitchFamily="34" charset="0"/>
                <a:ea typeface="Georgia" pitchFamily="34" charset="-122"/>
                <a:cs typeface="Georgia" pitchFamily="34" charset="-120"/>
              </a:rPr>
              <a:t>Heterogeneous</a:t>
            </a:r>
            <a:endParaRPr lang="en-US" sz="1700" dirty="0"/>
          </a:p>
        </p:txBody>
      </p:sp>
      <p:sp>
        <p:nvSpPr>
          <p:cNvPr id="17" name="Text 15"/>
          <p:cNvSpPr txBox="1"/>
          <p:nvPr/>
        </p:nvSpPr>
        <p:spPr>
          <a:xfrm>
            <a:off x="6858000" y="4745736"/>
            <a:ext cx="4297680" cy="822960"/>
          </a:xfrm>
          <a:prstGeom prst="rect">
            <a:avLst/>
          </a:prstGeom>
          <a:noFill/>
          <a:ln/>
        </p:spPr>
        <p:txBody>
          <a:bodyPr wrap="square" lIns="0" tIns="0" rIns="0" bIns="0" rtlCol="0" anchor="ctr"/>
          <a:lstStyle/>
          <a:p>
            <a:pPr indent="0" marL="0">
              <a:lnSpc>
                <a:spcPts val="1600"/>
              </a:lnSpc>
              <a:buNone/>
            </a:pPr>
            <a:r>
              <a:rPr lang="en-US" sz="1150" dirty="0">
                <a:solidFill>
                  <a:srgbClr val="41525E"/>
                </a:solidFill>
                <a:latin typeface="Trebuchet MS" pitchFamily="34" charset="0"/>
                <a:ea typeface="Trebuchet MS" pitchFamily="34" charset="-122"/>
                <a:cs typeface="Trebuchet MS" pitchFamily="34" charset="-120"/>
              </a:rPr>
              <a:t>Performance means different things by position, league and age.</a:t>
            </a:r>
            <a:endParaRPr lang="en-US" sz="1150" dirty="0"/>
          </a:p>
        </p:txBody>
      </p:sp>
      <p:sp>
        <p:nvSpPr>
          <p:cNvPr id="18" name="Shape 16"/>
          <p:cNvSpPr/>
          <p:nvPr/>
        </p:nvSpPr>
        <p:spPr>
          <a:xfrm>
            <a:off x="685800" y="5852160"/>
            <a:ext cx="10789920" cy="18288"/>
          </a:xfrm>
          <a:prstGeom prst="rect">
            <a:avLst/>
          </a:prstGeom>
          <a:solidFill>
            <a:srgbClr val="D8E2E8"/>
          </a:solidFill>
          <a:ln w="12700">
            <a:solidFill>
              <a:srgbClr val="333333"/>
            </a:solidFill>
            <a:prstDash val="solid"/>
          </a:ln>
        </p:spPr>
      </p:sp>
      <p:sp>
        <p:nvSpPr>
          <p:cNvPr id="19" name="Text 17"/>
          <p:cNvSpPr txBox="1"/>
          <p:nvPr/>
        </p:nvSpPr>
        <p:spPr>
          <a:xfrm>
            <a:off x="685800" y="5943600"/>
            <a:ext cx="10515600" cy="329184"/>
          </a:xfrm>
          <a:prstGeom prst="rect">
            <a:avLst/>
          </a:prstGeom>
          <a:noFill/>
          <a:ln/>
        </p:spPr>
        <p:txBody>
          <a:bodyPr wrap="square" lIns="0" tIns="0" rIns="0" bIns="0" rtlCol="0" anchor="ctr"/>
          <a:lstStyle/>
          <a:p>
            <a:pPr indent="0" marL="0">
              <a:buNone/>
            </a:pPr>
            <a:r>
              <a:rPr lang="en-US" sz="1400" i="1" dirty="0">
                <a:solidFill>
                  <a:srgbClr val="1B7A8C"/>
                </a:solidFill>
                <a:latin typeface="Georgia" pitchFamily="34" charset="0"/>
                <a:ea typeface="Georgia" pitchFamily="34" charset="-122"/>
                <a:cs typeface="Georgia" pitchFamily="34" charset="-120"/>
              </a:rPr>
              <a:t>Recruitment resembles capital budgeting more than shopping, yet clubs decide one player at a time.</a:t>
            </a:r>
            <a:endParaRPr lang="en-US" sz="1400" dirty="0"/>
          </a:p>
        </p:txBody>
      </p:sp>
      <p:sp>
        <p:nvSpPr>
          <p:cNvPr id="20" name="Text 18"/>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02 / 16</a:t>
            </a:r>
            <a:endParaRPr lang="en-US" sz="900" dirty="0"/>
          </a:p>
        </p:txBody>
      </p:sp>
      <p:sp>
        <p:nvSpPr>
          <p:cNvPr id="21" name="Text 19"/>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A24"/>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1E3A4C">
              <a:alpha val="45000"/>
            </a:srgbClr>
          </a:solidFill>
          <a:ln w="12700">
            <a:solidFill>
              <a:srgbClr val="333333"/>
            </a:solidFill>
            <a:prstDash val="solid"/>
          </a:ln>
        </p:spPr>
      </p:sp>
      <p:sp>
        <p:nvSpPr>
          <p:cNvPr id="3" name="Shape 1"/>
          <p:cNvSpPr/>
          <p:nvPr/>
        </p:nvSpPr>
        <p:spPr>
          <a:xfrm>
            <a:off x="384048" y="6547104"/>
            <a:ext cx="11420856" cy="10973"/>
          </a:xfrm>
          <a:prstGeom prst="rect">
            <a:avLst/>
          </a:prstGeom>
          <a:solidFill>
            <a:srgbClr val="1E3A4C">
              <a:alpha val="45000"/>
            </a:srgbClr>
          </a:solidFill>
          <a:ln w="12700">
            <a:solidFill>
              <a:srgbClr val="333333"/>
            </a:solidFill>
            <a:prstDash val="solid"/>
          </a:ln>
        </p:spPr>
      </p:sp>
      <p:sp>
        <p:nvSpPr>
          <p:cNvPr id="4" name="Shape 2"/>
          <p:cNvSpPr/>
          <p:nvPr/>
        </p:nvSpPr>
        <p:spPr>
          <a:xfrm>
            <a:off x="384048" y="310896"/>
            <a:ext cx="10973" cy="6236208"/>
          </a:xfrm>
          <a:prstGeom prst="rect">
            <a:avLst/>
          </a:prstGeom>
          <a:solidFill>
            <a:srgbClr val="1E3A4C">
              <a:alpha val="45000"/>
            </a:srgbClr>
          </a:solidFill>
          <a:ln w="12700">
            <a:solidFill>
              <a:srgbClr val="333333"/>
            </a:solidFill>
            <a:prstDash val="solid"/>
          </a:ln>
        </p:spPr>
      </p:sp>
      <p:sp>
        <p:nvSpPr>
          <p:cNvPr id="5" name="Shape 3"/>
          <p:cNvSpPr/>
          <p:nvPr/>
        </p:nvSpPr>
        <p:spPr>
          <a:xfrm>
            <a:off x="11795760" y="310896"/>
            <a:ext cx="10973" cy="6236208"/>
          </a:xfrm>
          <a:prstGeom prst="rect">
            <a:avLst/>
          </a:prstGeom>
          <a:solidFill>
            <a:srgbClr val="1E3A4C">
              <a:alpha val="45000"/>
            </a:srgbClr>
          </a:solidFill>
          <a:ln w="12700">
            <a:solidFill>
              <a:srgbClr val="333333"/>
            </a:solidFill>
            <a:prstDash val="solid"/>
          </a:ln>
        </p:spPr>
      </p:sp>
      <p:sp>
        <p:nvSpPr>
          <p:cNvPr id="6" name="Shape 4"/>
          <p:cNvSpPr/>
          <p:nvPr/>
        </p:nvSpPr>
        <p:spPr>
          <a:xfrm>
            <a:off x="6080760" y="310896"/>
            <a:ext cx="10973" cy="6236208"/>
          </a:xfrm>
          <a:prstGeom prst="rect">
            <a:avLst/>
          </a:prstGeom>
          <a:solidFill>
            <a:srgbClr val="1E3A4C">
              <a:alpha val="45000"/>
            </a:srgbClr>
          </a:solidFill>
          <a:ln w="12700">
            <a:solidFill>
              <a:srgbClr val="333333"/>
            </a:solidFill>
            <a:prstDash val="solid"/>
          </a:ln>
        </p:spPr>
      </p:sp>
      <p:sp>
        <p:nvSpPr>
          <p:cNvPr id="7" name="Shape 5"/>
          <p:cNvSpPr/>
          <p:nvPr/>
        </p:nvSpPr>
        <p:spPr>
          <a:xfrm>
            <a:off x="5029200" y="3291840"/>
            <a:ext cx="2103120" cy="2103120"/>
          </a:xfrm>
          <a:prstGeom prst="ellipse">
            <a:avLst/>
          </a:prstGeom>
          <a:ln w="12700">
            <a:solidFill>
              <a:srgbClr val="1E3A4C">
                <a:alpha val="45000"/>
              </a:srgbClr>
            </a:solidFill>
            <a:prstDash val="solid"/>
          </a:ln>
        </p:spPr>
      </p:sp>
      <p:sp>
        <p:nvSpPr>
          <p:cNvPr id="8" name="Shape 6"/>
          <p:cNvSpPr/>
          <p:nvPr/>
        </p:nvSpPr>
        <p:spPr>
          <a:xfrm>
            <a:off x="384048" y="1965960"/>
            <a:ext cx="1600200" cy="10973"/>
          </a:xfrm>
          <a:prstGeom prst="rect">
            <a:avLst/>
          </a:prstGeom>
          <a:solidFill>
            <a:srgbClr val="1E3A4C">
              <a:alpha val="45000"/>
            </a:srgbClr>
          </a:solidFill>
          <a:ln w="12700">
            <a:solidFill>
              <a:srgbClr val="333333"/>
            </a:solidFill>
            <a:prstDash val="solid"/>
          </a:ln>
        </p:spPr>
      </p:sp>
      <p:sp>
        <p:nvSpPr>
          <p:cNvPr id="9" name="Shape 7"/>
          <p:cNvSpPr/>
          <p:nvPr/>
        </p:nvSpPr>
        <p:spPr>
          <a:xfrm>
            <a:off x="384048" y="4892040"/>
            <a:ext cx="1600200" cy="10973"/>
          </a:xfrm>
          <a:prstGeom prst="rect">
            <a:avLst/>
          </a:prstGeom>
          <a:solidFill>
            <a:srgbClr val="1E3A4C">
              <a:alpha val="45000"/>
            </a:srgbClr>
          </a:solidFill>
          <a:ln w="12700">
            <a:solidFill>
              <a:srgbClr val="333333"/>
            </a:solidFill>
            <a:prstDash val="solid"/>
          </a:ln>
        </p:spPr>
      </p:sp>
      <p:sp>
        <p:nvSpPr>
          <p:cNvPr id="10" name="Shape 8"/>
          <p:cNvSpPr/>
          <p:nvPr/>
        </p:nvSpPr>
        <p:spPr>
          <a:xfrm>
            <a:off x="1984248" y="1965960"/>
            <a:ext cx="10973" cy="2926080"/>
          </a:xfrm>
          <a:prstGeom prst="rect">
            <a:avLst/>
          </a:prstGeom>
          <a:solidFill>
            <a:srgbClr val="1E3A4C">
              <a:alpha val="45000"/>
            </a:srgbClr>
          </a:solidFill>
          <a:ln w="12700">
            <a:solidFill>
              <a:srgbClr val="333333"/>
            </a:solidFill>
            <a:prstDash val="solid"/>
          </a:ln>
        </p:spPr>
      </p:sp>
      <p:sp>
        <p:nvSpPr>
          <p:cNvPr id="11" name="Shape 9"/>
          <p:cNvSpPr/>
          <p:nvPr/>
        </p:nvSpPr>
        <p:spPr>
          <a:xfrm>
            <a:off x="10204704" y="1965960"/>
            <a:ext cx="1600200" cy="10973"/>
          </a:xfrm>
          <a:prstGeom prst="rect">
            <a:avLst/>
          </a:prstGeom>
          <a:solidFill>
            <a:srgbClr val="1E3A4C">
              <a:alpha val="45000"/>
            </a:srgbClr>
          </a:solidFill>
          <a:ln w="12700">
            <a:solidFill>
              <a:srgbClr val="333333"/>
            </a:solidFill>
            <a:prstDash val="solid"/>
          </a:ln>
        </p:spPr>
      </p:sp>
      <p:sp>
        <p:nvSpPr>
          <p:cNvPr id="12" name="Shape 10"/>
          <p:cNvSpPr/>
          <p:nvPr/>
        </p:nvSpPr>
        <p:spPr>
          <a:xfrm>
            <a:off x="10204704" y="4892040"/>
            <a:ext cx="1600200" cy="10973"/>
          </a:xfrm>
          <a:prstGeom prst="rect">
            <a:avLst/>
          </a:prstGeom>
          <a:solidFill>
            <a:srgbClr val="1E3A4C">
              <a:alpha val="45000"/>
            </a:srgbClr>
          </a:solidFill>
          <a:ln w="12700">
            <a:solidFill>
              <a:srgbClr val="333333"/>
            </a:solidFill>
            <a:prstDash val="solid"/>
          </a:ln>
        </p:spPr>
      </p:sp>
      <p:sp>
        <p:nvSpPr>
          <p:cNvPr id="13" name="Shape 11"/>
          <p:cNvSpPr/>
          <p:nvPr/>
        </p:nvSpPr>
        <p:spPr>
          <a:xfrm>
            <a:off x="10204704" y="1965960"/>
            <a:ext cx="10973" cy="2926080"/>
          </a:xfrm>
          <a:prstGeom prst="rect">
            <a:avLst/>
          </a:prstGeom>
          <a:solidFill>
            <a:srgbClr val="1E3A4C">
              <a:alpha val="45000"/>
            </a:srgbClr>
          </a:solidFill>
          <a:ln w="12700">
            <a:solidFill>
              <a:srgbClr val="333333"/>
            </a:solidFill>
            <a:prstDash val="solid"/>
          </a:ln>
        </p:spPr>
      </p:sp>
      <p:sp>
        <p:nvSpPr>
          <p:cNvPr id="14" name="Shape 12"/>
          <p:cNvSpPr/>
          <p:nvPr/>
        </p:nvSpPr>
        <p:spPr>
          <a:xfrm>
            <a:off x="384048" y="2788920"/>
            <a:ext cx="658368" cy="10973"/>
          </a:xfrm>
          <a:prstGeom prst="rect">
            <a:avLst/>
          </a:prstGeom>
          <a:solidFill>
            <a:srgbClr val="1E3A4C">
              <a:alpha val="45000"/>
            </a:srgbClr>
          </a:solidFill>
          <a:ln w="12700">
            <a:solidFill>
              <a:srgbClr val="333333"/>
            </a:solidFill>
            <a:prstDash val="solid"/>
          </a:ln>
        </p:spPr>
      </p:sp>
      <p:sp>
        <p:nvSpPr>
          <p:cNvPr id="15" name="Shape 13"/>
          <p:cNvSpPr/>
          <p:nvPr/>
        </p:nvSpPr>
        <p:spPr>
          <a:xfrm>
            <a:off x="384048" y="4069080"/>
            <a:ext cx="658368" cy="10973"/>
          </a:xfrm>
          <a:prstGeom prst="rect">
            <a:avLst/>
          </a:prstGeom>
          <a:solidFill>
            <a:srgbClr val="1E3A4C">
              <a:alpha val="45000"/>
            </a:srgbClr>
          </a:solidFill>
          <a:ln w="12700">
            <a:solidFill>
              <a:srgbClr val="333333"/>
            </a:solidFill>
            <a:prstDash val="solid"/>
          </a:ln>
        </p:spPr>
      </p:sp>
      <p:sp>
        <p:nvSpPr>
          <p:cNvPr id="16" name="Shape 14"/>
          <p:cNvSpPr/>
          <p:nvPr/>
        </p:nvSpPr>
        <p:spPr>
          <a:xfrm>
            <a:off x="1042416" y="2788920"/>
            <a:ext cx="10973" cy="1280160"/>
          </a:xfrm>
          <a:prstGeom prst="rect">
            <a:avLst/>
          </a:prstGeom>
          <a:solidFill>
            <a:srgbClr val="1E3A4C">
              <a:alpha val="45000"/>
            </a:srgbClr>
          </a:solidFill>
          <a:ln w="12700">
            <a:solidFill>
              <a:srgbClr val="333333"/>
            </a:solidFill>
            <a:prstDash val="solid"/>
          </a:ln>
        </p:spPr>
      </p:sp>
      <p:sp>
        <p:nvSpPr>
          <p:cNvPr id="17" name="Shape 15"/>
          <p:cNvSpPr/>
          <p:nvPr/>
        </p:nvSpPr>
        <p:spPr>
          <a:xfrm>
            <a:off x="11146536" y="2788920"/>
            <a:ext cx="658368" cy="10973"/>
          </a:xfrm>
          <a:prstGeom prst="rect">
            <a:avLst/>
          </a:prstGeom>
          <a:solidFill>
            <a:srgbClr val="1E3A4C">
              <a:alpha val="45000"/>
            </a:srgbClr>
          </a:solidFill>
          <a:ln w="12700">
            <a:solidFill>
              <a:srgbClr val="333333"/>
            </a:solidFill>
            <a:prstDash val="solid"/>
          </a:ln>
        </p:spPr>
      </p:sp>
      <p:sp>
        <p:nvSpPr>
          <p:cNvPr id="18" name="Shape 16"/>
          <p:cNvSpPr/>
          <p:nvPr/>
        </p:nvSpPr>
        <p:spPr>
          <a:xfrm>
            <a:off x="11146536" y="4069080"/>
            <a:ext cx="658368" cy="10973"/>
          </a:xfrm>
          <a:prstGeom prst="rect">
            <a:avLst/>
          </a:prstGeom>
          <a:solidFill>
            <a:srgbClr val="1E3A4C">
              <a:alpha val="45000"/>
            </a:srgbClr>
          </a:solidFill>
          <a:ln w="12700">
            <a:solidFill>
              <a:srgbClr val="333333"/>
            </a:solidFill>
            <a:prstDash val="solid"/>
          </a:ln>
        </p:spPr>
      </p:sp>
      <p:sp>
        <p:nvSpPr>
          <p:cNvPr id="19" name="Shape 17"/>
          <p:cNvSpPr/>
          <p:nvPr/>
        </p:nvSpPr>
        <p:spPr>
          <a:xfrm>
            <a:off x="11146536" y="2788920"/>
            <a:ext cx="10973" cy="1280160"/>
          </a:xfrm>
          <a:prstGeom prst="rect">
            <a:avLst/>
          </a:prstGeom>
          <a:solidFill>
            <a:srgbClr val="1E3A4C">
              <a:alpha val="45000"/>
            </a:srgbClr>
          </a:solidFill>
          <a:ln w="12700">
            <a:solidFill>
              <a:srgbClr val="333333"/>
            </a:solidFill>
            <a:prstDash val="solid"/>
          </a:ln>
        </p:spPr>
      </p:sp>
      <p:sp>
        <p:nvSpPr>
          <p:cNvPr id="20" name="Text 18"/>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38C6D9"/>
                </a:solidFill>
                <a:latin typeface="Consolas" pitchFamily="34" charset="0"/>
                <a:ea typeface="Consolas" pitchFamily="34" charset="-122"/>
                <a:cs typeface="Consolas" pitchFamily="34" charset="-120"/>
              </a:rPr>
              <a:t>WHERE THE PROJECT STARTED</a:t>
            </a:r>
            <a:endParaRPr lang="en-US" sz="1000" dirty="0"/>
          </a:p>
        </p:txBody>
      </p:sp>
      <p:sp>
        <p:nvSpPr>
          <p:cNvPr id="21" name="Text 19"/>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3400" b="1" dirty="0">
                <a:solidFill>
                  <a:srgbClr val="F2F6F8"/>
                </a:solidFill>
                <a:latin typeface="Georgia" pitchFamily="34" charset="0"/>
                <a:ea typeface="Georgia" pitchFamily="34" charset="-122"/>
                <a:cs typeface="Georgia" pitchFamily="34" charset="-120"/>
              </a:rPr>
              <a:t>The original hypothesis</a:t>
            </a:r>
            <a:endParaRPr lang="en-US" sz="3400" dirty="0"/>
          </a:p>
        </p:txBody>
      </p:sp>
      <p:sp>
        <p:nvSpPr>
          <p:cNvPr id="22" name="Shape 20"/>
          <p:cNvSpPr/>
          <p:nvPr/>
        </p:nvSpPr>
        <p:spPr>
          <a:xfrm>
            <a:off x="685800" y="2139696"/>
            <a:ext cx="1463040" cy="41148"/>
          </a:xfrm>
          <a:prstGeom prst="rect">
            <a:avLst/>
          </a:prstGeom>
          <a:solidFill>
            <a:srgbClr val="38C6D9"/>
          </a:solidFill>
          <a:ln w="12700">
            <a:solidFill>
              <a:srgbClr val="333333"/>
            </a:solidFill>
            <a:prstDash val="solid"/>
          </a:ln>
        </p:spPr>
      </p:sp>
      <p:sp>
        <p:nvSpPr>
          <p:cNvPr id="23" name="Shape 21"/>
          <p:cNvSpPr/>
          <p:nvPr/>
        </p:nvSpPr>
        <p:spPr>
          <a:xfrm>
            <a:off x="685800" y="2423160"/>
            <a:ext cx="2286000" cy="1371600"/>
          </a:xfrm>
          <a:prstGeom prst="rect">
            <a:avLst/>
          </a:prstGeom>
          <a:solidFill>
            <a:srgbClr val="112532"/>
          </a:solidFill>
          <a:ln w="12700">
            <a:solidFill>
              <a:srgbClr val="1E3A4C"/>
            </a:solidFill>
            <a:prstDash val="solid"/>
          </a:ln>
        </p:spPr>
      </p:sp>
      <p:sp>
        <p:nvSpPr>
          <p:cNvPr id="24" name="Shape 22"/>
          <p:cNvSpPr/>
          <p:nvPr/>
        </p:nvSpPr>
        <p:spPr>
          <a:xfrm>
            <a:off x="685800" y="2423160"/>
            <a:ext cx="41148" cy="1371600"/>
          </a:xfrm>
          <a:prstGeom prst="rect">
            <a:avLst/>
          </a:prstGeom>
          <a:solidFill>
            <a:srgbClr val="1B7A8C"/>
          </a:solidFill>
          <a:ln w="12700">
            <a:solidFill>
              <a:srgbClr val="333333"/>
            </a:solidFill>
            <a:prstDash val="solid"/>
          </a:ln>
        </p:spPr>
      </p:sp>
      <p:sp>
        <p:nvSpPr>
          <p:cNvPr id="25" name="Text 23"/>
          <p:cNvSpPr txBox="1"/>
          <p:nvPr/>
        </p:nvSpPr>
        <p:spPr>
          <a:xfrm>
            <a:off x="850392" y="2487168"/>
            <a:ext cx="2011680" cy="1243584"/>
          </a:xfrm>
          <a:prstGeom prst="rect">
            <a:avLst/>
          </a:prstGeom>
          <a:noFill/>
          <a:ln/>
        </p:spPr>
        <p:txBody>
          <a:bodyPr wrap="square" lIns="0" tIns="0" rIns="0" bIns="0" rtlCol="0" anchor="ctr"/>
          <a:lstStyle/>
          <a:p>
            <a:pPr algn="ctr" indent="0" marL="0">
              <a:lnSpc>
                <a:spcPts val="1600"/>
              </a:lnSpc>
              <a:buNone/>
            </a:pPr>
            <a:r>
              <a:rPr lang="en-US" sz="1200" dirty="0">
                <a:solidFill>
                  <a:srgbClr val="F2F6F8"/>
                </a:solidFill>
                <a:latin typeface="Trebuchet MS" pitchFamily="34" charset="0"/>
                <a:ea typeface="Trebuchet MS" pitchFamily="34" charset="-122"/>
                <a:cs typeface="Trebuchet MS" pitchFamily="34" charset="-120"/>
              </a:rPr>
              <a:t>Performance</a:t>
            </a:r>
            <a:endParaRPr lang="en-US" sz="1200" dirty="0"/>
          </a:p>
          <a:p>
            <a:pPr algn="ctr" indent="0" marL="0">
              <a:lnSpc>
                <a:spcPts val="1600"/>
              </a:lnSpc>
              <a:buNone/>
            </a:pPr>
            <a:r>
              <a:rPr lang="en-US" sz="1200" dirty="0">
                <a:solidFill>
                  <a:srgbClr val="F2F6F8"/>
                </a:solidFill>
                <a:latin typeface="Trebuchet MS" pitchFamily="34" charset="0"/>
                <a:ea typeface="Trebuchet MS" pitchFamily="34" charset="-122"/>
                <a:cs typeface="Trebuchet MS" pitchFamily="34" charset="-120"/>
              </a:rPr>
              <a:t>Age · Position</a:t>
            </a:r>
            <a:endParaRPr lang="en-US" sz="1200" dirty="0"/>
          </a:p>
          <a:p>
            <a:pPr algn="ctr" indent="0" marL="0">
              <a:lnSpc>
                <a:spcPts val="1600"/>
              </a:lnSpc>
              <a:buNone/>
            </a:pPr>
            <a:r>
              <a:rPr lang="en-US" sz="1200" dirty="0">
                <a:solidFill>
                  <a:srgbClr val="F2F6F8"/>
                </a:solidFill>
                <a:latin typeface="Trebuchet MS" pitchFamily="34" charset="0"/>
                <a:ea typeface="Trebuchet MS" pitchFamily="34" charset="-122"/>
                <a:cs typeface="Trebuchet MS" pitchFamily="34" charset="-120"/>
              </a:rPr>
              <a:t>Trajectory</a:t>
            </a:r>
            <a:endParaRPr lang="en-US" sz="1200" dirty="0"/>
          </a:p>
        </p:txBody>
      </p:sp>
      <p:sp>
        <p:nvSpPr>
          <p:cNvPr id="26" name="Text 24"/>
          <p:cNvSpPr txBox="1"/>
          <p:nvPr/>
        </p:nvSpPr>
        <p:spPr>
          <a:xfrm>
            <a:off x="2990088" y="2907792"/>
            <a:ext cx="420624" cy="411480"/>
          </a:xfrm>
          <a:prstGeom prst="rect">
            <a:avLst/>
          </a:prstGeom>
          <a:noFill/>
          <a:ln/>
        </p:spPr>
        <p:txBody>
          <a:bodyPr wrap="square" lIns="0" tIns="0" rIns="0" bIns="0" rtlCol="0" anchor="ctr"/>
          <a:lstStyle/>
          <a:p>
            <a:pPr algn="ctr" indent="0" marL="0">
              <a:buNone/>
            </a:pPr>
            <a:r>
              <a:rPr lang="en-US" sz="1800" dirty="0">
                <a:solidFill>
                  <a:srgbClr val="1B7A8C"/>
                </a:solidFill>
                <a:latin typeface="Trebuchet MS" pitchFamily="34" charset="0"/>
                <a:ea typeface="Trebuchet MS" pitchFamily="34" charset="-122"/>
                <a:cs typeface="Trebuchet MS" pitchFamily="34" charset="-120"/>
              </a:rPr>
              <a:t>→</a:t>
            </a:r>
            <a:endParaRPr lang="en-US" sz="1800" dirty="0"/>
          </a:p>
        </p:txBody>
      </p:sp>
      <p:sp>
        <p:nvSpPr>
          <p:cNvPr id="27" name="Shape 25"/>
          <p:cNvSpPr/>
          <p:nvPr/>
        </p:nvSpPr>
        <p:spPr>
          <a:xfrm>
            <a:off x="3429000" y="2423160"/>
            <a:ext cx="2286000" cy="1371600"/>
          </a:xfrm>
          <a:prstGeom prst="rect">
            <a:avLst/>
          </a:prstGeom>
          <a:solidFill>
            <a:srgbClr val="112532"/>
          </a:solidFill>
          <a:ln w="12700">
            <a:solidFill>
              <a:srgbClr val="1E3A4C"/>
            </a:solidFill>
            <a:prstDash val="solid"/>
          </a:ln>
        </p:spPr>
      </p:sp>
      <p:sp>
        <p:nvSpPr>
          <p:cNvPr id="28" name="Shape 26"/>
          <p:cNvSpPr/>
          <p:nvPr/>
        </p:nvSpPr>
        <p:spPr>
          <a:xfrm>
            <a:off x="3429000" y="2423160"/>
            <a:ext cx="41148" cy="1371600"/>
          </a:xfrm>
          <a:prstGeom prst="rect">
            <a:avLst/>
          </a:prstGeom>
          <a:solidFill>
            <a:srgbClr val="1B7A8C"/>
          </a:solidFill>
          <a:ln w="12700">
            <a:solidFill>
              <a:srgbClr val="333333"/>
            </a:solidFill>
            <a:prstDash val="solid"/>
          </a:ln>
        </p:spPr>
      </p:sp>
      <p:sp>
        <p:nvSpPr>
          <p:cNvPr id="29" name="Text 27"/>
          <p:cNvSpPr txBox="1"/>
          <p:nvPr/>
        </p:nvSpPr>
        <p:spPr>
          <a:xfrm>
            <a:off x="3593592" y="2487168"/>
            <a:ext cx="2011680" cy="1243584"/>
          </a:xfrm>
          <a:prstGeom prst="rect">
            <a:avLst/>
          </a:prstGeom>
          <a:noFill/>
          <a:ln/>
        </p:spPr>
        <p:txBody>
          <a:bodyPr wrap="square" lIns="0" tIns="0" rIns="0" bIns="0" rtlCol="0" anchor="ctr"/>
          <a:lstStyle/>
          <a:p>
            <a:pPr algn="ctr" indent="0" marL="0">
              <a:lnSpc>
                <a:spcPts val="1600"/>
              </a:lnSpc>
              <a:buNone/>
            </a:pPr>
            <a:r>
              <a:rPr lang="en-US" sz="1200" dirty="0">
                <a:solidFill>
                  <a:srgbClr val="F2F6F8"/>
                </a:solidFill>
                <a:latin typeface="Trebuchet MS" pitchFamily="34" charset="0"/>
                <a:ea typeface="Trebuchet MS" pitchFamily="34" charset="-122"/>
                <a:cs typeface="Trebuchet MS" pitchFamily="34" charset="-120"/>
              </a:rPr>
              <a:t>Model-implied</a:t>
            </a:r>
            <a:endParaRPr lang="en-US" sz="1200" dirty="0"/>
          </a:p>
          <a:p>
            <a:pPr algn="ctr" indent="0" marL="0">
              <a:lnSpc>
                <a:spcPts val="1600"/>
              </a:lnSpc>
              <a:buNone/>
            </a:pPr>
            <a:r>
              <a:rPr lang="en-US" sz="1200" dirty="0">
                <a:solidFill>
                  <a:srgbClr val="F2F6F8"/>
                </a:solidFill>
                <a:latin typeface="Trebuchet MS" pitchFamily="34" charset="0"/>
                <a:ea typeface="Trebuchet MS" pitchFamily="34" charset="-122"/>
                <a:cs typeface="Trebuchet MS" pitchFamily="34" charset="-120"/>
              </a:rPr>
              <a:t>valuation</a:t>
            </a:r>
            <a:endParaRPr lang="en-US" sz="1200" dirty="0"/>
          </a:p>
        </p:txBody>
      </p:sp>
      <p:sp>
        <p:nvSpPr>
          <p:cNvPr id="30" name="Text 28"/>
          <p:cNvSpPr txBox="1"/>
          <p:nvPr/>
        </p:nvSpPr>
        <p:spPr>
          <a:xfrm>
            <a:off x="5733288" y="2907792"/>
            <a:ext cx="420624" cy="411480"/>
          </a:xfrm>
          <a:prstGeom prst="rect">
            <a:avLst/>
          </a:prstGeom>
          <a:noFill/>
          <a:ln/>
        </p:spPr>
        <p:txBody>
          <a:bodyPr wrap="square" lIns="0" tIns="0" rIns="0" bIns="0" rtlCol="0" anchor="ctr"/>
          <a:lstStyle/>
          <a:p>
            <a:pPr algn="ctr" indent="0" marL="0">
              <a:buNone/>
            </a:pPr>
            <a:r>
              <a:rPr lang="en-US" sz="1800" dirty="0">
                <a:solidFill>
                  <a:srgbClr val="1B7A8C"/>
                </a:solidFill>
                <a:latin typeface="Trebuchet MS" pitchFamily="34" charset="0"/>
                <a:ea typeface="Trebuchet MS" pitchFamily="34" charset="-122"/>
                <a:cs typeface="Trebuchet MS" pitchFamily="34" charset="-120"/>
              </a:rPr>
              <a:t>→</a:t>
            </a:r>
            <a:endParaRPr lang="en-US" sz="1800" dirty="0"/>
          </a:p>
        </p:txBody>
      </p:sp>
      <p:sp>
        <p:nvSpPr>
          <p:cNvPr id="31" name="Shape 29"/>
          <p:cNvSpPr/>
          <p:nvPr/>
        </p:nvSpPr>
        <p:spPr>
          <a:xfrm>
            <a:off x="6172200" y="2423160"/>
            <a:ext cx="2286000" cy="1371600"/>
          </a:xfrm>
          <a:prstGeom prst="rect">
            <a:avLst/>
          </a:prstGeom>
          <a:solidFill>
            <a:srgbClr val="112532"/>
          </a:solidFill>
          <a:ln w="12700">
            <a:solidFill>
              <a:srgbClr val="1E3A4C"/>
            </a:solidFill>
            <a:prstDash val="solid"/>
          </a:ln>
        </p:spPr>
      </p:sp>
      <p:sp>
        <p:nvSpPr>
          <p:cNvPr id="32" name="Shape 30"/>
          <p:cNvSpPr/>
          <p:nvPr/>
        </p:nvSpPr>
        <p:spPr>
          <a:xfrm>
            <a:off x="6172200" y="2423160"/>
            <a:ext cx="41148" cy="1371600"/>
          </a:xfrm>
          <a:prstGeom prst="rect">
            <a:avLst/>
          </a:prstGeom>
          <a:solidFill>
            <a:srgbClr val="1B7A8C"/>
          </a:solidFill>
          <a:ln w="12700">
            <a:solidFill>
              <a:srgbClr val="333333"/>
            </a:solidFill>
            <a:prstDash val="solid"/>
          </a:ln>
        </p:spPr>
      </p:sp>
      <p:sp>
        <p:nvSpPr>
          <p:cNvPr id="33" name="Text 31"/>
          <p:cNvSpPr txBox="1"/>
          <p:nvPr/>
        </p:nvSpPr>
        <p:spPr>
          <a:xfrm>
            <a:off x="6336792" y="2487168"/>
            <a:ext cx="2011680" cy="1243584"/>
          </a:xfrm>
          <a:prstGeom prst="rect">
            <a:avLst/>
          </a:prstGeom>
          <a:noFill/>
          <a:ln/>
        </p:spPr>
        <p:txBody>
          <a:bodyPr wrap="square" lIns="0" tIns="0" rIns="0" bIns="0" rtlCol="0" anchor="ctr"/>
          <a:lstStyle/>
          <a:p>
            <a:pPr algn="ctr" indent="0" marL="0">
              <a:lnSpc>
                <a:spcPts val="1600"/>
              </a:lnSpc>
              <a:buNone/>
            </a:pPr>
            <a:r>
              <a:rPr lang="en-US" sz="1200" dirty="0">
                <a:solidFill>
                  <a:srgbClr val="F2F6F8"/>
                </a:solidFill>
                <a:latin typeface="Trebuchet MS" pitchFamily="34" charset="0"/>
                <a:ea typeface="Trebuchet MS" pitchFamily="34" charset="-122"/>
                <a:cs typeface="Trebuchet MS" pitchFamily="34" charset="-120"/>
              </a:rPr>
              <a:t>Valuation gap</a:t>
            </a:r>
            <a:endParaRPr lang="en-US" sz="1200" dirty="0"/>
          </a:p>
          <a:p>
            <a:pPr algn="ctr" indent="0" marL="0">
              <a:lnSpc>
                <a:spcPts val="1600"/>
              </a:lnSpc>
              <a:buNone/>
            </a:pPr>
            <a:r>
              <a:rPr lang="en-US" sz="1200" dirty="0">
                <a:solidFill>
                  <a:srgbClr val="F2F6F8"/>
                </a:solidFill>
                <a:latin typeface="Trebuchet MS" pitchFamily="34" charset="0"/>
                <a:ea typeface="Trebuchet MS" pitchFamily="34" charset="-122"/>
                <a:cs typeface="Trebuchet MS" pitchFamily="34" charset="-120"/>
              </a:rPr>
              <a:t>vs market</a:t>
            </a:r>
            <a:endParaRPr lang="en-US" sz="1200" dirty="0"/>
          </a:p>
        </p:txBody>
      </p:sp>
      <p:sp>
        <p:nvSpPr>
          <p:cNvPr id="34" name="Text 32"/>
          <p:cNvSpPr txBox="1"/>
          <p:nvPr/>
        </p:nvSpPr>
        <p:spPr>
          <a:xfrm>
            <a:off x="8476488" y="2907792"/>
            <a:ext cx="420624" cy="411480"/>
          </a:xfrm>
          <a:prstGeom prst="rect">
            <a:avLst/>
          </a:prstGeom>
          <a:noFill/>
          <a:ln/>
        </p:spPr>
        <p:txBody>
          <a:bodyPr wrap="square" lIns="0" tIns="0" rIns="0" bIns="0" rtlCol="0" anchor="ctr"/>
          <a:lstStyle/>
          <a:p>
            <a:pPr algn="ctr" indent="0" marL="0">
              <a:buNone/>
            </a:pPr>
            <a:r>
              <a:rPr lang="en-US" sz="1800" dirty="0">
                <a:solidFill>
                  <a:srgbClr val="1B7A8C"/>
                </a:solidFill>
                <a:latin typeface="Trebuchet MS" pitchFamily="34" charset="0"/>
                <a:ea typeface="Trebuchet MS" pitchFamily="34" charset="-122"/>
                <a:cs typeface="Trebuchet MS" pitchFamily="34" charset="-120"/>
              </a:rPr>
              <a:t>→</a:t>
            </a:r>
            <a:endParaRPr lang="en-US" sz="1800" dirty="0"/>
          </a:p>
        </p:txBody>
      </p:sp>
      <p:sp>
        <p:nvSpPr>
          <p:cNvPr id="35" name="Shape 33"/>
          <p:cNvSpPr/>
          <p:nvPr/>
        </p:nvSpPr>
        <p:spPr>
          <a:xfrm>
            <a:off x="8915400" y="2423160"/>
            <a:ext cx="2286000" cy="1371600"/>
          </a:xfrm>
          <a:prstGeom prst="rect">
            <a:avLst/>
          </a:prstGeom>
          <a:solidFill>
            <a:srgbClr val="112532"/>
          </a:solidFill>
          <a:ln w="12700">
            <a:solidFill>
              <a:srgbClr val="1E3A4C"/>
            </a:solidFill>
            <a:prstDash val="solid"/>
          </a:ln>
        </p:spPr>
      </p:sp>
      <p:sp>
        <p:nvSpPr>
          <p:cNvPr id="36" name="Shape 34"/>
          <p:cNvSpPr/>
          <p:nvPr/>
        </p:nvSpPr>
        <p:spPr>
          <a:xfrm>
            <a:off x="8915400" y="2423160"/>
            <a:ext cx="41148" cy="1371600"/>
          </a:xfrm>
          <a:prstGeom prst="rect">
            <a:avLst/>
          </a:prstGeom>
          <a:solidFill>
            <a:srgbClr val="F0A63C"/>
          </a:solidFill>
          <a:ln w="12700">
            <a:solidFill>
              <a:srgbClr val="333333"/>
            </a:solidFill>
            <a:prstDash val="solid"/>
          </a:ln>
        </p:spPr>
      </p:sp>
      <p:sp>
        <p:nvSpPr>
          <p:cNvPr id="37" name="Text 35"/>
          <p:cNvSpPr txBox="1"/>
          <p:nvPr/>
        </p:nvSpPr>
        <p:spPr>
          <a:xfrm>
            <a:off x="9079992" y="2487168"/>
            <a:ext cx="2011680" cy="1243584"/>
          </a:xfrm>
          <a:prstGeom prst="rect">
            <a:avLst/>
          </a:prstGeom>
          <a:noFill/>
          <a:ln/>
        </p:spPr>
        <p:txBody>
          <a:bodyPr wrap="square" lIns="0" tIns="0" rIns="0" bIns="0" rtlCol="0" anchor="ctr"/>
          <a:lstStyle/>
          <a:p>
            <a:pPr algn="ctr" indent="0" marL="0">
              <a:lnSpc>
                <a:spcPts val="1600"/>
              </a:lnSpc>
              <a:buNone/>
            </a:pPr>
            <a:r>
              <a:rPr lang="en-US" sz="1200" b="1" dirty="0">
                <a:solidFill>
                  <a:srgbClr val="F0A63C"/>
                </a:solidFill>
                <a:latin typeface="Trebuchet MS" pitchFamily="34" charset="0"/>
                <a:ea typeface="Trebuchet MS" pitchFamily="34" charset="-122"/>
                <a:cs typeface="Trebuchet MS" pitchFamily="34" charset="-120"/>
              </a:rPr>
              <a:t>Recruitment</a:t>
            </a:r>
            <a:endParaRPr lang="en-US" sz="1200" dirty="0"/>
          </a:p>
          <a:p>
            <a:pPr algn="ctr" indent="0" marL="0">
              <a:lnSpc>
                <a:spcPts val="1600"/>
              </a:lnSpc>
              <a:buNone/>
            </a:pPr>
            <a:r>
              <a:rPr lang="en-US" sz="1200" b="1" dirty="0">
                <a:solidFill>
                  <a:srgbClr val="F0A63C"/>
                </a:solidFill>
                <a:latin typeface="Trebuchet MS" pitchFamily="34" charset="0"/>
                <a:ea typeface="Trebuchet MS" pitchFamily="34" charset="-122"/>
                <a:cs typeface="Trebuchet MS" pitchFamily="34" charset="-120"/>
              </a:rPr>
              <a:t>opportunity?</a:t>
            </a:r>
            <a:endParaRPr lang="en-US" sz="1200" dirty="0"/>
          </a:p>
        </p:txBody>
      </p:sp>
      <p:sp>
        <p:nvSpPr>
          <p:cNvPr id="38" name="Shape 36"/>
          <p:cNvSpPr/>
          <p:nvPr/>
        </p:nvSpPr>
        <p:spPr>
          <a:xfrm>
            <a:off x="685800" y="4315968"/>
            <a:ext cx="10789920" cy="1463040"/>
          </a:xfrm>
          <a:prstGeom prst="rect">
            <a:avLst/>
          </a:prstGeom>
          <a:solidFill>
            <a:srgbClr val="112532"/>
          </a:solidFill>
          <a:ln w="12700">
            <a:solidFill>
              <a:srgbClr val="F0A63C"/>
            </a:solidFill>
            <a:prstDash val="solid"/>
          </a:ln>
        </p:spPr>
      </p:sp>
      <p:sp>
        <p:nvSpPr>
          <p:cNvPr id="39" name="Text 37"/>
          <p:cNvSpPr txBox="1"/>
          <p:nvPr/>
        </p:nvSpPr>
        <p:spPr>
          <a:xfrm>
            <a:off x="1051560" y="4526280"/>
            <a:ext cx="10058400" cy="457200"/>
          </a:xfrm>
          <a:prstGeom prst="rect">
            <a:avLst/>
          </a:prstGeom>
          <a:noFill/>
          <a:ln/>
        </p:spPr>
        <p:txBody>
          <a:bodyPr wrap="square" lIns="0" tIns="0" rIns="0" bIns="0" rtlCol="0" anchor="ctr"/>
          <a:lstStyle/>
          <a:p>
            <a:pPr indent="0" marL="0">
              <a:buNone/>
            </a:pPr>
            <a:r>
              <a:rPr lang="en-US" sz="2700" b="1" dirty="0">
                <a:solidFill>
                  <a:srgbClr val="F2F6F8"/>
                </a:solidFill>
                <a:latin typeface="Georgia" pitchFamily="34" charset="0"/>
                <a:ea typeface="Georgia" pitchFamily="34" charset="-122"/>
                <a:cs typeface="Georgia" pitchFamily="34" charset="-120"/>
              </a:rPr>
              <a:t>Is the gap actually an opportunity?</a:t>
            </a:r>
            <a:endParaRPr lang="en-US" sz="2700" dirty="0"/>
          </a:p>
        </p:txBody>
      </p:sp>
      <p:sp>
        <p:nvSpPr>
          <p:cNvPr id="40" name="Text 38"/>
          <p:cNvSpPr txBox="1"/>
          <p:nvPr/>
        </p:nvSpPr>
        <p:spPr>
          <a:xfrm>
            <a:off x="1051560" y="5029200"/>
            <a:ext cx="10058400" cy="640080"/>
          </a:xfrm>
          <a:prstGeom prst="rect">
            <a:avLst/>
          </a:prstGeom>
          <a:noFill/>
          <a:ln/>
        </p:spPr>
        <p:txBody>
          <a:bodyPr wrap="square" lIns="0" tIns="0" rIns="0" bIns="0" rtlCol="0" anchor="ctr"/>
          <a:lstStyle/>
          <a:p>
            <a:pPr indent="0" marL="0">
              <a:lnSpc>
                <a:spcPts val="1700"/>
              </a:lnSpc>
              <a:buNone/>
            </a:pPr>
            <a:r>
              <a:rPr lang="en-US" sz="1200" dirty="0">
                <a:solidFill>
                  <a:srgbClr val="AFC4CF"/>
                </a:solidFill>
                <a:latin typeface="Trebuchet MS" pitchFamily="34" charset="0"/>
                <a:ea typeface="Trebuchet MS" pitchFamily="34" charset="-122"/>
                <a:cs typeface="Trebuchet MS" pitchFamily="34" charset="-120"/>
              </a:rPr>
              <a:t>If the market is wrong, the discrepancy is an opportunity. If the model is missing something, the same discrepancy is a warning. The two have opposite managerial implications, so we treated the claim as a hypothesis to test, not a premise to build on.</a:t>
            </a:r>
            <a:endParaRPr lang="en-US" sz="1200" dirty="0"/>
          </a:p>
        </p:txBody>
      </p:sp>
      <p:sp>
        <p:nvSpPr>
          <p:cNvPr id="41" name="Text 39"/>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1B7A8C"/>
                </a:solidFill>
                <a:latin typeface="Consolas" pitchFamily="34" charset="0"/>
                <a:ea typeface="Consolas" pitchFamily="34" charset="-122"/>
                <a:cs typeface="Consolas" pitchFamily="34" charset="-120"/>
              </a:rPr>
              <a:t>03 / 16</a:t>
            </a:r>
            <a:endParaRPr lang="en-US" sz="900" dirty="0"/>
          </a:p>
        </p:txBody>
      </p:sp>
      <p:sp>
        <p:nvSpPr>
          <p:cNvPr id="42" name="Text 40"/>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2C4A5C"/>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DATA AND ANALYTICAL DESIGN</a:t>
            </a:r>
            <a:endParaRPr lang="en-US" sz="1000" dirty="0"/>
          </a:p>
        </p:txBody>
      </p:sp>
      <p:sp>
        <p:nvSpPr>
          <p:cNvPr id="4" name="Text 2"/>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3400" b="1" dirty="0">
                <a:solidFill>
                  <a:srgbClr val="0C1A24"/>
                </a:solidFill>
                <a:latin typeface="Georgia" pitchFamily="34" charset="0"/>
                <a:ea typeface="Georgia" pitchFamily="34" charset="-122"/>
                <a:cs typeface="Georgia" pitchFamily="34" charset="-120"/>
              </a:rPr>
              <a:t>What the system was built on</a:t>
            </a:r>
            <a:endParaRPr lang="en-US" sz="3400" dirty="0"/>
          </a:p>
        </p:txBody>
      </p:sp>
      <p:sp>
        <p:nvSpPr>
          <p:cNvPr id="5" name="Shape 3"/>
          <p:cNvSpPr/>
          <p:nvPr/>
        </p:nvSpPr>
        <p:spPr>
          <a:xfrm>
            <a:off x="685800" y="2139696"/>
            <a:ext cx="1463040" cy="41148"/>
          </a:xfrm>
          <a:prstGeom prst="rect">
            <a:avLst/>
          </a:prstGeom>
          <a:solidFill>
            <a:srgbClr val="1B7A8C"/>
          </a:solidFill>
          <a:ln w="12700">
            <a:solidFill>
              <a:srgbClr val="333333"/>
            </a:solidFill>
            <a:prstDash val="solid"/>
          </a:ln>
        </p:spPr>
      </p:sp>
      <p:sp>
        <p:nvSpPr>
          <p:cNvPr id="6" name="Text 4"/>
          <p:cNvSpPr txBox="1"/>
          <p:nvPr/>
        </p:nvSpPr>
        <p:spPr>
          <a:xfrm>
            <a:off x="685800" y="2377440"/>
            <a:ext cx="2651760" cy="822960"/>
          </a:xfrm>
          <a:prstGeom prst="rect">
            <a:avLst/>
          </a:prstGeom>
          <a:noFill/>
          <a:ln/>
        </p:spPr>
        <p:txBody>
          <a:bodyPr wrap="square" lIns="0" tIns="0" rIns="0" bIns="0" rtlCol="0" anchor="ctr"/>
          <a:lstStyle/>
          <a:p>
            <a:pPr indent="0" marL="0">
              <a:buNone/>
            </a:pPr>
            <a:r>
              <a:rPr lang="en-US" sz="4600" b="1" dirty="0">
                <a:solidFill>
                  <a:srgbClr val="0C1A24"/>
                </a:solidFill>
                <a:latin typeface="Georgia" pitchFamily="34" charset="0"/>
                <a:ea typeface="Georgia" pitchFamily="34" charset="-122"/>
                <a:cs typeface="Georgia" pitchFamily="34" charset="-120"/>
              </a:rPr>
              <a:t>15,925</a:t>
            </a:r>
            <a:endParaRPr lang="en-US" sz="4600" dirty="0"/>
          </a:p>
        </p:txBody>
      </p:sp>
      <p:sp>
        <p:nvSpPr>
          <p:cNvPr id="7" name="Text 5"/>
          <p:cNvSpPr txBox="1"/>
          <p:nvPr/>
        </p:nvSpPr>
        <p:spPr>
          <a:xfrm>
            <a:off x="685800" y="3200400"/>
            <a:ext cx="2651760" cy="256032"/>
          </a:xfrm>
          <a:prstGeom prst="rect">
            <a:avLst/>
          </a:prstGeom>
          <a:noFill/>
          <a:ln/>
        </p:spPr>
        <p:txBody>
          <a:bodyPr wrap="square" lIns="0" tIns="0" rIns="0" bIns="0" rtlCol="0" anchor="ctr"/>
          <a:lstStyle/>
          <a:p>
            <a:pPr indent="0" marL="0">
              <a:buNone/>
            </a:pPr>
            <a:r>
              <a:rPr lang="en-US" sz="950" b="1" spc="160" kern="0" dirty="0">
                <a:solidFill>
                  <a:srgbClr val="1B7A8C"/>
                </a:solidFill>
                <a:latin typeface="Consolas" pitchFamily="34" charset="0"/>
                <a:ea typeface="Consolas" pitchFamily="34" charset="-122"/>
                <a:cs typeface="Consolas" pitchFamily="34" charset="-120"/>
              </a:rPr>
              <a:t>PLAYER-SEASONS</a:t>
            </a:r>
            <a:endParaRPr lang="en-US" sz="950" dirty="0"/>
          </a:p>
        </p:txBody>
      </p:sp>
      <p:sp>
        <p:nvSpPr>
          <p:cNvPr id="8" name="Text 6"/>
          <p:cNvSpPr txBox="1"/>
          <p:nvPr/>
        </p:nvSpPr>
        <p:spPr>
          <a:xfrm>
            <a:off x="685800" y="3474720"/>
            <a:ext cx="2560320" cy="457200"/>
          </a:xfrm>
          <a:prstGeom prst="rect">
            <a:avLst/>
          </a:prstGeom>
          <a:noFill/>
          <a:ln/>
        </p:spPr>
        <p:txBody>
          <a:bodyPr wrap="square" lIns="0" tIns="0" rIns="0" bIns="0" rtlCol="0" anchor="ctr"/>
          <a:lstStyle/>
          <a:p>
            <a:pPr indent="0" marL="0">
              <a:lnSpc>
                <a:spcPts val="1400"/>
              </a:lnSpc>
              <a:buNone/>
            </a:pPr>
            <a:r>
              <a:rPr lang="en-US" sz="1050" dirty="0">
                <a:solidFill>
                  <a:srgbClr val="5A6E7B"/>
                </a:solidFill>
                <a:latin typeface="Trebuchet MS" pitchFamily="34" charset="0"/>
                <a:ea typeface="Trebuchet MS" pitchFamily="34" charset="-122"/>
                <a:cs typeface="Trebuchet MS" pitchFamily="34" charset="-120"/>
              </a:rPr>
              <a:t>4,961 unique players</a:t>
            </a:r>
            <a:endParaRPr lang="en-US" sz="1050" dirty="0"/>
          </a:p>
        </p:txBody>
      </p:sp>
      <p:sp>
        <p:nvSpPr>
          <p:cNvPr id="9" name="Text 7"/>
          <p:cNvSpPr txBox="1"/>
          <p:nvPr/>
        </p:nvSpPr>
        <p:spPr>
          <a:xfrm>
            <a:off x="3474720" y="2377440"/>
            <a:ext cx="2651760" cy="822960"/>
          </a:xfrm>
          <a:prstGeom prst="rect">
            <a:avLst/>
          </a:prstGeom>
          <a:noFill/>
          <a:ln/>
        </p:spPr>
        <p:txBody>
          <a:bodyPr wrap="square" lIns="0" tIns="0" rIns="0" bIns="0" rtlCol="0" anchor="ctr"/>
          <a:lstStyle/>
          <a:p>
            <a:pPr indent="0" marL="0">
              <a:buNone/>
            </a:pPr>
            <a:r>
              <a:rPr lang="en-US" sz="4600" b="1" dirty="0">
                <a:solidFill>
                  <a:srgbClr val="0C1A24"/>
                </a:solidFill>
                <a:latin typeface="Georgia" pitchFamily="34" charset="0"/>
                <a:ea typeface="Georgia" pitchFamily="34" charset="-122"/>
                <a:cs typeface="Georgia" pitchFamily="34" charset="-120"/>
              </a:rPr>
              <a:t>10</a:t>
            </a:r>
            <a:endParaRPr lang="en-US" sz="4600" dirty="0"/>
          </a:p>
        </p:txBody>
      </p:sp>
      <p:sp>
        <p:nvSpPr>
          <p:cNvPr id="10" name="Text 8"/>
          <p:cNvSpPr txBox="1"/>
          <p:nvPr/>
        </p:nvSpPr>
        <p:spPr>
          <a:xfrm>
            <a:off x="3474720" y="3200400"/>
            <a:ext cx="2651760" cy="256032"/>
          </a:xfrm>
          <a:prstGeom prst="rect">
            <a:avLst/>
          </a:prstGeom>
          <a:noFill/>
          <a:ln/>
        </p:spPr>
        <p:txBody>
          <a:bodyPr wrap="square" lIns="0" tIns="0" rIns="0" bIns="0" rtlCol="0" anchor="ctr"/>
          <a:lstStyle/>
          <a:p>
            <a:pPr indent="0" marL="0">
              <a:buNone/>
            </a:pPr>
            <a:r>
              <a:rPr lang="en-US" sz="950" b="1" spc="160" kern="0" dirty="0">
                <a:solidFill>
                  <a:srgbClr val="1B7A8C"/>
                </a:solidFill>
                <a:latin typeface="Consolas" pitchFamily="34" charset="0"/>
                <a:ea typeface="Consolas" pitchFamily="34" charset="-122"/>
                <a:cs typeface="Consolas" pitchFamily="34" charset="-120"/>
              </a:rPr>
              <a:t>SEASONS</a:t>
            </a:r>
            <a:endParaRPr lang="en-US" sz="950" dirty="0"/>
          </a:p>
        </p:txBody>
      </p:sp>
      <p:sp>
        <p:nvSpPr>
          <p:cNvPr id="11" name="Text 9"/>
          <p:cNvSpPr txBox="1"/>
          <p:nvPr/>
        </p:nvSpPr>
        <p:spPr>
          <a:xfrm>
            <a:off x="3474720" y="3474720"/>
            <a:ext cx="2560320" cy="457200"/>
          </a:xfrm>
          <a:prstGeom prst="rect">
            <a:avLst/>
          </a:prstGeom>
          <a:noFill/>
          <a:ln/>
        </p:spPr>
        <p:txBody>
          <a:bodyPr wrap="square" lIns="0" tIns="0" rIns="0" bIns="0" rtlCol="0" anchor="ctr"/>
          <a:lstStyle/>
          <a:p>
            <a:pPr indent="0" marL="0">
              <a:lnSpc>
                <a:spcPts val="1400"/>
              </a:lnSpc>
              <a:buNone/>
            </a:pPr>
            <a:r>
              <a:rPr lang="en-US" sz="1050" dirty="0">
                <a:solidFill>
                  <a:srgbClr val="5A6E7B"/>
                </a:solidFill>
                <a:latin typeface="Trebuchet MS" pitchFamily="34" charset="0"/>
                <a:ea typeface="Trebuchet MS" pitchFamily="34" charset="-122"/>
                <a:cs typeface="Trebuchet MS" pitchFamily="34" charset="-120"/>
              </a:rPr>
              <a:t>2015/16 to 2024/25</a:t>
            </a:r>
            <a:endParaRPr lang="en-US" sz="1050" dirty="0"/>
          </a:p>
        </p:txBody>
      </p:sp>
      <p:sp>
        <p:nvSpPr>
          <p:cNvPr id="12" name="Text 10"/>
          <p:cNvSpPr txBox="1"/>
          <p:nvPr/>
        </p:nvSpPr>
        <p:spPr>
          <a:xfrm>
            <a:off x="6263640" y="2377440"/>
            <a:ext cx="2651760" cy="822960"/>
          </a:xfrm>
          <a:prstGeom prst="rect">
            <a:avLst/>
          </a:prstGeom>
          <a:noFill/>
          <a:ln/>
        </p:spPr>
        <p:txBody>
          <a:bodyPr wrap="square" lIns="0" tIns="0" rIns="0" bIns="0" rtlCol="0" anchor="ctr"/>
          <a:lstStyle/>
          <a:p>
            <a:pPr indent="0" marL="0">
              <a:buNone/>
            </a:pPr>
            <a:r>
              <a:rPr lang="en-US" sz="4600" b="1" dirty="0">
                <a:solidFill>
                  <a:srgbClr val="0C1A24"/>
                </a:solidFill>
                <a:latin typeface="Georgia" pitchFamily="34" charset="0"/>
                <a:ea typeface="Georgia" pitchFamily="34" charset="-122"/>
                <a:cs typeface="Georgia" pitchFamily="34" charset="-120"/>
              </a:rPr>
              <a:t>5</a:t>
            </a:r>
            <a:endParaRPr lang="en-US" sz="4600" dirty="0"/>
          </a:p>
        </p:txBody>
      </p:sp>
      <p:sp>
        <p:nvSpPr>
          <p:cNvPr id="13" name="Text 11"/>
          <p:cNvSpPr txBox="1"/>
          <p:nvPr/>
        </p:nvSpPr>
        <p:spPr>
          <a:xfrm>
            <a:off x="6263640" y="3200400"/>
            <a:ext cx="2651760" cy="256032"/>
          </a:xfrm>
          <a:prstGeom prst="rect">
            <a:avLst/>
          </a:prstGeom>
          <a:noFill/>
          <a:ln/>
        </p:spPr>
        <p:txBody>
          <a:bodyPr wrap="square" lIns="0" tIns="0" rIns="0" bIns="0" rtlCol="0" anchor="ctr"/>
          <a:lstStyle/>
          <a:p>
            <a:pPr indent="0" marL="0">
              <a:buNone/>
            </a:pPr>
            <a:r>
              <a:rPr lang="en-US" sz="950" b="1" spc="160" kern="0" dirty="0">
                <a:solidFill>
                  <a:srgbClr val="1B7A8C"/>
                </a:solidFill>
                <a:latin typeface="Consolas" pitchFamily="34" charset="0"/>
                <a:ea typeface="Consolas" pitchFamily="34" charset="-122"/>
                <a:cs typeface="Consolas" pitchFamily="34" charset="-120"/>
              </a:rPr>
              <a:t>LEAGUES</a:t>
            </a:r>
            <a:endParaRPr lang="en-US" sz="950" dirty="0"/>
          </a:p>
        </p:txBody>
      </p:sp>
      <p:sp>
        <p:nvSpPr>
          <p:cNvPr id="14" name="Text 12"/>
          <p:cNvSpPr txBox="1"/>
          <p:nvPr/>
        </p:nvSpPr>
        <p:spPr>
          <a:xfrm>
            <a:off x="6263640" y="3474720"/>
            <a:ext cx="2560320" cy="457200"/>
          </a:xfrm>
          <a:prstGeom prst="rect">
            <a:avLst/>
          </a:prstGeom>
          <a:noFill/>
          <a:ln/>
        </p:spPr>
        <p:txBody>
          <a:bodyPr wrap="square" lIns="0" tIns="0" rIns="0" bIns="0" rtlCol="0" anchor="ctr"/>
          <a:lstStyle/>
          <a:p>
            <a:pPr indent="0" marL="0">
              <a:lnSpc>
                <a:spcPts val="1400"/>
              </a:lnSpc>
              <a:buNone/>
            </a:pPr>
            <a:r>
              <a:rPr lang="en-US" sz="1050" dirty="0">
                <a:solidFill>
                  <a:srgbClr val="5A6E7B"/>
                </a:solidFill>
                <a:latin typeface="Trebuchet MS" pitchFamily="34" charset="0"/>
                <a:ea typeface="Trebuchet MS" pitchFamily="34" charset="-122"/>
                <a:cs typeface="Trebuchet MS" pitchFamily="34" charset="-120"/>
              </a:rPr>
              <a:t>England, Spain, Germany, Italy, France</a:t>
            </a:r>
            <a:endParaRPr lang="en-US" sz="1050" dirty="0"/>
          </a:p>
        </p:txBody>
      </p:sp>
      <p:sp>
        <p:nvSpPr>
          <p:cNvPr id="15" name="Text 13"/>
          <p:cNvSpPr txBox="1"/>
          <p:nvPr/>
        </p:nvSpPr>
        <p:spPr>
          <a:xfrm>
            <a:off x="9052560" y="2377440"/>
            <a:ext cx="2651760" cy="822960"/>
          </a:xfrm>
          <a:prstGeom prst="rect">
            <a:avLst/>
          </a:prstGeom>
          <a:noFill/>
          <a:ln/>
        </p:spPr>
        <p:txBody>
          <a:bodyPr wrap="square" lIns="0" tIns="0" rIns="0" bIns="0" rtlCol="0" anchor="ctr"/>
          <a:lstStyle/>
          <a:p>
            <a:pPr indent="0" marL="0">
              <a:buNone/>
            </a:pPr>
            <a:r>
              <a:rPr lang="en-US" sz="4600" b="1" dirty="0">
                <a:solidFill>
                  <a:srgbClr val="F0A63C"/>
                </a:solidFill>
                <a:latin typeface="Georgia" pitchFamily="34" charset="0"/>
                <a:ea typeface="Georgia" pitchFamily="34" charset="-122"/>
                <a:cs typeface="Georgia" pitchFamily="34" charset="-120"/>
              </a:rPr>
              <a:t>1,508</a:t>
            </a:r>
            <a:endParaRPr lang="en-US" sz="4600" dirty="0"/>
          </a:p>
        </p:txBody>
      </p:sp>
      <p:sp>
        <p:nvSpPr>
          <p:cNvPr id="16" name="Text 14"/>
          <p:cNvSpPr txBox="1"/>
          <p:nvPr/>
        </p:nvSpPr>
        <p:spPr>
          <a:xfrm>
            <a:off x="9052560" y="3200400"/>
            <a:ext cx="2651760" cy="256032"/>
          </a:xfrm>
          <a:prstGeom prst="rect">
            <a:avLst/>
          </a:prstGeom>
          <a:noFill/>
          <a:ln/>
        </p:spPr>
        <p:txBody>
          <a:bodyPr wrap="square" lIns="0" tIns="0" rIns="0" bIns="0" rtlCol="0" anchor="ctr"/>
          <a:lstStyle/>
          <a:p>
            <a:pPr indent="0" marL="0">
              <a:buNone/>
            </a:pPr>
            <a:r>
              <a:rPr lang="en-US" sz="950" b="1" spc="160" kern="0" dirty="0">
                <a:solidFill>
                  <a:srgbClr val="1B7A8C"/>
                </a:solidFill>
                <a:latin typeface="Consolas" pitchFamily="34" charset="0"/>
                <a:ea typeface="Consolas" pitchFamily="34" charset="-122"/>
                <a:cs typeface="Consolas" pitchFamily="34" charset="-120"/>
              </a:rPr>
              <a:t>HELD-OUT PLAYERS</a:t>
            </a:r>
            <a:endParaRPr lang="en-US" sz="950" dirty="0"/>
          </a:p>
        </p:txBody>
      </p:sp>
      <p:sp>
        <p:nvSpPr>
          <p:cNvPr id="17" name="Text 15"/>
          <p:cNvSpPr txBox="1"/>
          <p:nvPr/>
        </p:nvSpPr>
        <p:spPr>
          <a:xfrm>
            <a:off x="9052560" y="3474720"/>
            <a:ext cx="2560320" cy="457200"/>
          </a:xfrm>
          <a:prstGeom prst="rect">
            <a:avLst/>
          </a:prstGeom>
          <a:noFill/>
          <a:ln/>
        </p:spPr>
        <p:txBody>
          <a:bodyPr wrap="square" lIns="0" tIns="0" rIns="0" bIns="0" rtlCol="0" anchor="ctr"/>
          <a:lstStyle/>
          <a:p>
            <a:pPr indent="0" marL="0">
              <a:lnSpc>
                <a:spcPts val="1400"/>
              </a:lnSpc>
              <a:buNone/>
            </a:pPr>
            <a:r>
              <a:rPr lang="en-US" sz="1050" dirty="0">
                <a:solidFill>
                  <a:srgbClr val="5A6E7B"/>
                </a:solidFill>
                <a:latin typeface="Trebuchet MS" pitchFamily="34" charset="0"/>
                <a:ea typeface="Trebuchet MS" pitchFamily="34" charset="-122"/>
                <a:cs typeface="Trebuchet MS" pitchFamily="34" charset="-120"/>
              </a:rPr>
              <a:t>2024/25, examined once</a:t>
            </a:r>
            <a:endParaRPr lang="en-US" sz="1050" dirty="0"/>
          </a:p>
        </p:txBody>
      </p:sp>
      <p:sp>
        <p:nvSpPr>
          <p:cNvPr id="18" name="Shape 16"/>
          <p:cNvSpPr/>
          <p:nvPr/>
        </p:nvSpPr>
        <p:spPr>
          <a:xfrm>
            <a:off x="685800" y="4434840"/>
            <a:ext cx="1874520" cy="914400"/>
          </a:xfrm>
          <a:prstGeom prst="rect">
            <a:avLst/>
          </a:prstGeom>
          <a:solidFill>
            <a:srgbClr val="FFFFFF"/>
          </a:solidFill>
          <a:ln w="12700">
            <a:solidFill>
              <a:srgbClr val="D3DFE6"/>
            </a:solidFill>
            <a:prstDash val="solid"/>
          </a:ln>
        </p:spPr>
      </p:sp>
      <p:sp>
        <p:nvSpPr>
          <p:cNvPr id="19" name="Text 17"/>
          <p:cNvSpPr txBox="1"/>
          <p:nvPr/>
        </p:nvSpPr>
        <p:spPr>
          <a:xfrm>
            <a:off x="758952" y="4480560"/>
            <a:ext cx="1728216" cy="822960"/>
          </a:xfrm>
          <a:prstGeom prst="rect">
            <a:avLst/>
          </a:prstGeom>
          <a:noFill/>
          <a:ln/>
        </p:spPr>
        <p:txBody>
          <a:bodyPr wrap="square" lIns="0" tIns="0" rIns="0" bIns="0" rtlCol="0" anchor="ctr"/>
          <a:lstStyle/>
          <a:p>
            <a:pPr algn="ctr" indent="0" marL="0">
              <a:lnSpc>
                <a:spcPts val="1400"/>
              </a:lnSpc>
              <a:buNone/>
            </a:pPr>
            <a:r>
              <a:rPr lang="en-US" sz="1100" dirty="0">
                <a:solidFill>
                  <a:srgbClr val="41525E"/>
                </a:solidFill>
                <a:latin typeface="Trebuchet MS" pitchFamily="34" charset="0"/>
                <a:ea typeface="Trebuchet MS" pitchFamily="34" charset="-122"/>
                <a:cs typeface="Trebuchet MS" pitchFamily="34" charset="-120"/>
              </a:rPr>
              <a:t>Data</a:t>
            </a:r>
            <a:endParaRPr lang="en-US" sz="1100" dirty="0"/>
          </a:p>
        </p:txBody>
      </p:sp>
      <p:sp>
        <p:nvSpPr>
          <p:cNvPr id="20" name="Text 18"/>
          <p:cNvSpPr txBox="1"/>
          <p:nvPr/>
        </p:nvSpPr>
        <p:spPr>
          <a:xfrm>
            <a:off x="2569464" y="4681728"/>
            <a:ext cx="320040" cy="365760"/>
          </a:xfrm>
          <a:prstGeom prst="rect">
            <a:avLst/>
          </a:prstGeom>
          <a:noFill/>
          <a:ln/>
        </p:spPr>
        <p:txBody>
          <a:bodyPr wrap="square" lIns="0" tIns="0" rIns="0" bIns="0" rtlCol="0" anchor="ctr"/>
          <a:lstStyle/>
          <a:p>
            <a:pPr algn="ctr" indent="0" marL="0">
              <a:buNone/>
            </a:pPr>
            <a:r>
              <a:rPr lang="en-US" sz="1500" dirty="0">
                <a:solidFill>
                  <a:srgbClr val="9DB2BF"/>
                </a:solidFill>
                <a:latin typeface="Trebuchet MS" pitchFamily="34" charset="0"/>
                <a:ea typeface="Trebuchet MS" pitchFamily="34" charset="-122"/>
                <a:cs typeface="Trebuchet MS" pitchFamily="34" charset="-120"/>
              </a:rPr>
              <a:t>→</a:t>
            </a:r>
            <a:endParaRPr lang="en-US" sz="1500" dirty="0"/>
          </a:p>
        </p:txBody>
      </p:sp>
      <p:sp>
        <p:nvSpPr>
          <p:cNvPr id="21" name="Shape 19"/>
          <p:cNvSpPr/>
          <p:nvPr/>
        </p:nvSpPr>
        <p:spPr>
          <a:xfrm>
            <a:off x="2898648" y="4434840"/>
            <a:ext cx="1874520" cy="914400"/>
          </a:xfrm>
          <a:prstGeom prst="rect">
            <a:avLst/>
          </a:prstGeom>
          <a:solidFill>
            <a:srgbClr val="FFFFFF"/>
          </a:solidFill>
          <a:ln w="12700">
            <a:solidFill>
              <a:srgbClr val="D3DFE6"/>
            </a:solidFill>
            <a:prstDash val="solid"/>
          </a:ln>
        </p:spPr>
      </p:sp>
      <p:sp>
        <p:nvSpPr>
          <p:cNvPr id="22" name="Text 20"/>
          <p:cNvSpPr txBox="1"/>
          <p:nvPr/>
        </p:nvSpPr>
        <p:spPr>
          <a:xfrm>
            <a:off x="2971800" y="4480560"/>
            <a:ext cx="1728216" cy="822960"/>
          </a:xfrm>
          <a:prstGeom prst="rect">
            <a:avLst/>
          </a:prstGeom>
          <a:noFill/>
          <a:ln/>
        </p:spPr>
        <p:txBody>
          <a:bodyPr wrap="square" lIns="0" tIns="0" rIns="0" bIns="0" rtlCol="0" anchor="ctr"/>
          <a:lstStyle/>
          <a:p>
            <a:pPr algn="ctr" indent="0" marL="0">
              <a:lnSpc>
                <a:spcPts val="1400"/>
              </a:lnSpc>
              <a:buNone/>
            </a:pPr>
            <a:r>
              <a:rPr lang="en-US" sz="1100" dirty="0">
                <a:solidFill>
                  <a:srgbClr val="41525E"/>
                </a:solidFill>
                <a:latin typeface="Trebuchet MS" pitchFamily="34" charset="0"/>
                <a:ea typeface="Trebuchet MS" pitchFamily="34" charset="-122"/>
                <a:cs typeface="Trebuchet MS" pitchFamily="34" charset="-120"/>
              </a:rPr>
              <a:t>Model 0</a:t>
            </a:r>
            <a:endParaRPr lang="en-US" sz="1100" dirty="0"/>
          </a:p>
          <a:p>
            <a:pPr algn="ctr" indent="0" marL="0">
              <a:lnSpc>
                <a:spcPts val="1400"/>
              </a:lnSpc>
              <a:buNone/>
            </a:pPr>
            <a:r>
              <a:rPr lang="en-US" sz="1100" dirty="0">
                <a:solidFill>
                  <a:srgbClr val="41525E"/>
                </a:solidFill>
                <a:latin typeface="Trebuchet MS" pitchFamily="34" charset="0"/>
                <a:ea typeface="Trebuchet MS" pitchFamily="34" charset="-122"/>
                <a:cs typeface="Trebuchet MS" pitchFamily="34" charset="-120"/>
              </a:rPr>
              <a:t>context</a:t>
            </a:r>
            <a:endParaRPr lang="en-US" sz="1100" dirty="0"/>
          </a:p>
        </p:txBody>
      </p:sp>
      <p:sp>
        <p:nvSpPr>
          <p:cNvPr id="23" name="Text 21"/>
          <p:cNvSpPr txBox="1"/>
          <p:nvPr/>
        </p:nvSpPr>
        <p:spPr>
          <a:xfrm>
            <a:off x="4782312" y="4681728"/>
            <a:ext cx="320040" cy="365760"/>
          </a:xfrm>
          <a:prstGeom prst="rect">
            <a:avLst/>
          </a:prstGeom>
          <a:noFill/>
          <a:ln/>
        </p:spPr>
        <p:txBody>
          <a:bodyPr wrap="square" lIns="0" tIns="0" rIns="0" bIns="0" rtlCol="0" anchor="ctr"/>
          <a:lstStyle/>
          <a:p>
            <a:pPr algn="ctr" indent="0" marL="0">
              <a:buNone/>
            </a:pPr>
            <a:r>
              <a:rPr lang="en-US" sz="1500" dirty="0">
                <a:solidFill>
                  <a:srgbClr val="9DB2BF"/>
                </a:solidFill>
                <a:latin typeface="Trebuchet MS" pitchFamily="34" charset="0"/>
                <a:ea typeface="Trebuchet MS" pitchFamily="34" charset="-122"/>
                <a:cs typeface="Trebuchet MS" pitchFamily="34" charset="-120"/>
              </a:rPr>
              <a:t>→</a:t>
            </a:r>
            <a:endParaRPr lang="en-US" sz="1500" dirty="0"/>
          </a:p>
        </p:txBody>
      </p:sp>
      <p:sp>
        <p:nvSpPr>
          <p:cNvPr id="24" name="Shape 22"/>
          <p:cNvSpPr/>
          <p:nvPr/>
        </p:nvSpPr>
        <p:spPr>
          <a:xfrm>
            <a:off x="5111496" y="4434840"/>
            <a:ext cx="1874520" cy="914400"/>
          </a:xfrm>
          <a:prstGeom prst="rect">
            <a:avLst/>
          </a:prstGeom>
          <a:solidFill>
            <a:srgbClr val="E1F1F4"/>
          </a:solidFill>
          <a:ln w="19050">
            <a:solidFill>
              <a:srgbClr val="1B7A8C"/>
            </a:solidFill>
            <a:prstDash val="solid"/>
          </a:ln>
        </p:spPr>
      </p:sp>
      <p:sp>
        <p:nvSpPr>
          <p:cNvPr id="25" name="Text 23"/>
          <p:cNvSpPr txBox="1"/>
          <p:nvPr/>
        </p:nvSpPr>
        <p:spPr>
          <a:xfrm>
            <a:off x="5184648" y="4480560"/>
            <a:ext cx="1728216" cy="822960"/>
          </a:xfrm>
          <a:prstGeom prst="rect">
            <a:avLst/>
          </a:prstGeom>
          <a:noFill/>
          <a:ln/>
        </p:spPr>
        <p:txBody>
          <a:bodyPr wrap="square" lIns="0" tIns="0" rIns="0" bIns="0" rtlCol="0" anchor="ctr"/>
          <a:lstStyle/>
          <a:p>
            <a:pPr algn="ctr" indent="0" marL="0">
              <a:lnSpc>
                <a:spcPts val="1400"/>
              </a:lnSpc>
              <a:buNone/>
            </a:pPr>
            <a:r>
              <a:rPr lang="en-US" sz="1100" b="1" dirty="0">
                <a:solidFill>
                  <a:srgbClr val="1B7A8C"/>
                </a:solidFill>
                <a:latin typeface="Trebuchet MS" pitchFamily="34" charset="0"/>
                <a:ea typeface="Trebuchet MS" pitchFamily="34" charset="-122"/>
                <a:cs typeface="Trebuchet MS" pitchFamily="34" charset="-120"/>
              </a:rPr>
              <a:t>Model 1</a:t>
            </a:r>
            <a:endParaRPr lang="en-US" sz="1100" dirty="0"/>
          </a:p>
          <a:p>
            <a:pPr algn="ctr" indent="0" marL="0">
              <a:lnSpc>
                <a:spcPts val="1400"/>
              </a:lnSpc>
              <a:buNone/>
            </a:pPr>
            <a:r>
              <a:rPr lang="en-US" sz="1100" b="1" dirty="0">
                <a:solidFill>
                  <a:srgbClr val="1B7A8C"/>
                </a:solidFill>
                <a:latin typeface="Trebuchet MS" pitchFamily="34" charset="0"/>
                <a:ea typeface="Trebuchet MS" pitchFamily="34" charset="-122"/>
                <a:cs typeface="Trebuchet MS" pitchFamily="34" charset="-120"/>
              </a:rPr>
              <a:t>fundamentals</a:t>
            </a:r>
            <a:endParaRPr lang="en-US" sz="1100" dirty="0"/>
          </a:p>
        </p:txBody>
      </p:sp>
      <p:sp>
        <p:nvSpPr>
          <p:cNvPr id="26" name="Text 24"/>
          <p:cNvSpPr txBox="1"/>
          <p:nvPr/>
        </p:nvSpPr>
        <p:spPr>
          <a:xfrm>
            <a:off x="6995160" y="4681728"/>
            <a:ext cx="320040" cy="365760"/>
          </a:xfrm>
          <a:prstGeom prst="rect">
            <a:avLst/>
          </a:prstGeom>
          <a:noFill/>
          <a:ln/>
        </p:spPr>
        <p:txBody>
          <a:bodyPr wrap="square" lIns="0" tIns="0" rIns="0" bIns="0" rtlCol="0" anchor="ctr"/>
          <a:lstStyle/>
          <a:p>
            <a:pPr algn="ctr" indent="0" marL="0">
              <a:buNone/>
            </a:pPr>
            <a:r>
              <a:rPr lang="en-US" sz="1500" dirty="0">
                <a:solidFill>
                  <a:srgbClr val="9DB2BF"/>
                </a:solidFill>
                <a:latin typeface="Trebuchet MS" pitchFamily="34" charset="0"/>
                <a:ea typeface="Trebuchet MS" pitchFamily="34" charset="-122"/>
                <a:cs typeface="Trebuchet MS" pitchFamily="34" charset="-120"/>
              </a:rPr>
              <a:t>→</a:t>
            </a:r>
            <a:endParaRPr lang="en-US" sz="1500" dirty="0"/>
          </a:p>
        </p:txBody>
      </p:sp>
      <p:sp>
        <p:nvSpPr>
          <p:cNvPr id="27" name="Shape 25"/>
          <p:cNvSpPr/>
          <p:nvPr/>
        </p:nvSpPr>
        <p:spPr>
          <a:xfrm>
            <a:off x="7324344" y="4434840"/>
            <a:ext cx="1874520" cy="914400"/>
          </a:xfrm>
          <a:prstGeom prst="rect">
            <a:avLst/>
          </a:prstGeom>
          <a:solidFill>
            <a:srgbClr val="FFFFFF"/>
          </a:solidFill>
          <a:ln w="12700">
            <a:solidFill>
              <a:srgbClr val="D3DFE6"/>
            </a:solidFill>
            <a:prstDash val="solid"/>
          </a:ln>
        </p:spPr>
      </p:sp>
      <p:sp>
        <p:nvSpPr>
          <p:cNvPr id="28" name="Text 26"/>
          <p:cNvSpPr txBox="1"/>
          <p:nvPr/>
        </p:nvSpPr>
        <p:spPr>
          <a:xfrm>
            <a:off x="7397496" y="4480560"/>
            <a:ext cx="1728216" cy="822960"/>
          </a:xfrm>
          <a:prstGeom prst="rect">
            <a:avLst/>
          </a:prstGeom>
          <a:noFill/>
          <a:ln/>
        </p:spPr>
        <p:txBody>
          <a:bodyPr wrap="square" lIns="0" tIns="0" rIns="0" bIns="0" rtlCol="0" anchor="ctr"/>
          <a:lstStyle/>
          <a:p>
            <a:pPr algn="ctr" indent="0" marL="0">
              <a:lnSpc>
                <a:spcPts val="1400"/>
              </a:lnSpc>
              <a:buNone/>
            </a:pPr>
            <a:r>
              <a:rPr lang="en-US" sz="1100" dirty="0">
                <a:solidFill>
                  <a:srgbClr val="41525E"/>
                </a:solidFill>
                <a:latin typeface="Trebuchet MS" pitchFamily="34" charset="0"/>
                <a:ea typeface="Trebuchet MS" pitchFamily="34" charset="-122"/>
                <a:cs typeface="Trebuchet MS" pitchFamily="34" charset="-120"/>
              </a:rPr>
              <a:t>Model 2</a:t>
            </a:r>
            <a:endParaRPr lang="en-US" sz="1100" dirty="0"/>
          </a:p>
          <a:p>
            <a:pPr algn="ctr" indent="0" marL="0">
              <a:lnSpc>
                <a:spcPts val="1400"/>
              </a:lnSpc>
              <a:buNone/>
            </a:pPr>
            <a:r>
              <a:rPr lang="en-US" sz="1100" dirty="0">
                <a:solidFill>
                  <a:srgbClr val="41525E"/>
                </a:solidFill>
                <a:latin typeface="Trebuchet MS" pitchFamily="34" charset="0"/>
                <a:ea typeface="Trebuchet MS" pitchFamily="34" charset="-122"/>
                <a:cs typeface="Trebuchet MS" pitchFamily="34" charset="-120"/>
              </a:rPr>
              <a:t>market-informed</a:t>
            </a:r>
            <a:endParaRPr lang="en-US" sz="1100" dirty="0"/>
          </a:p>
        </p:txBody>
      </p:sp>
      <p:sp>
        <p:nvSpPr>
          <p:cNvPr id="29" name="Text 27"/>
          <p:cNvSpPr txBox="1"/>
          <p:nvPr/>
        </p:nvSpPr>
        <p:spPr>
          <a:xfrm>
            <a:off x="9208008" y="4681728"/>
            <a:ext cx="320040" cy="365760"/>
          </a:xfrm>
          <a:prstGeom prst="rect">
            <a:avLst/>
          </a:prstGeom>
          <a:noFill/>
          <a:ln/>
        </p:spPr>
        <p:txBody>
          <a:bodyPr wrap="square" lIns="0" tIns="0" rIns="0" bIns="0" rtlCol="0" anchor="ctr"/>
          <a:lstStyle/>
          <a:p>
            <a:pPr algn="ctr" indent="0" marL="0">
              <a:buNone/>
            </a:pPr>
            <a:r>
              <a:rPr lang="en-US" sz="1500" dirty="0">
                <a:solidFill>
                  <a:srgbClr val="9DB2BF"/>
                </a:solidFill>
                <a:latin typeface="Trebuchet MS" pitchFamily="34" charset="0"/>
                <a:ea typeface="Trebuchet MS" pitchFamily="34" charset="-122"/>
                <a:cs typeface="Trebuchet MS" pitchFamily="34" charset="-120"/>
              </a:rPr>
              <a:t>→</a:t>
            </a:r>
            <a:endParaRPr lang="en-US" sz="1500" dirty="0"/>
          </a:p>
        </p:txBody>
      </p:sp>
      <p:sp>
        <p:nvSpPr>
          <p:cNvPr id="30" name="Shape 28"/>
          <p:cNvSpPr/>
          <p:nvPr/>
        </p:nvSpPr>
        <p:spPr>
          <a:xfrm>
            <a:off x="9537192" y="4434840"/>
            <a:ext cx="1874520" cy="914400"/>
          </a:xfrm>
          <a:prstGeom prst="rect">
            <a:avLst/>
          </a:prstGeom>
          <a:solidFill>
            <a:srgbClr val="FFFFFF"/>
          </a:solidFill>
          <a:ln w="12700">
            <a:solidFill>
              <a:srgbClr val="D3DFE6"/>
            </a:solidFill>
            <a:prstDash val="solid"/>
          </a:ln>
        </p:spPr>
      </p:sp>
      <p:sp>
        <p:nvSpPr>
          <p:cNvPr id="31" name="Text 29"/>
          <p:cNvSpPr txBox="1"/>
          <p:nvPr/>
        </p:nvSpPr>
        <p:spPr>
          <a:xfrm>
            <a:off x="9610344" y="4480560"/>
            <a:ext cx="1728216" cy="822960"/>
          </a:xfrm>
          <a:prstGeom prst="rect">
            <a:avLst/>
          </a:prstGeom>
          <a:noFill/>
          <a:ln/>
        </p:spPr>
        <p:txBody>
          <a:bodyPr wrap="square" lIns="0" tIns="0" rIns="0" bIns="0" rtlCol="0" anchor="ctr"/>
          <a:lstStyle/>
          <a:p>
            <a:pPr algn="ctr" indent="0" marL="0">
              <a:lnSpc>
                <a:spcPts val="1400"/>
              </a:lnSpc>
              <a:buNone/>
            </a:pPr>
            <a:r>
              <a:rPr lang="en-US" sz="1100" dirty="0">
                <a:solidFill>
                  <a:srgbClr val="41525E"/>
                </a:solidFill>
                <a:latin typeface="Trebuchet MS" pitchFamily="34" charset="0"/>
                <a:ea typeface="Trebuchet MS" pitchFamily="34" charset="-122"/>
                <a:cs typeface="Trebuchet MS" pitchFamily="34" charset="-120"/>
              </a:rPr>
              <a:t>Back-test</a:t>
            </a:r>
            <a:endParaRPr lang="en-US" sz="1100" dirty="0"/>
          </a:p>
        </p:txBody>
      </p:sp>
      <p:sp>
        <p:nvSpPr>
          <p:cNvPr id="32" name="Text 30"/>
          <p:cNvSpPr txBox="1"/>
          <p:nvPr/>
        </p:nvSpPr>
        <p:spPr>
          <a:xfrm>
            <a:off x="685800" y="5623560"/>
            <a:ext cx="10789920" cy="310896"/>
          </a:xfrm>
          <a:prstGeom prst="rect">
            <a:avLst/>
          </a:prstGeom>
          <a:noFill/>
          <a:ln/>
        </p:spPr>
        <p:txBody>
          <a:bodyPr wrap="square" lIns="0" tIns="0" rIns="0" bIns="0" rtlCol="0" anchor="ctr"/>
          <a:lstStyle/>
          <a:p>
            <a:pPr indent="0" marL="0">
              <a:buNone/>
            </a:pPr>
            <a:r>
              <a:rPr lang="en-US" sz="1000" dirty="0">
                <a:solidFill>
                  <a:srgbClr val="6D8492"/>
                </a:solidFill>
                <a:latin typeface="Consolas" pitchFamily="34" charset="0"/>
                <a:ea typeface="Consolas" pitchFamily="34" charset="-122"/>
                <a:cs typeface="Consolas" pitchFamily="34" charset="-120"/>
              </a:rPr>
              <a:t>Train 2015/16 to 2021/22   ·   Validate 2022/23 to 2023/24   ·   Test 2024/25, once. Strictly time-based throughout.</a:t>
            </a:r>
            <a:endParaRPr lang="en-US" sz="1000" dirty="0"/>
          </a:p>
        </p:txBody>
      </p:sp>
      <p:sp>
        <p:nvSpPr>
          <p:cNvPr id="33" name="Text 31"/>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04 / 16</a:t>
            </a:r>
            <a:endParaRPr lang="en-US" sz="900" dirty="0"/>
          </a:p>
        </p:txBody>
      </p:sp>
      <p:sp>
        <p:nvSpPr>
          <p:cNvPr id="34" name="Text 32"/>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A24"/>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1E3A4C">
              <a:alpha val="45000"/>
            </a:srgbClr>
          </a:solidFill>
          <a:ln w="12700">
            <a:solidFill>
              <a:srgbClr val="333333"/>
            </a:solidFill>
            <a:prstDash val="solid"/>
          </a:ln>
        </p:spPr>
      </p:sp>
      <p:sp>
        <p:nvSpPr>
          <p:cNvPr id="3" name="Shape 1"/>
          <p:cNvSpPr/>
          <p:nvPr/>
        </p:nvSpPr>
        <p:spPr>
          <a:xfrm>
            <a:off x="384048" y="6547104"/>
            <a:ext cx="11420856" cy="10973"/>
          </a:xfrm>
          <a:prstGeom prst="rect">
            <a:avLst/>
          </a:prstGeom>
          <a:solidFill>
            <a:srgbClr val="1E3A4C">
              <a:alpha val="45000"/>
            </a:srgbClr>
          </a:solidFill>
          <a:ln w="12700">
            <a:solidFill>
              <a:srgbClr val="333333"/>
            </a:solidFill>
            <a:prstDash val="solid"/>
          </a:ln>
        </p:spPr>
      </p:sp>
      <p:sp>
        <p:nvSpPr>
          <p:cNvPr id="4" name="Shape 2"/>
          <p:cNvSpPr/>
          <p:nvPr/>
        </p:nvSpPr>
        <p:spPr>
          <a:xfrm>
            <a:off x="384048" y="310896"/>
            <a:ext cx="10973" cy="6236208"/>
          </a:xfrm>
          <a:prstGeom prst="rect">
            <a:avLst/>
          </a:prstGeom>
          <a:solidFill>
            <a:srgbClr val="1E3A4C">
              <a:alpha val="45000"/>
            </a:srgbClr>
          </a:solidFill>
          <a:ln w="12700">
            <a:solidFill>
              <a:srgbClr val="333333"/>
            </a:solidFill>
            <a:prstDash val="solid"/>
          </a:ln>
        </p:spPr>
      </p:sp>
      <p:sp>
        <p:nvSpPr>
          <p:cNvPr id="5" name="Shape 3"/>
          <p:cNvSpPr/>
          <p:nvPr/>
        </p:nvSpPr>
        <p:spPr>
          <a:xfrm>
            <a:off x="11795760" y="310896"/>
            <a:ext cx="10973" cy="6236208"/>
          </a:xfrm>
          <a:prstGeom prst="rect">
            <a:avLst/>
          </a:prstGeom>
          <a:solidFill>
            <a:srgbClr val="1E3A4C">
              <a:alpha val="45000"/>
            </a:srgbClr>
          </a:solidFill>
          <a:ln w="12700">
            <a:solidFill>
              <a:srgbClr val="333333"/>
            </a:solidFill>
            <a:prstDash val="solid"/>
          </a:ln>
        </p:spPr>
      </p:sp>
      <p:sp>
        <p:nvSpPr>
          <p:cNvPr id="6" name="Shape 4"/>
          <p:cNvSpPr/>
          <p:nvPr/>
        </p:nvSpPr>
        <p:spPr>
          <a:xfrm>
            <a:off x="6080760" y="310896"/>
            <a:ext cx="10973" cy="6236208"/>
          </a:xfrm>
          <a:prstGeom prst="rect">
            <a:avLst/>
          </a:prstGeom>
          <a:solidFill>
            <a:srgbClr val="1E3A4C">
              <a:alpha val="45000"/>
            </a:srgbClr>
          </a:solidFill>
          <a:ln w="12700">
            <a:solidFill>
              <a:srgbClr val="333333"/>
            </a:solidFill>
            <a:prstDash val="solid"/>
          </a:ln>
        </p:spPr>
      </p:sp>
      <p:sp>
        <p:nvSpPr>
          <p:cNvPr id="7" name="Shape 5"/>
          <p:cNvSpPr/>
          <p:nvPr/>
        </p:nvSpPr>
        <p:spPr>
          <a:xfrm>
            <a:off x="5029200" y="3291840"/>
            <a:ext cx="2103120" cy="2103120"/>
          </a:xfrm>
          <a:prstGeom prst="ellipse">
            <a:avLst/>
          </a:prstGeom>
          <a:ln w="12700">
            <a:solidFill>
              <a:srgbClr val="1E3A4C">
                <a:alpha val="45000"/>
              </a:srgbClr>
            </a:solidFill>
            <a:prstDash val="solid"/>
          </a:ln>
        </p:spPr>
      </p:sp>
      <p:sp>
        <p:nvSpPr>
          <p:cNvPr id="8" name="Shape 6"/>
          <p:cNvSpPr/>
          <p:nvPr/>
        </p:nvSpPr>
        <p:spPr>
          <a:xfrm>
            <a:off x="384048" y="1965960"/>
            <a:ext cx="1600200" cy="10973"/>
          </a:xfrm>
          <a:prstGeom prst="rect">
            <a:avLst/>
          </a:prstGeom>
          <a:solidFill>
            <a:srgbClr val="1E3A4C">
              <a:alpha val="45000"/>
            </a:srgbClr>
          </a:solidFill>
          <a:ln w="12700">
            <a:solidFill>
              <a:srgbClr val="333333"/>
            </a:solidFill>
            <a:prstDash val="solid"/>
          </a:ln>
        </p:spPr>
      </p:sp>
      <p:sp>
        <p:nvSpPr>
          <p:cNvPr id="9" name="Shape 7"/>
          <p:cNvSpPr/>
          <p:nvPr/>
        </p:nvSpPr>
        <p:spPr>
          <a:xfrm>
            <a:off x="384048" y="4892040"/>
            <a:ext cx="1600200" cy="10973"/>
          </a:xfrm>
          <a:prstGeom prst="rect">
            <a:avLst/>
          </a:prstGeom>
          <a:solidFill>
            <a:srgbClr val="1E3A4C">
              <a:alpha val="45000"/>
            </a:srgbClr>
          </a:solidFill>
          <a:ln w="12700">
            <a:solidFill>
              <a:srgbClr val="333333"/>
            </a:solidFill>
            <a:prstDash val="solid"/>
          </a:ln>
        </p:spPr>
      </p:sp>
      <p:sp>
        <p:nvSpPr>
          <p:cNvPr id="10" name="Shape 8"/>
          <p:cNvSpPr/>
          <p:nvPr/>
        </p:nvSpPr>
        <p:spPr>
          <a:xfrm>
            <a:off x="1984248" y="1965960"/>
            <a:ext cx="10973" cy="2926080"/>
          </a:xfrm>
          <a:prstGeom prst="rect">
            <a:avLst/>
          </a:prstGeom>
          <a:solidFill>
            <a:srgbClr val="1E3A4C">
              <a:alpha val="45000"/>
            </a:srgbClr>
          </a:solidFill>
          <a:ln w="12700">
            <a:solidFill>
              <a:srgbClr val="333333"/>
            </a:solidFill>
            <a:prstDash val="solid"/>
          </a:ln>
        </p:spPr>
      </p:sp>
      <p:sp>
        <p:nvSpPr>
          <p:cNvPr id="11" name="Shape 9"/>
          <p:cNvSpPr/>
          <p:nvPr/>
        </p:nvSpPr>
        <p:spPr>
          <a:xfrm>
            <a:off x="10204704" y="1965960"/>
            <a:ext cx="1600200" cy="10973"/>
          </a:xfrm>
          <a:prstGeom prst="rect">
            <a:avLst/>
          </a:prstGeom>
          <a:solidFill>
            <a:srgbClr val="1E3A4C">
              <a:alpha val="45000"/>
            </a:srgbClr>
          </a:solidFill>
          <a:ln w="12700">
            <a:solidFill>
              <a:srgbClr val="333333"/>
            </a:solidFill>
            <a:prstDash val="solid"/>
          </a:ln>
        </p:spPr>
      </p:sp>
      <p:sp>
        <p:nvSpPr>
          <p:cNvPr id="12" name="Shape 10"/>
          <p:cNvSpPr/>
          <p:nvPr/>
        </p:nvSpPr>
        <p:spPr>
          <a:xfrm>
            <a:off x="10204704" y="4892040"/>
            <a:ext cx="1600200" cy="10973"/>
          </a:xfrm>
          <a:prstGeom prst="rect">
            <a:avLst/>
          </a:prstGeom>
          <a:solidFill>
            <a:srgbClr val="1E3A4C">
              <a:alpha val="45000"/>
            </a:srgbClr>
          </a:solidFill>
          <a:ln w="12700">
            <a:solidFill>
              <a:srgbClr val="333333"/>
            </a:solidFill>
            <a:prstDash val="solid"/>
          </a:ln>
        </p:spPr>
      </p:sp>
      <p:sp>
        <p:nvSpPr>
          <p:cNvPr id="13" name="Shape 11"/>
          <p:cNvSpPr/>
          <p:nvPr/>
        </p:nvSpPr>
        <p:spPr>
          <a:xfrm>
            <a:off x="10204704" y="1965960"/>
            <a:ext cx="10973" cy="2926080"/>
          </a:xfrm>
          <a:prstGeom prst="rect">
            <a:avLst/>
          </a:prstGeom>
          <a:solidFill>
            <a:srgbClr val="1E3A4C">
              <a:alpha val="45000"/>
            </a:srgbClr>
          </a:solidFill>
          <a:ln w="12700">
            <a:solidFill>
              <a:srgbClr val="333333"/>
            </a:solidFill>
            <a:prstDash val="solid"/>
          </a:ln>
        </p:spPr>
      </p:sp>
      <p:sp>
        <p:nvSpPr>
          <p:cNvPr id="14" name="Shape 12"/>
          <p:cNvSpPr/>
          <p:nvPr/>
        </p:nvSpPr>
        <p:spPr>
          <a:xfrm>
            <a:off x="384048" y="2788920"/>
            <a:ext cx="658368" cy="10973"/>
          </a:xfrm>
          <a:prstGeom prst="rect">
            <a:avLst/>
          </a:prstGeom>
          <a:solidFill>
            <a:srgbClr val="1E3A4C">
              <a:alpha val="45000"/>
            </a:srgbClr>
          </a:solidFill>
          <a:ln w="12700">
            <a:solidFill>
              <a:srgbClr val="333333"/>
            </a:solidFill>
            <a:prstDash val="solid"/>
          </a:ln>
        </p:spPr>
      </p:sp>
      <p:sp>
        <p:nvSpPr>
          <p:cNvPr id="15" name="Shape 13"/>
          <p:cNvSpPr/>
          <p:nvPr/>
        </p:nvSpPr>
        <p:spPr>
          <a:xfrm>
            <a:off x="384048" y="4069080"/>
            <a:ext cx="658368" cy="10973"/>
          </a:xfrm>
          <a:prstGeom prst="rect">
            <a:avLst/>
          </a:prstGeom>
          <a:solidFill>
            <a:srgbClr val="1E3A4C">
              <a:alpha val="45000"/>
            </a:srgbClr>
          </a:solidFill>
          <a:ln w="12700">
            <a:solidFill>
              <a:srgbClr val="333333"/>
            </a:solidFill>
            <a:prstDash val="solid"/>
          </a:ln>
        </p:spPr>
      </p:sp>
      <p:sp>
        <p:nvSpPr>
          <p:cNvPr id="16" name="Shape 14"/>
          <p:cNvSpPr/>
          <p:nvPr/>
        </p:nvSpPr>
        <p:spPr>
          <a:xfrm>
            <a:off x="1042416" y="2788920"/>
            <a:ext cx="10973" cy="1280160"/>
          </a:xfrm>
          <a:prstGeom prst="rect">
            <a:avLst/>
          </a:prstGeom>
          <a:solidFill>
            <a:srgbClr val="1E3A4C">
              <a:alpha val="45000"/>
            </a:srgbClr>
          </a:solidFill>
          <a:ln w="12700">
            <a:solidFill>
              <a:srgbClr val="333333"/>
            </a:solidFill>
            <a:prstDash val="solid"/>
          </a:ln>
        </p:spPr>
      </p:sp>
      <p:sp>
        <p:nvSpPr>
          <p:cNvPr id="17" name="Shape 15"/>
          <p:cNvSpPr/>
          <p:nvPr/>
        </p:nvSpPr>
        <p:spPr>
          <a:xfrm>
            <a:off x="11146536" y="2788920"/>
            <a:ext cx="658368" cy="10973"/>
          </a:xfrm>
          <a:prstGeom prst="rect">
            <a:avLst/>
          </a:prstGeom>
          <a:solidFill>
            <a:srgbClr val="1E3A4C">
              <a:alpha val="45000"/>
            </a:srgbClr>
          </a:solidFill>
          <a:ln w="12700">
            <a:solidFill>
              <a:srgbClr val="333333"/>
            </a:solidFill>
            <a:prstDash val="solid"/>
          </a:ln>
        </p:spPr>
      </p:sp>
      <p:sp>
        <p:nvSpPr>
          <p:cNvPr id="18" name="Shape 16"/>
          <p:cNvSpPr/>
          <p:nvPr/>
        </p:nvSpPr>
        <p:spPr>
          <a:xfrm>
            <a:off x="11146536" y="4069080"/>
            <a:ext cx="658368" cy="10973"/>
          </a:xfrm>
          <a:prstGeom prst="rect">
            <a:avLst/>
          </a:prstGeom>
          <a:solidFill>
            <a:srgbClr val="1E3A4C">
              <a:alpha val="45000"/>
            </a:srgbClr>
          </a:solidFill>
          <a:ln w="12700">
            <a:solidFill>
              <a:srgbClr val="333333"/>
            </a:solidFill>
            <a:prstDash val="solid"/>
          </a:ln>
        </p:spPr>
      </p:sp>
      <p:sp>
        <p:nvSpPr>
          <p:cNvPr id="19" name="Shape 17"/>
          <p:cNvSpPr/>
          <p:nvPr/>
        </p:nvSpPr>
        <p:spPr>
          <a:xfrm>
            <a:off x="11146536" y="2788920"/>
            <a:ext cx="10973" cy="1280160"/>
          </a:xfrm>
          <a:prstGeom prst="rect">
            <a:avLst/>
          </a:prstGeom>
          <a:solidFill>
            <a:srgbClr val="1E3A4C">
              <a:alpha val="45000"/>
            </a:srgbClr>
          </a:solidFill>
          <a:ln w="12700">
            <a:solidFill>
              <a:srgbClr val="333333"/>
            </a:solidFill>
            <a:prstDash val="solid"/>
          </a:ln>
        </p:spPr>
      </p:sp>
      <p:sp>
        <p:nvSpPr>
          <p:cNvPr id="20" name="Text 18"/>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38C6D9"/>
                </a:solidFill>
                <a:latin typeface="Consolas" pitchFamily="34" charset="0"/>
                <a:ea typeface="Consolas" pitchFamily="34" charset="-122"/>
                <a:cs typeface="Consolas" pitchFamily="34" charset="-120"/>
              </a:rPr>
              <a:t>HOW THE SYSTEM WAS BUILT</a:t>
            </a:r>
            <a:endParaRPr lang="en-US" sz="1000" dirty="0"/>
          </a:p>
        </p:txBody>
      </p:sp>
      <p:sp>
        <p:nvSpPr>
          <p:cNvPr id="21" name="Text 19"/>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3000" b="1" dirty="0">
                <a:solidFill>
                  <a:srgbClr val="F2F6F8"/>
                </a:solidFill>
                <a:latin typeface="Georgia" pitchFamily="34" charset="0"/>
                <a:ea typeface="Georgia" pitchFamily="34" charset="-122"/>
                <a:cs typeface="Georgia" pitchFamily="34" charset="-120"/>
              </a:rPr>
              <a:t>Twelve stages, every one auditable</a:t>
            </a:r>
            <a:endParaRPr lang="en-US" sz="3000" dirty="0"/>
          </a:p>
        </p:txBody>
      </p:sp>
      <p:sp>
        <p:nvSpPr>
          <p:cNvPr id="22" name="Shape 20"/>
          <p:cNvSpPr/>
          <p:nvPr/>
        </p:nvSpPr>
        <p:spPr>
          <a:xfrm>
            <a:off x="685800" y="2139696"/>
            <a:ext cx="1463040" cy="41148"/>
          </a:xfrm>
          <a:prstGeom prst="rect">
            <a:avLst/>
          </a:prstGeom>
          <a:solidFill>
            <a:srgbClr val="38C6D9"/>
          </a:solidFill>
          <a:ln w="12700">
            <a:solidFill>
              <a:srgbClr val="333333"/>
            </a:solidFill>
            <a:prstDash val="solid"/>
          </a:ln>
        </p:spPr>
      </p:sp>
      <p:sp>
        <p:nvSpPr>
          <p:cNvPr id="23" name="Text 21"/>
          <p:cNvSpPr txBox="1"/>
          <p:nvPr/>
        </p:nvSpPr>
        <p:spPr>
          <a:xfrm>
            <a:off x="685800" y="251460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01</a:t>
            </a:r>
            <a:endParaRPr lang="en-US" sz="1100" dirty="0"/>
          </a:p>
        </p:txBody>
      </p:sp>
      <p:sp>
        <p:nvSpPr>
          <p:cNvPr id="24" name="Text 22"/>
          <p:cNvSpPr txBox="1"/>
          <p:nvPr/>
        </p:nvSpPr>
        <p:spPr>
          <a:xfrm>
            <a:off x="1161288" y="249631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Data</a:t>
            </a:r>
            <a:endParaRPr lang="en-US" sz="1500" dirty="0"/>
          </a:p>
        </p:txBody>
      </p:sp>
      <p:sp>
        <p:nvSpPr>
          <p:cNvPr id="25" name="Text 23"/>
          <p:cNvSpPr txBox="1"/>
          <p:nvPr/>
        </p:nvSpPr>
        <p:spPr>
          <a:xfrm>
            <a:off x="1161288" y="278892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15,925 player-seasons, integer-ID joins only</a:t>
            </a:r>
            <a:endParaRPr lang="en-US" sz="950" dirty="0"/>
          </a:p>
        </p:txBody>
      </p:sp>
      <p:sp>
        <p:nvSpPr>
          <p:cNvPr id="26" name="Text 24"/>
          <p:cNvSpPr txBox="1"/>
          <p:nvPr/>
        </p:nvSpPr>
        <p:spPr>
          <a:xfrm>
            <a:off x="4389120" y="251460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02</a:t>
            </a:r>
            <a:endParaRPr lang="en-US" sz="1100" dirty="0"/>
          </a:p>
        </p:txBody>
      </p:sp>
      <p:sp>
        <p:nvSpPr>
          <p:cNvPr id="27" name="Text 25"/>
          <p:cNvSpPr txBox="1"/>
          <p:nvPr/>
        </p:nvSpPr>
        <p:spPr>
          <a:xfrm>
            <a:off x="4864608" y="249631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EDA</a:t>
            </a:r>
            <a:endParaRPr lang="en-US" sz="1500" dirty="0"/>
          </a:p>
        </p:txBody>
      </p:sp>
      <p:sp>
        <p:nvSpPr>
          <p:cNvPr id="28" name="Text 26"/>
          <p:cNvSpPr txBox="1"/>
          <p:nvPr/>
        </p:nvSpPr>
        <p:spPr>
          <a:xfrm>
            <a:off x="4864608" y="278892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Four structural findings, each forcing a modelling decision</a:t>
            </a:r>
            <a:endParaRPr lang="en-US" sz="950" dirty="0"/>
          </a:p>
        </p:txBody>
      </p:sp>
      <p:sp>
        <p:nvSpPr>
          <p:cNvPr id="29" name="Text 27"/>
          <p:cNvSpPr txBox="1"/>
          <p:nvPr/>
        </p:nvSpPr>
        <p:spPr>
          <a:xfrm>
            <a:off x="8092440" y="251460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03</a:t>
            </a:r>
            <a:endParaRPr lang="en-US" sz="1100" dirty="0"/>
          </a:p>
        </p:txBody>
      </p:sp>
      <p:sp>
        <p:nvSpPr>
          <p:cNvPr id="30" name="Text 28"/>
          <p:cNvSpPr txBox="1"/>
          <p:nvPr/>
        </p:nvSpPr>
        <p:spPr>
          <a:xfrm>
            <a:off x="8567928" y="249631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Features</a:t>
            </a:r>
            <a:endParaRPr lang="en-US" sz="1500" dirty="0"/>
          </a:p>
        </p:txBody>
      </p:sp>
      <p:sp>
        <p:nvSpPr>
          <p:cNvPr id="31" name="Text 29"/>
          <p:cNvSpPr txBox="1"/>
          <p:nvPr/>
        </p:nvSpPr>
        <p:spPr>
          <a:xfrm>
            <a:off x="8567928" y="278892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48 features, every one classified for leakage</a:t>
            </a:r>
            <a:endParaRPr lang="en-US" sz="950" dirty="0"/>
          </a:p>
        </p:txBody>
      </p:sp>
      <p:sp>
        <p:nvSpPr>
          <p:cNvPr id="32" name="Text 30"/>
          <p:cNvSpPr txBox="1"/>
          <p:nvPr/>
        </p:nvSpPr>
        <p:spPr>
          <a:xfrm>
            <a:off x="685800" y="347472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04</a:t>
            </a:r>
            <a:endParaRPr lang="en-US" sz="1100" dirty="0"/>
          </a:p>
        </p:txBody>
      </p:sp>
      <p:sp>
        <p:nvSpPr>
          <p:cNvPr id="33" name="Text 31"/>
          <p:cNvSpPr txBox="1"/>
          <p:nvPr/>
        </p:nvSpPr>
        <p:spPr>
          <a:xfrm>
            <a:off x="1161288" y="345643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Valuation</a:t>
            </a:r>
            <a:endParaRPr lang="en-US" sz="1500" dirty="0"/>
          </a:p>
        </p:txBody>
      </p:sp>
      <p:sp>
        <p:nvSpPr>
          <p:cNvPr id="34" name="Text 32"/>
          <p:cNvSpPr txBox="1"/>
          <p:nvPr/>
        </p:nvSpPr>
        <p:spPr>
          <a:xfrm>
            <a:off x="1161288" y="374904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Three nested specifications, time-based validation</a:t>
            </a:r>
            <a:endParaRPr lang="en-US" sz="950" dirty="0"/>
          </a:p>
        </p:txBody>
      </p:sp>
      <p:sp>
        <p:nvSpPr>
          <p:cNvPr id="35" name="Text 33"/>
          <p:cNvSpPr txBox="1"/>
          <p:nvPr/>
        </p:nvSpPr>
        <p:spPr>
          <a:xfrm>
            <a:off x="4389120" y="347472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05</a:t>
            </a:r>
            <a:endParaRPr lang="en-US" sz="1100" dirty="0"/>
          </a:p>
        </p:txBody>
      </p:sp>
      <p:sp>
        <p:nvSpPr>
          <p:cNvPr id="36" name="Text 34"/>
          <p:cNvSpPr txBox="1"/>
          <p:nvPr/>
        </p:nvSpPr>
        <p:spPr>
          <a:xfrm>
            <a:off x="4864608" y="345643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Back-test</a:t>
            </a:r>
            <a:endParaRPr lang="en-US" sz="1500" dirty="0"/>
          </a:p>
        </p:txBody>
      </p:sp>
      <p:sp>
        <p:nvSpPr>
          <p:cNvPr id="37" name="Text 35"/>
          <p:cNvSpPr txBox="1"/>
          <p:nvPr/>
        </p:nvSpPr>
        <p:spPr>
          <a:xfrm>
            <a:off x="4864608" y="374904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Two pre-registered signals, applied once</a:t>
            </a:r>
            <a:endParaRPr lang="en-US" sz="950" dirty="0"/>
          </a:p>
        </p:txBody>
      </p:sp>
      <p:sp>
        <p:nvSpPr>
          <p:cNvPr id="38" name="Text 36"/>
          <p:cNvSpPr txBox="1"/>
          <p:nvPr/>
        </p:nvSpPr>
        <p:spPr>
          <a:xfrm>
            <a:off x="8092440" y="347472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06</a:t>
            </a:r>
            <a:endParaRPr lang="en-US" sz="1100" dirty="0"/>
          </a:p>
        </p:txBody>
      </p:sp>
      <p:sp>
        <p:nvSpPr>
          <p:cNvPr id="39" name="Text 37"/>
          <p:cNvSpPr txBox="1"/>
          <p:nvPr/>
        </p:nvSpPr>
        <p:spPr>
          <a:xfrm>
            <a:off x="8567928" y="345643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Exit risk</a:t>
            </a:r>
            <a:endParaRPr lang="en-US" sz="1500" dirty="0"/>
          </a:p>
        </p:txBody>
      </p:sp>
      <p:sp>
        <p:nvSpPr>
          <p:cNvPr id="40" name="Text 38"/>
          <p:cNvSpPr txBox="1"/>
          <p:nvPr/>
        </p:nvSpPr>
        <p:spPr>
          <a:xfrm>
            <a:off x="8567928" y="374904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Separate model, held-out AUC 0.732</a:t>
            </a:r>
            <a:endParaRPr lang="en-US" sz="950" dirty="0"/>
          </a:p>
        </p:txBody>
      </p:sp>
      <p:sp>
        <p:nvSpPr>
          <p:cNvPr id="41" name="Text 39"/>
          <p:cNvSpPr txBox="1"/>
          <p:nvPr/>
        </p:nvSpPr>
        <p:spPr>
          <a:xfrm>
            <a:off x="685800" y="443484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07</a:t>
            </a:r>
            <a:endParaRPr lang="en-US" sz="1100" dirty="0"/>
          </a:p>
        </p:txBody>
      </p:sp>
      <p:sp>
        <p:nvSpPr>
          <p:cNvPr id="42" name="Text 40"/>
          <p:cNvSpPr txBox="1"/>
          <p:nvPr/>
        </p:nvSpPr>
        <p:spPr>
          <a:xfrm>
            <a:off x="1161288" y="441655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Optimizer</a:t>
            </a:r>
            <a:endParaRPr lang="en-US" sz="1500" dirty="0"/>
          </a:p>
        </p:txBody>
      </p:sp>
      <p:sp>
        <p:nvSpPr>
          <p:cNvPr id="43" name="Text 41"/>
          <p:cNvSpPr txBox="1"/>
          <p:nvPr/>
        </p:nvSpPr>
        <p:spPr>
          <a:xfrm>
            <a:off x="1161288" y="470916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Integer program under declared constraints</a:t>
            </a:r>
            <a:endParaRPr lang="en-US" sz="950" dirty="0"/>
          </a:p>
        </p:txBody>
      </p:sp>
      <p:sp>
        <p:nvSpPr>
          <p:cNvPr id="44" name="Text 42"/>
          <p:cNvSpPr txBox="1"/>
          <p:nvPr/>
        </p:nvSpPr>
        <p:spPr>
          <a:xfrm>
            <a:off x="4389120" y="443484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08</a:t>
            </a:r>
            <a:endParaRPr lang="en-US" sz="1100" dirty="0"/>
          </a:p>
        </p:txBody>
      </p:sp>
      <p:sp>
        <p:nvSpPr>
          <p:cNvPr id="45" name="Text 43"/>
          <p:cNvSpPr txBox="1"/>
          <p:nvPr/>
        </p:nvSpPr>
        <p:spPr>
          <a:xfrm>
            <a:off x="4864608" y="441655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Explainability</a:t>
            </a:r>
            <a:endParaRPr lang="en-US" sz="1500" dirty="0"/>
          </a:p>
        </p:txBody>
      </p:sp>
      <p:sp>
        <p:nvSpPr>
          <p:cNvPr id="46" name="Text 44"/>
          <p:cNvSpPr txBox="1"/>
          <p:nvPr/>
        </p:nvSpPr>
        <p:spPr>
          <a:xfrm>
            <a:off x="4864608" y="470916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SHAP, bias audit, three-season replication</a:t>
            </a:r>
            <a:endParaRPr lang="en-US" sz="950" dirty="0"/>
          </a:p>
        </p:txBody>
      </p:sp>
      <p:sp>
        <p:nvSpPr>
          <p:cNvPr id="47" name="Text 45"/>
          <p:cNvSpPr txBox="1"/>
          <p:nvPr/>
        </p:nvSpPr>
        <p:spPr>
          <a:xfrm>
            <a:off x="8092440" y="443484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09</a:t>
            </a:r>
            <a:endParaRPr lang="en-US" sz="1100" dirty="0"/>
          </a:p>
        </p:txBody>
      </p:sp>
      <p:sp>
        <p:nvSpPr>
          <p:cNvPr id="48" name="Text 46"/>
          <p:cNvSpPr txBox="1"/>
          <p:nvPr/>
        </p:nvSpPr>
        <p:spPr>
          <a:xfrm>
            <a:off x="8567928" y="441655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Generative AI</a:t>
            </a:r>
            <a:endParaRPr lang="en-US" sz="1500" dirty="0"/>
          </a:p>
        </p:txBody>
      </p:sp>
      <p:sp>
        <p:nvSpPr>
          <p:cNvPr id="49" name="Text 47"/>
          <p:cNvSpPr txBox="1"/>
          <p:nvPr/>
        </p:nvSpPr>
        <p:spPr>
          <a:xfrm>
            <a:off x="8567928" y="470916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Briefs under a frozen six-check validator</a:t>
            </a:r>
            <a:endParaRPr lang="en-US" sz="950" dirty="0"/>
          </a:p>
        </p:txBody>
      </p:sp>
      <p:sp>
        <p:nvSpPr>
          <p:cNvPr id="50" name="Text 48"/>
          <p:cNvSpPr txBox="1"/>
          <p:nvPr/>
        </p:nvSpPr>
        <p:spPr>
          <a:xfrm>
            <a:off x="685800" y="539496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10</a:t>
            </a:r>
            <a:endParaRPr lang="en-US" sz="1100" dirty="0"/>
          </a:p>
        </p:txBody>
      </p:sp>
      <p:sp>
        <p:nvSpPr>
          <p:cNvPr id="51" name="Text 49"/>
          <p:cNvSpPr txBox="1"/>
          <p:nvPr/>
        </p:nvSpPr>
        <p:spPr>
          <a:xfrm>
            <a:off x="1161288" y="537667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Dashboard</a:t>
            </a:r>
            <a:endParaRPr lang="en-US" sz="1500" dirty="0"/>
          </a:p>
        </p:txBody>
      </p:sp>
      <p:sp>
        <p:nvSpPr>
          <p:cNvPr id="52" name="Text 50"/>
          <p:cNvSpPr txBox="1"/>
          <p:nvPr/>
        </p:nvSpPr>
        <p:spPr>
          <a:xfrm>
            <a:off x="1161288" y="566928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Five views for a recruitment committee</a:t>
            </a:r>
            <a:endParaRPr lang="en-US" sz="950" dirty="0"/>
          </a:p>
        </p:txBody>
      </p:sp>
      <p:sp>
        <p:nvSpPr>
          <p:cNvPr id="53" name="Text 51"/>
          <p:cNvSpPr txBox="1"/>
          <p:nvPr/>
        </p:nvSpPr>
        <p:spPr>
          <a:xfrm>
            <a:off x="4389120" y="539496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11</a:t>
            </a:r>
            <a:endParaRPr lang="en-US" sz="1100" dirty="0"/>
          </a:p>
        </p:txBody>
      </p:sp>
      <p:sp>
        <p:nvSpPr>
          <p:cNvPr id="54" name="Text 52"/>
          <p:cNvSpPr txBox="1"/>
          <p:nvPr/>
        </p:nvSpPr>
        <p:spPr>
          <a:xfrm>
            <a:off x="4864608" y="537667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Reporting</a:t>
            </a:r>
            <a:endParaRPr lang="en-US" sz="1500" dirty="0"/>
          </a:p>
        </p:txBody>
      </p:sp>
      <p:sp>
        <p:nvSpPr>
          <p:cNvPr id="55" name="Text 53"/>
          <p:cNvSpPr txBox="1"/>
          <p:nvPr/>
        </p:nvSpPr>
        <p:spPr>
          <a:xfrm>
            <a:off x="4864608" y="566928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Report, deck and logbook built from source</a:t>
            </a:r>
            <a:endParaRPr lang="en-US" sz="950" dirty="0"/>
          </a:p>
        </p:txBody>
      </p:sp>
      <p:sp>
        <p:nvSpPr>
          <p:cNvPr id="56" name="Text 54"/>
          <p:cNvSpPr txBox="1"/>
          <p:nvPr/>
        </p:nvSpPr>
        <p:spPr>
          <a:xfrm>
            <a:off x="8092440" y="5394960"/>
            <a:ext cx="457200" cy="310896"/>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12</a:t>
            </a:r>
            <a:endParaRPr lang="en-US" sz="1100" dirty="0"/>
          </a:p>
        </p:txBody>
      </p:sp>
      <p:sp>
        <p:nvSpPr>
          <p:cNvPr id="57" name="Text 55"/>
          <p:cNvSpPr txBox="1"/>
          <p:nvPr/>
        </p:nvSpPr>
        <p:spPr>
          <a:xfrm>
            <a:off x="8567928" y="5376672"/>
            <a:ext cx="2926080" cy="292608"/>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Audit</a:t>
            </a:r>
            <a:endParaRPr lang="en-US" sz="1500" dirty="0"/>
          </a:p>
        </p:txBody>
      </p:sp>
      <p:sp>
        <p:nvSpPr>
          <p:cNvPr id="58" name="Text 56"/>
          <p:cNvSpPr txBox="1"/>
          <p:nvPr/>
        </p:nvSpPr>
        <p:spPr>
          <a:xfrm>
            <a:off x="8567928" y="5669280"/>
            <a:ext cx="3017520" cy="548640"/>
          </a:xfrm>
          <a:prstGeom prst="rect">
            <a:avLst/>
          </a:prstGeom>
          <a:noFill/>
          <a:ln/>
        </p:spPr>
        <p:txBody>
          <a:bodyPr wrap="square" lIns="0" tIns="0" rIns="0" bIns="0" rtlCol="0" anchor="ctr"/>
          <a:lstStyle/>
          <a:p>
            <a:pPr indent="0" marL="0">
              <a:lnSpc>
                <a:spcPts val="1200"/>
              </a:lnSpc>
              <a:buNone/>
            </a:pPr>
            <a:r>
              <a:rPr lang="en-US" sz="950" dirty="0">
                <a:solidFill>
                  <a:srgbClr val="7C97A8"/>
                </a:solidFill>
                <a:latin typeface="Trebuchet MS" pitchFamily="34" charset="0"/>
                <a:ea typeface="Trebuchet MS" pitchFamily="34" charset="-122"/>
                <a:cs typeface="Trebuchet MS" pitchFamily="34" charset="-120"/>
              </a:rPr>
              <a:t>One command gates the whole submission</a:t>
            </a:r>
            <a:endParaRPr lang="en-US" sz="950" dirty="0"/>
          </a:p>
        </p:txBody>
      </p:sp>
      <p:sp>
        <p:nvSpPr>
          <p:cNvPr id="59" name="Text 57"/>
          <p:cNvSpPr txBox="1"/>
          <p:nvPr/>
        </p:nvSpPr>
        <p:spPr>
          <a:xfrm>
            <a:off x="685800" y="5989320"/>
            <a:ext cx="10789920" cy="329184"/>
          </a:xfrm>
          <a:prstGeom prst="rect">
            <a:avLst/>
          </a:prstGeom>
          <a:noFill/>
          <a:ln/>
        </p:spPr>
        <p:txBody>
          <a:bodyPr wrap="square" lIns="0" tIns="0" rIns="0" bIns="0" rtlCol="0" anchor="ctr"/>
          <a:lstStyle/>
          <a:p>
            <a:pPr indent="0" marL="0">
              <a:buNone/>
            </a:pPr>
            <a:r>
              <a:rPr lang="en-US" sz="1400" i="1" dirty="0">
                <a:solidFill>
                  <a:srgbClr val="38C6D9"/>
                </a:solidFill>
                <a:latin typeface="Georgia" pitchFamily="34" charset="0"/>
                <a:ea typeface="Georgia" pitchFamily="34" charset="-122"/>
                <a:cs typeface="Georgia" pitchFamily="34" charset="-120"/>
              </a:rPr>
              <a:t>Every stage writes a frozen artifact. Every number in this deck traces to one.</a:t>
            </a:r>
            <a:endParaRPr lang="en-US" sz="1400" dirty="0"/>
          </a:p>
        </p:txBody>
      </p:sp>
      <p:sp>
        <p:nvSpPr>
          <p:cNvPr id="60" name="Text 58"/>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1B7A8C"/>
                </a:solidFill>
                <a:latin typeface="Consolas" pitchFamily="34" charset="0"/>
                <a:ea typeface="Consolas" pitchFamily="34" charset="-122"/>
                <a:cs typeface="Consolas" pitchFamily="34" charset="-120"/>
              </a:rPr>
              <a:t>05 / 16</a:t>
            </a:r>
            <a:endParaRPr lang="en-US" sz="900" dirty="0"/>
          </a:p>
        </p:txBody>
      </p:sp>
      <p:sp>
        <p:nvSpPr>
          <p:cNvPr id="61" name="Text 59"/>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2C4A5C"/>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EVIDENCE 1</a:t>
            </a:r>
            <a:endParaRPr lang="en-US" sz="1000" dirty="0"/>
          </a:p>
        </p:txBody>
      </p:sp>
      <p:sp>
        <p:nvSpPr>
          <p:cNvPr id="4" name="Text 2"/>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3400" b="1" dirty="0">
                <a:solidFill>
                  <a:srgbClr val="0C1A24"/>
                </a:solidFill>
                <a:latin typeface="Georgia" pitchFamily="34" charset="0"/>
                <a:ea typeface="Georgia" pitchFamily="34" charset="-122"/>
                <a:cs typeface="Georgia" pitchFamily="34" charset="-120"/>
              </a:rPr>
              <a:t>What explains market value?</a:t>
            </a:r>
            <a:endParaRPr lang="en-US" sz="3400" dirty="0"/>
          </a:p>
        </p:txBody>
      </p:sp>
      <p:sp>
        <p:nvSpPr>
          <p:cNvPr id="5" name="Shape 3"/>
          <p:cNvSpPr/>
          <p:nvPr/>
        </p:nvSpPr>
        <p:spPr>
          <a:xfrm>
            <a:off x="685800" y="2139696"/>
            <a:ext cx="1463040" cy="41148"/>
          </a:xfrm>
          <a:prstGeom prst="rect">
            <a:avLst/>
          </a:prstGeom>
          <a:solidFill>
            <a:srgbClr val="1B7A8C"/>
          </a:solidFill>
          <a:ln w="12700">
            <a:solidFill>
              <a:srgbClr val="333333"/>
            </a:solidFill>
            <a:prstDash val="solid"/>
          </a:ln>
        </p:spPr>
      </p:sp>
      <p:sp>
        <p:nvSpPr>
          <p:cNvPr id="6" name="Text 4"/>
          <p:cNvSpPr txBox="1"/>
          <p:nvPr/>
        </p:nvSpPr>
        <p:spPr>
          <a:xfrm>
            <a:off x="685800" y="2514600"/>
            <a:ext cx="1371600" cy="292608"/>
          </a:xfrm>
          <a:prstGeom prst="rect">
            <a:avLst/>
          </a:prstGeom>
          <a:noFill/>
          <a:ln/>
        </p:spPr>
        <p:txBody>
          <a:bodyPr wrap="square" lIns="0" tIns="0" rIns="0" bIns="0" rtlCol="0" anchor="ctr"/>
          <a:lstStyle/>
          <a:p>
            <a:pPr indent="0" marL="0">
              <a:buNone/>
            </a:pPr>
            <a:r>
              <a:rPr lang="en-US" sz="1600" b="1" dirty="0">
                <a:solidFill>
                  <a:srgbClr val="0C1A24"/>
                </a:solidFill>
                <a:latin typeface="Georgia" pitchFamily="34" charset="0"/>
                <a:ea typeface="Georgia" pitchFamily="34" charset="-122"/>
                <a:cs typeface="Georgia" pitchFamily="34" charset="-120"/>
              </a:rPr>
              <a:t>Model 0</a:t>
            </a:r>
            <a:endParaRPr lang="en-US" sz="1600" dirty="0"/>
          </a:p>
        </p:txBody>
      </p:sp>
      <p:sp>
        <p:nvSpPr>
          <p:cNvPr id="7" name="Text 5"/>
          <p:cNvSpPr txBox="1"/>
          <p:nvPr/>
        </p:nvSpPr>
        <p:spPr>
          <a:xfrm>
            <a:off x="685800" y="2825496"/>
            <a:ext cx="2103120" cy="256032"/>
          </a:xfrm>
          <a:prstGeom prst="rect">
            <a:avLst/>
          </a:prstGeom>
          <a:noFill/>
          <a:ln/>
        </p:spPr>
        <p:txBody>
          <a:bodyPr wrap="square" lIns="0" tIns="0" rIns="0" bIns="0" rtlCol="0" anchor="ctr"/>
          <a:lstStyle/>
          <a:p>
            <a:pPr indent="0" marL="0">
              <a:buNone/>
            </a:pPr>
            <a:r>
              <a:rPr lang="en-US" sz="800" dirty="0">
                <a:solidFill>
                  <a:srgbClr val="7C8F9B"/>
                </a:solidFill>
                <a:latin typeface="Consolas" pitchFamily="34" charset="0"/>
                <a:ea typeface="Consolas" pitchFamily="34" charset="-122"/>
                <a:cs typeface="Consolas" pitchFamily="34" charset="-120"/>
              </a:rPr>
              <a:t>context only · Ridge</a:t>
            </a:r>
            <a:endParaRPr lang="en-US" sz="800" dirty="0"/>
          </a:p>
        </p:txBody>
      </p:sp>
      <p:sp>
        <p:nvSpPr>
          <p:cNvPr id="8" name="Shape 6"/>
          <p:cNvSpPr/>
          <p:nvPr/>
        </p:nvSpPr>
        <p:spPr>
          <a:xfrm>
            <a:off x="2743200" y="2532888"/>
            <a:ext cx="5120640" cy="457200"/>
          </a:xfrm>
          <a:prstGeom prst="rect">
            <a:avLst/>
          </a:prstGeom>
          <a:solidFill>
            <a:srgbClr val="E6EDF1"/>
          </a:solidFill>
          <a:ln w="12700">
            <a:solidFill>
              <a:srgbClr val="333333"/>
            </a:solidFill>
            <a:prstDash val="solid"/>
          </a:ln>
        </p:spPr>
      </p:sp>
      <p:sp>
        <p:nvSpPr>
          <p:cNvPr id="9" name="Shape 7"/>
          <p:cNvSpPr/>
          <p:nvPr/>
        </p:nvSpPr>
        <p:spPr>
          <a:xfrm>
            <a:off x="2743200" y="2532888"/>
            <a:ext cx="1961205" cy="457200"/>
          </a:xfrm>
          <a:prstGeom prst="rect">
            <a:avLst/>
          </a:prstGeom>
          <a:solidFill>
            <a:srgbClr val="9DB2BF"/>
          </a:solidFill>
          <a:ln w="12700">
            <a:solidFill>
              <a:srgbClr val="333333"/>
            </a:solidFill>
            <a:prstDash val="solid"/>
          </a:ln>
        </p:spPr>
      </p:sp>
      <p:sp>
        <p:nvSpPr>
          <p:cNvPr id="10" name="Text 8"/>
          <p:cNvSpPr txBox="1"/>
          <p:nvPr/>
        </p:nvSpPr>
        <p:spPr>
          <a:xfrm>
            <a:off x="8001000" y="2496312"/>
            <a:ext cx="1097280" cy="502920"/>
          </a:xfrm>
          <a:prstGeom prst="rect">
            <a:avLst/>
          </a:prstGeom>
          <a:noFill/>
          <a:ln/>
        </p:spPr>
        <p:txBody>
          <a:bodyPr wrap="square" lIns="0" tIns="0" rIns="0" bIns="0" rtlCol="0" anchor="ctr"/>
          <a:lstStyle/>
          <a:p>
            <a:pPr indent="0" marL="0">
              <a:buNone/>
            </a:pPr>
            <a:r>
              <a:rPr lang="en-US" sz="2400" b="1" dirty="0">
                <a:solidFill>
                  <a:srgbClr val="9DB2BF"/>
                </a:solidFill>
                <a:latin typeface="Georgia" pitchFamily="34" charset="0"/>
                <a:ea typeface="Georgia" pitchFamily="34" charset="-122"/>
                <a:cs typeface="Georgia" pitchFamily="34" charset="-120"/>
              </a:rPr>
              <a:t>0.383</a:t>
            </a:r>
            <a:endParaRPr lang="en-US" sz="2400" dirty="0"/>
          </a:p>
        </p:txBody>
      </p:sp>
      <p:sp>
        <p:nvSpPr>
          <p:cNvPr id="11" name="Text 9"/>
          <p:cNvSpPr txBox="1"/>
          <p:nvPr/>
        </p:nvSpPr>
        <p:spPr>
          <a:xfrm>
            <a:off x="685800" y="3566160"/>
            <a:ext cx="1371600" cy="292608"/>
          </a:xfrm>
          <a:prstGeom prst="rect">
            <a:avLst/>
          </a:prstGeom>
          <a:noFill/>
          <a:ln/>
        </p:spPr>
        <p:txBody>
          <a:bodyPr wrap="square" lIns="0" tIns="0" rIns="0" bIns="0" rtlCol="0" anchor="ctr"/>
          <a:lstStyle/>
          <a:p>
            <a:pPr indent="0" marL="0">
              <a:buNone/>
            </a:pPr>
            <a:r>
              <a:rPr lang="en-US" sz="1600" b="1" dirty="0">
                <a:solidFill>
                  <a:srgbClr val="0C1A24"/>
                </a:solidFill>
                <a:latin typeface="Georgia" pitchFamily="34" charset="0"/>
                <a:ea typeface="Georgia" pitchFamily="34" charset="-122"/>
                <a:cs typeface="Georgia" pitchFamily="34" charset="-120"/>
              </a:rPr>
              <a:t>Model 1</a:t>
            </a:r>
            <a:endParaRPr lang="en-US" sz="1600" dirty="0"/>
          </a:p>
        </p:txBody>
      </p:sp>
      <p:sp>
        <p:nvSpPr>
          <p:cNvPr id="12" name="Text 10"/>
          <p:cNvSpPr txBox="1"/>
          <p:nvPr/>
        </p:nvSpPr>
        <p:spPr>
          <a:xfrm>
            <a:off x="685800" y="3877056"/>
            <a:ext cx="2103120" cy="256032"/>
          </a:xfrm>
          <a:prstGeom prst="rect">
            <a:avLst/>
          </a:prstGeom>
          <a:noFill/>
          <a:ln/>
        </p:spPr>
        <p:txBody>
          <a:bodyPr wrap="square" lIns="0" tIns="0" rIns="0" bIns="0" rtlCol="0" anchor="ctr"/>
          <a:lstStyle/>
          <a:p>
            <a:pPr indent="0" marL="0">
              <a:buNone/>
            </a:pPr>
            <a:r>
              <a:rPr lang="en-US" sz="800" dirty="0">
                <a:solidFill>
                  <a:srgbClr val="7C8F9B"/>
                </a:solidFill>
                <a:latin typeface="Consolas" pitchFamily="34" charset="0"/>
                <a:ea typeface="Consolas" pitchFamily="34" charset="-122"/>
                <a:cs typeface="Consolas" pitchFamily="34" charset="-120"/>
              </a:rPr>
              <a:t>+ fundamentals · HistGBM</a:t>
            </a:r>
            <a:endParaRPr lang="en-US" sz="800" dirty="0"/>
          </a:p>
        </p:txBody>
      </p:sp>
      <p:sp>
        <p:nvSpPr>
          <p:cNvPr id="13" name="Shape 11"/>
          <p:cNvSpPr/>
          <p:nvPr/>
        </p:nvSpPr>
        <p:spPr>
          <a:xfrm>
            <a:off x="2743200" y="3584448"/>
            <a:ext cx="5120640" cy="457200"/>
          </a:xfrm>
          <a:prstGeom prst="rect">
            <a:avLst/>
          </a:prstGeom>
          <a:solidFill>
            <a:srgbClr val="E6EDF1"/>
          </a:solidFill>
          <a:ln w="12700">
            <a:solidFill>
              <a:srgbClr val="333333"/>
            </a:solidFill>
            <a:prstDash val="solid"/>
          </a:ln>
        </p:spPr>
      </p:sp>
      <p:sp>
        <p:nvSpPr>
          <p:cNvPr id="14" name="Shape 12"/>
          <p:cNvSpPr/>
          <p:nvPr/>
        </p:nvSpPr>
        <p:spPr>
          <a:xfrm>
            <a:off x="2743200" y="3584448"/>
            <a:ext cx="3471794" cy="457200"/>
          </a:xfrm>
          <a:prstGeom prst="rect">
            <a:avLst/>
          </a:prstGeom>
          <a:solidFill>
            <a:srgbClr val="1B7A8C"/>
          </a:solidFill>
          <a:ln w="12700">
            <a:solidFill>
              <a:srgbClr val="333333"/>
            </a:solidFill>
            <a:prstDash val="solid"/>
          </a:ln>
        </p:spPr>
      </p:sp>
      <p:sp>
        <p:nvSpPr>
          <p:cNvPr id="15" name="Text 13"/>
          <p:cNvSpPr txBox="1"/>
          <p:nvPr/>
        </p:nvSpPr>
        <p:spPr>
          <a:xfrm>
            <a:off x="8001000" y="3547872"/>
            <a:ext cx="1097280" cy="502920"/>
          </a:xfrm>
          <a:prstGeom prst="rect">
            <a:avLst/>
          </a:prstGeom>
          <a:noFill/>
          <a:ln/>
        </p:spPr>
        <p:txBody>
          <a:bodyPr wrap="square" lIns="0" tIns="0" rIns="0" bIns="0" rtlCol="0" anchor="ctr"/>
          <a:lstStyle/>
          <a:p>
            <a:pPr indent="0" marL="0">
              <a:buNone/>
            </a:pPr>
            <a:r>
              <a:rPr lang="en-US" sz="2400" b="1" dirty="0">
                <a:solidFill>
                  <a:srgbClr val="1B7A8C"/>
                </a:solidFill>
                <a:latin typeface="Georgia" pitchFamily="34" charset="0"/>
                <a:ea typeface="Georgia" pitchFamily="34" charset="-122"/>
                <a:cs typeface="Georgia" pitchFamily="34" charset="-120"/>
              </a:rPr>
              <a:t>0.678</a:t>
            </a:r>
            <a:endParaRPr lang="en-US" sz="2400" dirty="0"/>
          </a:p>
        </p:txBody>
      </p:sp>
      <p:sp>
        <p:nvSpPr>
          <p:cNvPr id="16" name="Text 14"/>
          <p:cNvSpPr txBox="1"/>
          <p:nvPr/>
        </p:nvSpPr>
        <p:spPr>
          <a:xfrm>
            <a:off x="685800" y="4617720"/>
            <a:ext cx="1371600" cy="292608"/>
          </a:xfrm>
          <a:prstGeom prst="rect">
            <a:avLst/>
          </a:prstGeom>
          <a:noFill/>
          <a:ln/>
        </p:spPr>
        <p:txBody>
          <a:bodyPr wrap="square" lIns="0" tIns="0" rIns="0" bIns="0" rtlCol="0" anchor="ctr"/>
          <a:lstStyle/>
          <a:p>
            <a:pPr indent="0" marL="0">
              <a:buNone/>
            </a:pPr>
            <a:r>
              <a:rPr lang="en-US" sz="1600" b="1" dirty="0">
                <a:solidFill>
                  <a:srgbClr val="0C1A24"/>
                </a:solidFill>
                <a:latin typeface="Georgia" pitchFamily="34" charset="0"/>
                <a:ea typeface="Georgia" pitchFamily="34" charset="-122"/>
                <a:cs typeface="Georgia" pitchFamily="34" charset="-120"/>
              </a:rPr>
              <a:t>Model 2</a:t>
            </a:r>
            <a:endParaRPr lang="en-US" sz="1600" dirty="0"/>
          </a:p>
        </p:txBody>
      </p:sp>
      <p:sp>
        <p:nvSpPr>
          <p:cNvPr id="17" name="Text 15"/>
          <p:cNvSpPr txBox="1"/>
          <p:nvPr/>
        </p:nvSpPr>
        <p:spPr>
          <a:xfrm>
            <a:off x="685800" y="4928616"/>
            <a:ext cx="2103120" cy="256032"/>
          </a:xfrm>
          <a:prstGeom prst="rect">
            <a:avLst/>
          </a:prstGeom>
          <a:noFill/>
          <a:ln/>
        </p:spPr>
        <p:txBody>
          <a:bodyPr wrap="square" lIns="0" tIns="0" rIns="0" bIns="0" rtlCol="0" anchor="ctr"/>
          <a:lstStyle/>
          <a:p>
            <a:pPr indent="0" marL="0">
              <a:buNone/>
            </a:pPr>
            <a:r>
              <a:rPr lang="en-US" sz="800" dirty="0">
                <a:solidFill>
                  <a:srgbClr val="7C8F9B"/>
                </a:solidFill>
                <a:latin typeface="Consolas" pitchFamily="34" charset="0"/>
                <a:ea typeface="Consolas" pitchFamily="34" charset="-122"/>
                <a:cs typeface="Consolas" pitchFamily="34" charset="-120"/>
              </a:rPr>
              <a:t>+ prior market value · HistGBM</a:t>
            </a:r>
            <a:endParaRPr lang="en-US" sz="800" dirty="0"/>
          </a:p>
        </p:txBody>
      </p:sp>
      <p:sp>
        <p:nvSpPr>
          <p:cNvPr id="18" name="Shape 16"/>
          <p:cNvSpPr/>
          <p:nvPr/>
        </p:nvSpPr>
        <p:spPr>
          <a:xfrm>
            <a:off x="2743200" y="4636008"/>
            <a:ext cx="5120640" cy="457200"/>
          </a:xfrm>
          <a:prstGeom prst="rect">
            <a:avLst/>
          </a:prstGeom>
          <a:solidFill>
            <a:srgbClr val="E6EDF1"/>
          </a:solidFill>
          <a:ln w="12700">
            <a:solidFill>
              <a:srgbClr val="333333"/>
            </a:solidFill>
            <a:prstDash val="solid"/>
          </a:ln>
        </p:spPr>
      </p:sp>
      <p:sp>
        <p:nvSpPr>
          <p:cNvPr id="19" name="Shape 17"/>
          <p:cNvSpPr/>
          <p:nvPr/>
        </p:nvSpPr>
        <p:spPr>
          <a:xfrm>
            <a:off x="2743200" y="4636008"/>
            <a:ext cx="4526646" cy="457200"/>
          </a:xfrm>
          <a:prstGeom prst="rect">
            <a:avLst/>
          </a:prstGeom>
          <a:solidFill>
            <a:srgbClr val="F0A63C"/>
          </a:solidFill>
          <a:ln w="12700">
            <a:solidFill>
              <a:srgbClr val="333333"/>
            </a:solidFill>
            <a:prstDash val="solid"/>
          </a:ln>
        </p:spPr>
      </p:sp>
      <p:sp>
        <p:nvSpPr>
          <p:cNvPr id="20" name="Text 18"/>
          <p:cNvSpPr txBox="1"/>
          <p:nvPr/>
        </p:nvSpPr>
        <p:spPr>
          <a:xfrm>
            <a:off x="8001000" y="4599432"/>
            <a:ext cx="1097280" cy="502920"/>
          </a:xfrm>
          <a:prstGeom prst="rect">
            <a:avLst/>
          </a:prstGeom>
          <a:noFill/>
          <a:ln/>
        </p:spPr>
        <p:txBody>
          <a:bodyPr wrap="square" lIns="0" tIns="0" rIns="0" bIns="0" rtlCol="0" anchor="ctr"/>
          <a:lstStyle/>
          <a:p>
            <a:pPr indent="0" marL="0">
              <a:buNone/>
            </a:pPr>
            <a:r>
              <a:rPr lang="en-US" sz="2400" b="1" dirty="0">
                <a:solidFill>
                  <a:srgbClr val="F0A63C"/>
                </a:solidFill>
                <a:latin typeface="Georgia" pitchFamily="34" charset="0"/>
                <a:ea typeface="Georgia" pitchFamily="34" charset="-122"/>
                <a:cs typeface="Georgia" pitchFamily="34" charset="-120"/>
              </a:rPr>
              <a:t>0.884</a:t>
            </a:r>
            <a:endParaRPr lang="en-US" sz="2400" dirty="0"/>
          </a:p>
        </p:txBody>
      </p:sp>
      <p:sp>
        <p:nvSpPr>
          <p:cNvPr id="21" name="Text 19"/>
          <p:cNvSpPr txBox="1"/>
          <p:nvPr/>
        </p:nvSpPr>
        <p:spPr>
          <a:xfrm>
            <a:off x="2743200" y="2212848"/>
            <a:ext cx="5120640" cy="237744"/>
          </a:xfrm>
          <a:prstGeom prst="rect">
            <a:avLst/>
          </a:prstGeom>
          <a:noFill/>
          <a:ln/>
        </p:spPr>
        <p:txBody>
          <a:bodyPr wrap="square" lIns="0" tIns="0" rIns="0" bIns="0" rtlCol="0" anchor="ctr"/>
          <a:lstStyle/>
          <a:p>
            <a:pPr indent="0" marL="0">
              <a:buNone/>
            </a:pPr>
            <a:r>
              <a:rPr lang="en-US" sz="850" b="1" spc="130" kern="0" dirty="0">
                <a:solidFill>
                  <a:srgbClr val="8FA5B2"/>
                </a:solidFill>
                <a:latin typeface="Consolas" pitchFamily="34" charset="0"/>
                <a:ea typeface="Consolas" pitchFamily="34" charset="-122"/>
                <a:cs typeface="Consolas" pitchFamily="34" charset="-120"/>
              </a:rPr>
              <a:t>TEST R²  ·  EACH SPECIFICATION AT ITS BEST ESTIMATOR</a:t>
            </a:r>
            <a:endParaRPr lang="en-US" sz="850" dirty="0"/>
          </a:p>
        </p:txBody>
      </p:sp>
      <p:sp>
        <p:nvSpPr>
          <p:cNvPr id="22" name="Shape 20"/>
          <p:cNvSpPr/>
          <p:nvPr/>
        </p:nvSpPr>
        <p:spPr>
          <a:xfrm>
            <a:off x="9326880" y="2377440"/>
            <a:ext cx="2148840" cy="3063240"/>
          </a:xfrm>
          <a:prstGeom prst="rect">
            <a:avLst/>
          </a:prstGeom>
          <a:solidFill>
            <a:srgbClr val="FFFFFF"/>
          </a:solidFill>
          <a:ln w="12700">
            <a:solidFill>
              <a:srgbClr val="D3DFE6"/>
            </a:solidFill>
            <a:prstDash val="solid"/>
          </a:ln>
        </p:spPr>
      </p:sp>
      <p:sp>
        <p:nvSpPr>
          <p:cNvPr id="23" name="Shape 21"/>
          <p:cNvSpPr/>
          <p:nvPr/>
        </p:nvSpPr>
        <p:spPr>
          <a:xfrm>
            <a:off x="9326880" y="2377440"/>
            <a:ext cx="41148" cy="3063240"/>
          </a:xfrm>
          <a:prstGeom prst="rect">
            <a:avLst/>
          </a:prstGeom>
          <a:solidFill>
            <a:srgbClr val="F0A63C"/>
          </a:solidFill>
          <a:ln w="12700">
            <a:solidFill>
              <a:srgbClr val="333333"/>
            </a:solidFill>
            <a:prstDash val="solid"/>
          </a:ln>
        </p:spPr>
      </p:sp>
      <p:sp>
        <p:nvSpPr>
          <p:cNvPr id="24" name="Text 22"/>
          <p:cNvSpPr txBox="1"/>
          <p:nvPr/>
        </p:nvSpPr>
        <p:spPr>
          <a:xfrm>
            <a:off x="9555480" y="2606040"/>
            <a:ext cx="1783080" cy="1371600"/>
          </a:xfrm>
          <a:prstGeom prst="rect">
            <a:avLst/>
          </a:prstGeom>
          <a:noFill/>
          <a:ln/>
        </p:spPr>
        <p:txBody>
          <a:bodyPr wrap="square" lIns="0" tIns="0" rIns="0" bIns="0" rtlCol="0" anchor="ctr"/>
          <a:lstStyle/>
          <a:p>
            <a:pPr indent="0" marL="0">
              <a:lnSpc>
                <a:spcPts val="1600"/>
              </a:lnSpc>
              <a:buNone/>
            </a:pPr>
            <a:r>
              <a:rPr lang="en-US" sz="1150" dirty="0">
                <a:solidFill>
                  <a:srgbClr val="41525E"/>
                </a:solidFill>
                <a:latin typeface="Trebuchet MS" pitchFamily="34" charset="0"/>
                <a:ea typeface="Trebuchet MS" pitchFamily="34" charset="-122"/>
                <a:cs typeface="Trebuchet MS" pitchFamily="34" charset="-120"/>
              </a:rPr>
              <a:t>Two market-derived variables add 0.206, more than twenty-nine performance features contributed.</a:t>
            </a:r>
            <a:endParaRPr lang="en-US" sz="1150" dirty="0"/>
          </a:p>
        </p:txBody>
      </p:sp>
      <p:sp>
        <p:nvSpPr>
          <p:cNvPr id="25" name="Text 23"/>
          <p:cNvSpPr txBox="1"/>
          <p:nvPr/>
        </p:nvSpPr>
        <p:spPr>
          <a:xfrm>
            <a:off x="9555480" y="4434840"/>
            <a:ext cx="1783080" cy="822960"/>
          </a:xfrm>
          <a:prstGeom prst="rect">
            <a:avLst/>
          </a:prstGeom>
          <a:noFill/>
          <a:ln/>
        </p:spPr>
        <p:txBody>
          <a:bodyPr wrap="square" lIns="0" tIns="0" rIns="0" bIns="0" rtlCol="0" anchor="ctr"/>
          <a:lstStyle/>
          <a:p>
            <a:pPr indent="0" marL="0">
              <a:lnSpc>
                <a:spcPts val="1600"/>
              </a:lnSpc>
              <a:buNone/>
            </a:pPr>
            <a:r>
              <a:rPr lang="en-US" sz="1250" b="1" i="1" dirty="0">
                <a:solidFill>
                  <a:srgbClr val="F0A63C"/>
                </a:solidFill>
                <a:latin typeface="Georgia" pitchFamily="34" charset="0"/>
                <a:ea typeface="Georgia" pitchFamily="34" charset="-122"/>
                <a:cs typeface="Georgia" pitchFamily="34" charset="-120"/>
              </a:rPr>
              <a:t>Model 2 is a benchmark, not the recruitment model.</a:t>
            </a:r>
            <a:endParaRPr lang="en-US" sz="1250" dirty="0"/>
          </a:p>
        </p:txBody>
      </p:sp>
      <p:sp>
        <p:nvSpPr>
          <p:cNvPr id="26" name="Text 24"/>
          <p:cNvSpPr txBox="1"/>
          <p:nvPr/>
        </p:nvSpPr>
        <p:spPr>
          <a:xfrm>
            <a:off x="685800" y="5532120"/>
            <a:ext cx="8412480" cy="274320"/>
          </a:xfrm>
          <a:prstGeom prst="rect">
            <a:avLst/>
          </a:prstGeom>
          <a:noFill/>
          <a:ln/>
        </p:spPr>
        <p:txBody>
          <a:bodyPr wrap="square" lIns="0" tIns="0" rIns="0" bIns="0" rtlCol="0" anchor="ctr"/>
          <a:lstStyle/>
          <a:p>
            <a:pPr indent="0" marL="0">
              <a:buNone/>
            </a:pPr>
            <a:r>
              <a:rPr lang="en-US" sz="900" dirty="0">
                <a:solidFill>
                  <a:srgbClr val="8FA5B2"/>
                </a:solidFill>
                <a:latin typeface="Consolas" pitchFamily="34" charset="0"/>
                <a:ea typeface="Consolas" pitchFamily="34" charset="-122"/>
                <a:cs typeface="Consolas" pitchFamily="34" charset="-120"/>
              </a:rPr>
              <a:t>Ridge throughout: 0.383 → 0.672 → 0.855. Boosting adds nothing to a four-variable linear benchmark, so Model 0 is Ridge.</a:t>
            </a:r>
            <a:endParaRPr lang="en-US" sz="900" dirty="0"/>
          </a:p>
        </p:txBody>
      </p:sp>
      <p:sp>
        <p:nvSpPr>
          <p:cNvPr id="27" name="Text 25"/>
          <p:cNvSpPr txBox="1"/>
          <p:nvPr/>
        </p:nvSpPr>
        <p:spPr>
          <a:xfrm>
            <a:off x="685800" y="5852160"/>
            <a:ext cx="10789920" cy="365760"/>
          </a:xfrm>
          <a:prstGeom prst="rect">
            <a:avLst/>
          </a:prstGeom>
          <a:noFill/>
          <a:ln/>
        </p:spPr>
        <p:txBody>
          <a:bodyPr wrap="square" lIns="0" tIns="0" rIns="0" bIns="0" rtlCol="0" anchor="ctr"/>
          <a:lstStyle/>
          <a:p>
            <a:pPr indent="0" marL="0">
              <a:buNone/>
            </a:pPr>
            <a:r>
              <a:rPr lang="en-US" sz="1500" i="1" dirty="0">
                <a:solidFill>
                  <a:srgbClr val="1B7A8C"/>
                </a:solidFill>
                <a:latin typeface="Georgia" pitchFamily="34" charset="0"/>
                <a:ea typeface="Georgia" pitchFamily="34" charset="-122"/>
                <a:cs typeface="Georgia" pitchFamily="34" charset="-120"/>
              </a:rPr>
              <a:t>Predicting the market is easier than explaining it, and the two are not the same objective.</a:t>
            </a:r>
            <a:endParaRPr lang="en-US" sz="1500" dirty="0"/>
          </a:p>
        </p:txBody>
      </p:sp>
      <p:sp>
        <p:nvSpPr>
          <p:cNvPr id="28" name="Text 26"/>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06 / 16</a:t>
            </a:r>
            <a:endParaRPr lang="en-US" sz="900" dirty="0"/>
          </a:p>
        </p:txBody>
      </p:sp>
      <p:sp>
        <p:nvSpPr>
          <p:cNvPr id="29" name="Text 27"/>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A24"/>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1E3A4C">
              <a:alpha val="45000"/>
            </a:srgbClr>
          </a:solidFill>
          <a:ln w="12700">
            <a:solidFill>
              <a:srgbClr val="333333"/>
            </a:solidFill>
            <a:prstDash val="solid"/>
          </a:ln>
        </p:spPr>
      </p:sp>
      <p:sp>
        <p:nvSpPr>
          <p:cNvPr id="3" name="Shape 1"/>
          <p:cNvSpPr/>
          <p:nvPr/>
        </p:nvSpPr>
        <p:spPr>
          <a:xfrm>
            <a:off x="384048" y="6547104"/>
            <a:ext cx="11420856" cy="10973"/>
          </a:xfrm>
          <a:prstGeom prst="rect">
            <a:avLst/>
          </a:prstGeom>
          <a:solidFill>
            <a:srgbClr val="1E3A4C">
              <a:alpha val="45000"/>
            </a:srgbClr>
          </a:solidFill>
          <a:ln w="12700">
            <a:solidFill>
              <a:srgbClr val="333333"/>
            </a:solidFill>
            <a:prstDash val="solid"/>
          </a:ln>
        </p:spPr>
      </p:sp>
      <p:sp>
        <p:nvSpPr>
          <p:cNvPr id="4" name="Shape 2"/>
          <p:cNvSpPr/>
          <p:nvPr/>
        </p:nvSpPr>
        <p:spPr>
          <a:xfrm>
            <a:off x="384048" y="310896"/>
            <a:ext cx="10973" cy="6236208"/>
          </a:xfrm>
          <a:prstGeom prst="rect">
            <a:avLst/>
          </a:prstGeom>
          <a:solidFill>
            <a:srgbClr val="1E3A4C">
              <a:alpha val="45000"/>
            </a:srgbClr>
          </a:solidFill>
          <a:ln w="12700">
            <a:solidFill>
              <a:srgbClr val="333333"/>
            </a:solidFill>
            <a:prstDash val="solid"/>
          </a:ln>
        </p:spPr>
      </p:sp>
      <p:sp>
        <p:nvSpPr>
          <p:cNvPr id="5" name="Shape 3"/>
          <p:cNvSpPr/>
          <p:nvPr/>
        </p:nvSpPr>
        <p:spPr>
          <a:xfrm>
            <a:off x="11795760" y="310896"/>
            <a:ext cx="10973" cy="6236208"/>
          </a:xfrm>
          <a:prstGeom prst="rect">
            <a:avLst/>
          </a:prstGeom>
          <a:solidFill>
            <a:srgbClr val="1E3A4C">
              <a:alpha val="45000"/>
            </a:srgbClr>
          </a:solidFill>
          <a:ln w="12700">
            <a:solidFill>
              <a:srgbClr val="333333"/>
            </a:solidFill>
            <a:prstDash val="solid"/>
          </a:ln>
        </p:spPr>
      </p:sp>
      <p:sp>
        <p:nvSpPr>
          <p:cNvPr id="6" name="Shape 4"/>
          <p:cNvSpPr/>
          <p:nvPr/>
        </p:nvSpPr>
        <p:spPr>
          <a:xfrm>
            <a:off x="6080760" y="310896"/>
            <a:ext cx="10973" cy="6236208"/>
          </a:xfrm>
          <a:prstGeom prst="rect">
            <a:avLst/>
          </a:prstGeom>
          <a:solidFill>
            <a:srgbClr val="1E3A4C">
              <a:alpha val="45000"/>
            </a:srgbClr>
          </a:solidFill>
          <a:ln w="12700">
            <a:solidFill>
              <a:srgbClr val="333333"/>
            </a:solidFill>
            <a:prstDash val="solid"/>
          </a:ln>
        </p:spPr>
      </p:sp>
      <p:sp>
        <p:nvSpPr>
          <p:cNvPr id="7" name="Shape 5"/>
          <p:cNvSpPr/>
          <p:nvPr/>
        </p:nvSpPr>
        <p:spPr>
          <a:xfrm>
            <a:off x="5029200" y="3291840"/>
            <a:ext cx="2103120" cy="2103120"/>
          </a:xfrm>
          <a:prstGeom prst="ellipse">
            <a:avLst/>
          </a:prstGeom>
          <a:ln w="12700">
            <a:solidFill>
              <a:srgbClr val="1E3A4C">
                <a:alpha val="45000"/>
              </a:srgbClr>
            </a:solidFill>
            <a:prstDash val="solid"/>
          </a:ln>
        </p:spPr>
      </p:sp>
      <p:sp>
        <p:nvSpPr>
          <p:cNvPr id="8" name="Shape 6"/>
          <p:cNvSpPr/>
          <p:nvPr/>
        </p:nvSpPr>
        <p:spPr>
          <a:xfrm>
            <a:off x="384048" y="1965960"/>
            <a:ext cx="1600200" cy="10973"/>
          </a:xfrm>
          <a:prstGeom prst="rect">
            <a:avLst/>
          </a:prstGeom>
          <a:solidFill>
            <a:srgbClr val="1E3A4C">
              <a:alpha val="45000"/>
            </a:srgbClr>
          </a:solidFill>
          <a:ln w="12700">
            <a:solidFill>
              <a:srgbClr val="333333"/>
            </a:solidFill>
            <a:prstDash val="solid"/>
          </a:ln>
        </p:spPr>
      </p:sp>
      <p:sp>
        <p:nvSpPr>
          <p:cNvPr id="9" name="Shape 7"/>
          <p:cNvSpPr/>
          <p:nvPr/>
        </p:nvSpPr>
        <p:spPr>
          <a:xfrm>
            <a:off x="384048" y="4892040"/>
            <a:ext cx="1600200" cy="10973"/>
          </a:xfrm>
          <a:prstGeom prst="rect">
            <a:avLst/>
          </a:prstGeom>
          <a:solidFill>
            <a:srgbClr val="1E3A4C">
              <a:alpha val="45000"/>
            </a:srgbClr>
          </a:solidFill>
          <a:ln w="12700">
            <a:solidFill>
              <a:srgbClr val="333333"/>
            </a:solidFill>
            <a:prstDash val="solid"/>
          </a:ln>
        </p:spPr>
      </p:sp>
      <p:sp>
        <p:nvSpPr>
          <p:cNvPr id="10" name="Shape 8"/>
          <p:cNvSpPr/>
          <p:nvPr/>
        </p:nvSpPr>
        <p:spPr>
          <a:xfrm>
            <a:off x="1984248" y="1965960"/>
            <a:ext cx="10973" cy="2926080"/>
          </a:xfrm>
          <a:prstGeom prst="rect">
            <a:avLst/>
          </a:prstGeom>
          <a:solidFill>
            <a:srgbClr val="1E3A4C">
              <a:alpha val="45000"/>
            </a:srgbClr>
          </a:solidFill>
          <a:ln w="12700">
            <a:solidFill>
              <a:srgbClr val="333333"/>
            </a:solidFill>
            <a:prstDash val="solid"/>
          </a:ln>
        </p:spPr>
      </p:sp>
      <p:sp>
        <p:nvSpPr>
          <p:cNvPr id="11" name="Shape 9"/>
          <p:cNvSpPr/>
          <p:nvPr/>
        </p:nvSpPr>
        <p:spPr>
          <a:xfrm>
            <a:off x="10204704" y="1965960"/>
            <a:ext cx="1600200" cy="10973"/>
          </a:xfrm>
          <a:prstGeom prst="rect">
            <a:avLst/>
          </a:prstGeom>
          <a:solidFill>
            <a:srgbClr val="1E3A4C">
              <a:alpha val="45000"/>
            </a:srgbClr>
          </a:solidFill>
          <a:ln w="12700">
            <a:solidFill>
              <a:srgbClr val="333333"/>
            </a:solidFill>
            <a:prstDash val="solid"/>
          </a:ln>
        </p:spPr>
      </p:sp>
      <p:sp>
        <p:nvSpPr>
          <p:cNvPr id="12" name="Shape 10"/>
          <p:cNvSpPr/>
          <p:nvPr/>
        </p:nvSpPr>
        <p:spPr>
          <a:xfrm>
            <a:off x="10204704" y="4892040"/>
            <a:ext cx="1600200" cy="10973"/>
          </a:xfrm>
          <a:prstGeom prst="rect">
            <a:avLst/>
          </a:prstGeom>
          <a:solidFill>
            <a:srgbClr val="1E3A4C">
              <a:alpha val="45000"/>
            </a:srgbClr>
          </a:solidFill>
          <a:ln w="12700">
            <a:solidFill>
              <a:srgbClr val="333333"/>
            </a:solidFill>
            <a:prstDash val="solid"/>
          </a:ln>
        </p:spPr>
      </p:sp>
      <p:sp>
        <p:nvSpPr>
          <p:cNvPr id="13" name="Shape 11"/>
          <p:cNvSpPr/>
          <p:nvPr/>
        </p:nvSpPr>
        <p:spPr>
          <a:xfrm>
            <a:off x="10204704" y="1965960"/>
            <a:ext cx="10973" cy="2926080"/>
          </a:xfrm>
          <a:prstGeom prst="rect">
            <a:avLst/>
          </a:prstGeom>
          <a:solidFill>
            <a:srgbClr val="1E3A4C">
              <a:alpha val="45000"/>
            </a:srgbClr>
          </a:solidFill>
          <a:ln w="12700">
            <a:solidFill>
              <a:srgbClr val="333333"/>
            </a:solidFill>
            <a:prstDash val="solid"/>
          </a:ln>
        </p:spPr>
      </p:sp>
      <p:sp>
        <p:nvSpPr>
          <p:cNvPr id="14" name="Shape 12"/>
          <p:cNvSpPr/>
          <p:nvPr/>
        </p:nvSpPr>
        <p:spPr>
          <a:xfrm>
            <a:off x="384048" y="2788920"/>
            <a:ext cx="658368" cy="10973"/>
          </a:xfrm>
          <a:prstGeom prst="rect">
            <a:avLst/>
          </a:prstGeom>
          <a:solidFill>
            <a:srgbClr val="1E3A4C">
              <a:alpha val="45000"/>
            </a:srgbClr>
          </a:solidFill>
          <a:ln w="12700">
            <a:solidFill>
              <a:srgbClr val="333333"/>
            </a:solidFill>
            <a:prstDash val="solid"/>
          </a:ln>
        </p:spPr>
      </p:sp>
      <p:sp>
        <p:nvSpPr>
          <p:cNvPr id="15" name="Shape 13"/>
          <p:cNvSpPr/>
          <p:nvPr/>
        </p:nvSpPr>
        <p:spPr>
          <a:xfrm>
            <a:off x="384048" y="4069080"/>
            <a:ext cx="658368" cy="10973"/>
          </a:xfrm>
          <a:prstGeom prst="rect">
            <a:avLst/>
          </a:prstGeom>
          <a:solidFill>
            <a:srgbClr val="1E3A4C">
              <a:alpha val="45000"/>
            </a:srgbClr>
          </a:solidFill>
          <a:ln w="12700">
            <a:solidFill>
              <a:srgbClr val="333333"/>
            </a:solidFill>
            <a:prstDash val="solid"/>
          </a:ln>
        </p:spPr>
      </p:sp>
      <p:sp>
        <p:nvSpPr>
          <p:cNvPr id="16" name="Shape 14"/>
          <p:cNvSpPr/>
          <p:nvPr/>
        </p:nvSpPr>
        <p:spPr>
          <a:xfrm>
            <a:off x="1042416" y="2788920"/>
            <a:ext cx="10973" cy="1280160"/>
          </a:xfrm>
          <a:prstGeom prst="rect">
            <a:avLst/>
          </a:prstGeom>
          <a:solidFill>
            <a:srgbClr val="1E3A4C">
              <a:alpha val="45000"/>
            </a:srgbClr>
          </a:solidFill>
          <a:ln w="12700">
            <a:solidFill>
              <a:srgbClr val="333333"/>
            </a:solidFill>
            <a:prstDash val="solid"/>
          </a:ln>
        </p:spPr>
      </p:sp>
      <p:sp>
        <p:nvSpPr>
          <p:cNvPr id="17" name="Shape 15"/>
          <p:cNvSpPr/>
          <p:nvPr/>
        </p:nvSpPr>
        <p:spPr>
          <a:xfrm>
            <a:off x="11146536" y="2788920"/>
            <a:ext cx="658368" cy="10973"/>
          </a:xfrm>
          <a:prstGeom prst="rect">
            <a:avLst/>
          </a:prstGeom>
          <a:solidFill>
            <a:srgbClr val="1E3A4C">
              <a:alpha val="45000"/>
            </a:srgbClr>
          </a:solidFill>
          <a:ln w="12700">
            <a:solidFill>
              <a:srgbClr val="333333"/>
            </a:solidFill>
            <a:prstDash val="solid"/>
          </a:ln>
        </p:spPr>
      </p:sp>
      <p:sp>
        <p:nvSpPr>
          <p:cNvPr id="18" name="Shape 16"/>
          <p:cNvSpPr/>
          <p:nvPr/>
        </p:nvSpPr>
        <p:spPr>
          <a:xfrm>
            <a:off x="11146536" y="4069080"/>
            <a:ext cx="658368" cy="10973"/>
          </a:xfrm>
          <a:prstGeom prst="rect">
            <a:avLst/>
          </a:prstGeom>
          <a:solidFill>
            <a:srgbClr val="1E3A4C">
              <a:alpha val="45000"/>
            </a:srgbClr>
          </a:solidFill>
          <a:ln w="12700">
            <a:solidFill>
              <a:srgbClr val="333333"/>
            </a:solidFill>
            <a:prstDash val="solid"/>
          </a:ln>
        </p:spPr>
      </p:sp>
      <p:sp>
        <p:nvSpPr>
          <p:cNvPr id="19" name="Shape 17"/>
          <p:cNvSpPr/>
          <p:nvPr/>
        </p:nvSpPr>
        <p:spPr>
          <a:xfrm>
            <a:off x="11146536" y="2788920"/>
            <a:ext cx="10973" cy="1280160"/>
          </a:xfrm>
          <a:prstGeom prst="rect">
            <a:avLst/>
          </a:prstGeom>
          <a:solidFill>
            <a:srgbClr val="1E3A4C">
              <a:alpha val="45000"/>
            </a:srgbClr>
          </a:solidFill>
          <a:ln w="12700">
            <a:solidFill>
              <a:srgbClr val="333333"/>
            </a:solidFill>
            <a:prstDash val="solid"/>
          </a:ln>
        </p:spPr>
      </p:sp>
      <p:sp>
        <p:nvSpPr>
          <p:cNvPr id="20" name="Text 18"/>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38C6D9"/>
                </a:solidFill>
                <a:latin typeface="Consolas" pitchFamily="34" charset="0"/>
                <a:ea typeface="Consolas" pitchFamily="34" charset="-122"/>
                <a:cs typeface="Consolas" pitchFamily="34" charset="-120"/>
              </a:rPr>
              <a:t>EVIDENCE 2, THE HYPOTHESIS TEST</a:t>
            </a:r>
            <a:endParaRPr lang="en-US" sz="1000" dirty="0"/>
          </a:p>
        </p:txBody>
      </p:sp>
      <p:sp>
        <p:nvSpPr>
          <p:cNvPr id="21" name="Text 19"/>
          <p:cNvSpPr txBox="1"/>
          <p:nvPr/>
        </p:nvSpPr>
        <p:spPr>
          <a:xfrm>
            <a:off x="685800" y="1234440"/>
            <a:ext cx="10789920" cy="1554480"/>
          </a:xfrm>
          <a:prstGeom prst="rect">
            <a:avLst/>
          </a:prstGeom>
          <a:noFill/>
          <a:ln/>
        </p:spPr>
        <p:txBody>
          <a:bodyPr wrap="square" lIns="0" tIns="0" rIns="0" bIns="0" rtlCol="0" anchor="ctr"/>
          <a:lstStyle/>
          <a:p>
            <a:pPr indent="0" marL="0">
              <a:lnSpc>
                <a:spcPts val="5000"/>
              </a:lnSpc>
              <a:buNone/>
            </a:pPr>
            <a:r>
              <a:rPr lang="en-US" sz="3800" b="1" dirty="0">
                <a:solidFill>
                  <a:srgbClr val="F2F6F8"/>
                </a:solidFill>
                <a:latin typeface="Georgia" pitchFamily="34" charset="0"/>
                <a:ea typeface="Georgia" pitchFamily="34" charset="-122"/>
                <a:cs typeface="Georgia" pitchFamily="34" charset="-120"/>
              </a:rPr>
              <a:t>Potential valuation discrepancy</a:t>
            </a:r>
            <a:endParaRPr lang="en-US" sz="3800" dirty="0"/>
          </a:p>
          <a:p>
            <a:pPr indent="0" marL="0">
              <a:lnSpc>
                <a:spcPts val="5000"/>
              </a:lnSpc>
              <a:buNone/>
            </a:pPr>
            <a:r>
              <a:rPr lang="en-US" sz="3800" b="1" dirty="0">
                <a:solidFill>
                  <a:srgbClr val="F2F6F8"/>
                </a:solidFill>
                <a:latin typeface="Georgia" pitchFamily="34" charset="0"/>
                <a:ea typeface="Georgia" pitchFamily="34" charset="-122"/>
                <a:cs typeface="Georgia" pitchFamily="34" charset="-120"/>
              </a:rPr>
              <a:t>≠ proven market inefficiency</a:t>
            </a:r>
            <a:endParaRPr lang="en-US" sz="3800" dirty="0"/>
          </a:p>
        </p:txBody>
      </p:sp>
      <p:sp>
        <p:nvSpPr>
          <p:cNvPr id="22" name="Shape 20"/>
          <p:cNvSpPr/>
          <p:nvPr/>
        </p:nvSpPr>
        <p:spPr>
          <a:xfrm>
            <a:off x="685800" y="2926080"/>
            <a:ext cx="2011680" cy="41148"/>
          </a:xfrm>
          <a:prstGeom prst="rect">
            <a:avLst/>
          </a:prstGeom>
          <a:solidFill>
            <a:srgbClr val="E2574C"/>
          </a:solidFill>
          <a:ln w="12700">
            <a:solidFill>
              <a:srgbClr val="333333"/>
            </a:solidFill>
            <a:prstDash val="solid"/>
          </a:ln>
        </p:spPr>
      </p:sp>
      <p:sp>
        <p:nvSpPr>
          <p:cNvPr id="23" name="Shape 21"/>
          <p:cNvSpPr/>
          <p:nvPr/>
        </p:nvSpPr>
        <p:spPr>
          <a:xfrm>
            <a:off x="685800" y="3383280"/>
            <a:ext cx="6766560" cy="868680"/>
          </a:xfrm>
          <a:prstGeom prst="rect">
            <a:avLst/>
          </a:prstGeom>
          <a:solidFill>
            <a:srgbClr val="112532"/>
          </a:solidFill>
          <a:ln w="12700">
            <a:solidFill>
              <a:srgbClr val="1E3A4C"/>
            </a:solidFill>
            <a:prstDash val="solid"/>
          </a:ln>
        </p:spPr>
      </p:sp>
      <p:sp>
        <p:nvSpPr>
          <p:cNvPr id="24" name="Shape 22"/>
          <p:cNvSpPr/>
          <p:nvPr/>
        </p:nvSpPr>
        <p:spPr>
          <a:xfrm>
            <a:off x="685800" y="3383280"/>
            <a:ext cx="41148" cy="868680"/>
          </a:xfrm>
          <a:prstGeom prst="rect">
            <a:avLst/>
          </a:prstGeom>
          <a:solidFill>
            <a:srgbClr val="E2574C"/>
          </a:solidFill>
          <a:ln w="12700">
            <a:solidFill>
              <a:srgbClr val="333333"/>
            </a:solidFill>
            <a:prstDash val="solid"/>
          </a:ln>
        </p:spPr>
      </p:sp>
      <p:sp>
        <p:nvSpPr>
          <p:cNvPr id="25" name="Text 23"/>
          <p:cNvSpPr txBox="1"/>
          <p:nvPr/>
        </p:nvSpPr>
        <p:spPr>
          <a:xfrm>
            <a:off x="1005840" y="3474720"/>
            <a:ext cx="2926080" cy="329184"/>
          </a:xfrm>
          <a:prstGeom prst="rect">
            <a:avLst/>
          </a:prstGeom>
          <a:noFill/>
          <a:ln/>
        </p:spPr>
        <p:txBody>
          <a:bodyPr wrap="square" lIns="0" tIns="0" rIns="0" bIns="0" rtlCol="0" anchor="ctr"/>
          <a:lstStyle/>
          <a:p>
            <a:pPr indent="0" marL="0">
              <a:buNone/>
            </a:pPr>
            <a:r>
              <a:rPr lang="en-US" sz="1400" b="1" dirty="0">
                <a:solidFill>
                  <a:srgbClr val="F2F6F8"/>
                </a:solidFill>
                <a:latin typeface="Trebuchet MS" pitchFamily="34" charset="0"/>
                <a:ea typeface="Trebuchet MS" pitchFamily="34" charset="-122"/>
                <a:cs typeface="Trebuchet MS" pitchFamily="34" charset="-120"/>
              </a:rPr>
              <a:t>Raw residual</a:t>
            </a:r>
            <a:endParaRPr lang="en-US" sz="1400" dirty="0"/>
          </a:p>
        </p:txBody>
      </p:sp>
      <p:sp>
        <p:nvSpPr>
          <p:cNvPr id="26" name="Text 24"/>
          <p:cNvSpPr txBox="1"/>
          <p:nvPr/>
        </p:nvSpPr>
        <p:spPr>
          <a:xfrm>
            <a:off x="1005840" y="3840480"/>
            <a:ext cx="2926080" cy="274320"/>
          </a:xfrm>
          <a:prstGeom prst="rect">
            <a:avLst/>
          </a:prstGeom>
          <a:noFill/>
          <a:ln/>
        </p:spPr>
        <p:txBody>
          <a:bodyPr wrap="square" lIns="0" tIns="0" rIns="0" bIns="0" rtlCol="0" anchor="ctr"/>
          <a:lstStyle/>
          <a:p>
            <a:pPr indent="0" marL="0">
              <a:buNone/>
            </a:pPr>
            <a:r>
              <a:rPr lang="en-US" sz="950" dirty="0">
                <a:solidFill>
                  <a:srgbClr val="7C97A8"/>
                </a:solidFill>
                <a:latin typeface="Consolas" pitchFamily="34" charset="0"/>
                <a:ea typeface="Consolas" pitchFamily="34" charset="-122"/>
                <a:cs typeface="Consolas" pitchFamily="34" charset="-120"/>
              </a:rPr>
              <a:t>Pre-registered</a:t>
            </a:r>
            <a:endParaRPr lang="en-US" sz="950" dirty="0"/>
          </a:p>
        </p:txBody>
      </p:sp>
      <p:sp>
        <p:nvSpPr>
          <p:cNvPr id="27" name="Text 25"/>
          <p:cNvSpPr txBox="1"/>
          <p:nvPr/>
        </p:nvSpPr>
        <p:spPr>
          <a:xfrm>
            <a:off x="4206240" y="3566160"/>
            <a:ext cx="1828800" cy="457200"/>
          </a:xfrm>
          <a:prstGeom prst="rect">
            <a:avLst/>
          </a:prstGeom>
          <a:noFill/>
          <a:ln/>
        </p:spPr>
        <p:txBody>
          <a:bodyPr wrap="square" lIns="0" tIns="0" rIns="0" bIns="0" rtlCol="0" anchor="ctr"/>
          <a:lstStyle/>
          <a:p>
            <a:pPr indent="0" marL="0">
              <a:buNone/>
            </a:pPr>
            <a:r>
              <a:rPr lang="en-US" sz="2200" b="1" dirty="0">
                <a:solidFill>
                  <a:srgbClr val="F0A63C"/>
                </a:solidFill>
                <a:latin typeface="Georgia" pitchFamily="34" charset="0"/>
                <a:ea typeface="Georgia" pitchFamily="34" charset="-122"/>
                <a:cs typeface="Georgia" pitchFamily="34" charset="-120"/>
              </a:rPr>
              <a:t>p = 0.094</a:t>
            </a:r>
            <a:endParaRPr lang="en-US" sz="2200" dirty="0"/>
          </a:p>
        </p:txBody>
      </p:sp>
      <p:sp>
        <p:nvSpPr>
          <p:cNvPr id="28" name="Shape 26"/>
          <p:cNvSpPr/>
          <p:nvPr/>
        </p:nvSpPr>
        <p:spPr>
          <a:xfrm>
            <a:off x="6035040" y="3639312"/>
            <a:ext cx="1280160" cy="310896"/>
          </a:xfrm>
          <a:prstGeom prst="rect">
            <a:avLst/>
          </a:prstGeom>
          <a:ln w="12700">
            <a:solidFill>
              <a:srgbClr val="7C97A8"/>
            </a:solidFill>
            <a:prstDash val="solid"/>
          </a:ln>
        </p:spPr>
      </p:sp>
      <p:sp>
        <p:nvSpPr>
          <p:cNvPr id="29" name="Text 27"/>
          <p:cNvSpPr txBox="1"/>
          <p:nvPr/>
        </p:nvSpPr>
        <p:spPr>
          <a:xfrm>
            <a:off x="6035040" y="3639312"/>
            <a:ext cx="1280160" cy="310896"/>
          </a:xfrm>
          <a:prstGeom prst="rect">
            <a:avLst/>
          </a:prstGeom>
          <a:noFill/>
          <a:ln/>
        </p:spPr>
        <p:txBody>
          <a:bodyPr wrap="square" lIns="0" tIns="0" rIns="0" bIns="0" rtlCol="0" anchor="ctr"/>
          <a:lstStyle/>
          <a:p>
            <a:pPr algn="ctr" indent="0" marL="0">
              <a:buNone/>
            </a:pPr>
            <a:r>
              <a:rPr lang="en-US" sz="950" b="1" spc="140" kern="0" dirty="0">
                <a:solidFill>
                  <a:srgbClr val="7C97A8"/>
                </a:solidFill>
                <a:latin typeface="Consolas" pitchFamily="34" charset="0"/>
                <a:ea typeface="Consolas" pitchFamily="34" charset="-122"/>
                <a:cs typeface="Consolas" pitchFamily="34" charset="-120"/>
              </a:rPr>
              <a:t>NO ADVANTAGE</a:t>
            </a:r>
            <a:endParaRPr lang="en-US" sz="950" dirty="0"/>
          </a:p>
        </p:txBody>
      </p:sp>
      <p:sp>
        <p:nvSpPr>
          <p:cNvPr id="30" name="Shape 28"/>
          <p:cNvSpPr/>
          <p:nvPr/>
        </p:nvSpPr>
        <p:spPr>
          <a:xfrm>
            <a:off x="685800" y="4434840"/>
            <a:ext cx="6766560" cy="868680"/>
          </a:xfrm>
          <a:prstGeom prst="rect">
            <a:avLst/>
          </a:prstGeom>
          <a:solidFill>
            <a:srgbClr val="112532"/>
          </a:solidFill>
          <a:ln w="12700">
            <a:solidFill>
              <a:srgbClr val="1E3A4C"/>
            </a:solidFill>
            <a:prstDash val="solid"/>
          </a:ln>
        </p:spPr>
      </p:sp>
      <p:sp>
        <p:nvSpPr>
          <p:cNvPr id="31" name="Shape 29"/>
          <p:cNvSpPr/>
          <p:nvPr/>
        </p:nvSpPr>
        <p:spPr>
          <a:xfrm>
            <a:off x="685800" y="4434840"/>
            <a:ext cx="41148" cy="868680"/>
          </a:xfrm>
          <a:prstGeom prst="rect">
            <a:avLst/>
          </a:prstGeom>
          <a:solidFill>
            <a:srgbClr val="E2574C"/>
          </a:solidFill>
          <a:ln w="12700">
            <a:solidFill>
              <a:srgbClr val="333333"/>
            </a:solidFill>
            <a:prstDash val="solid"/>
          </a:ln>
        </p:spPr>
      </p:sp>
      <p:sp>
        <p:nvSpPr>
          <p:cNvPr id="32" name="Text 30"/>
          <p:cNvSpPr txBox="1"/>
          <p:nvPr/>
        </p:nvSpPr>
        <p:spPr>
          <a:xfrm>
            <a:off x="1005840" y="4526280"/>
            <a:ext cx="2926080" cy="329184"/>
          </a:xfrm>
          <a:prstGeom prst="rect">
            <a:avLst/>
          </a:prstGeom>
          <a:noFill/>
          <a:ln/>
        </p:spPr>
        <p:txBody>
          <a:bodyPr wrap="square" lIns="0" tIns="0" rIns="0" bIns="0" rtlCol="0" anchor="ctr"/>
          <a:lstStyle/>
          <a:p>
            <a:pPr indent="0" marL="0">
              <a:buNone/>
            </a:pPr>
            <a:r>
              <a:rPr lang="en-US" sz="1400" b="1" dirty="0">
                <a:solidFill>
                  <a:srgbClr val="F2F6F8"/>
                </a:solidFill>
                <a:latin typeface="Trebuchet MS" pitchFamily="34" charset="0"/>
                <a:ea typeface="Trebuchet MS" pitchFamily="34" charset="-122"/>
                <a:cs typeface="Trebuchet MS" pitchFamily="34" charset="-120"/>
              </a:rPr>
              <a:t>Calibrated + screened</a:t>
            </a:r>
            <a:endParaRPr lang="en-US" sz="1400" dirty="0"/>
          </a:p>
        </p:txBody>
      </p:sp>
      <p:sp>
        <p:nvSpPr>
          <p:cNvPr id="33" name="Text 31"/>
          <p:cNvSpPr txBox="1"/>
          <p:nvPr/>
        </p:nvSpPr>
        <p:spPr>
          <a:xfrm>
            <a:off x="1005840" y="4892040"/>
            <a:ext cx="2926080" cy="274320"/>
          </a:xfrm>
          <a:prstGeom prst="rect">
            <a:avLst/>
          </a:prstGeom>
          <a:noFill/>
          <a:ln/>
        </p:spPr>
        <p:txBody>
          <a:bodyPr wrap="square" lIns="0" tIns="0" rIns="0" bIns="0" rtlCol="0" anchor="ctr"/>
          <a:lstStyle/>
          <a:p>
            <a:pPr indent="0" marL="0">
              <a:buNone/>
            </a:pPr>
            <a:r>
              <a:rPr lang="en-US" sz="950" dirty="0">
                <a:solidFill>
                  <a:srgbClr val="7C97A8"/>
                </a:solidFill>
                <a:latin typeface="Consolas" pitchFamily="34" charset="0"/>
                <a:ea typeface="Consolas" pitchFamily="34" charset="-122"/>
                <a:cs typeface="Consolas" pitchFamily="34" charset="-120"/>
              </a:rPr>
              <a:t>Same procedure</a:t>
            </a:r>
            <a:endParaRPr lang="en-US" sz="950" dirty="0"/>
          </a:p>
        </p:txBody>
      </p:sp>
      <p:sp>
        <p:nvSpPr>
          <p:cNvPr id="34" name="Text 32"/>
          <p:cNvSpPr txBox="1"/>
          <p:nvPr/>
        </p:nvSpPr>
        <p:spPr>
          <a:xfrm>
            <a:off x="4206240" y="4617720"/>
            <a:ext cx="1828800" cy="457200"/>
          </a:xfrm>
          <a:prstGeom prst="rect">
            <a:avLst/>
          </a:prstGeom>
          <a:noFill/>
          <a:ln/>
        </p:spPr>
        <p:txBody>
          <a:bodyPr wrap="square" lIns="0" tIns="0" rIns="0" bIns="0" rtlCol="0" anchor="ctr"/>
          <a:lstStyle/>
          <a:p>
            <a:pPr indent="0" marL="0">
              <a:buNone/>
            </a:pPr>
            <a:r>
              <a:rPr lang="en-US" sz="2200" b="1" dirty="0">
                <a:solidFill>
                  <a:srgbClr val="F0A63C"/>
                </a:solidFill>
                <a:latin typeface="Georgia" pitchFamily="34" charset="0"/>
                <a:ea typeface="Georgia" pitchFamily="34" charset="-122"/>
                <a:cs typeface="Georgia" pitchFamily="34" charset="-120"/>
              </a:rPr>
              <a:t>p = 0.307</a:t>
            </a:r>
            <a:endParaRPr lang="en-US" sz="2200" dirty="0"/>
          </a:p>
        </p:txBody>
      </p:sp>
      <p:sp>
        <p:nvSpPr>
          <p:cNvPr id="35" name="Shape 33"/>
          <p:cNvSpPr/>
          <p:nvPr/>
        </p:nvSpPr>
        <p:spPr>
          <a:xfrm>
            <a:off x="6035040" y="4690872"/>
            <a:ext cx="1280160" cy="310896"/>
          </a:xfrm>
          <a:prstGeom prst="rect">
            <a:avLst/>
          </a:prstGeom>
          <a:ln w="12700">
            <a:solidFill>
              <a:srgbClr val="7C97A8"/>
            </a:solidFill>
            <a:prstDash val="solid"/>
          </a:ln>
        </p:spPr>
      </p:sp>
      <p:sp>
        <p:nvSpPr>
          <p:cNvPr id="36" name="Text 34"/>
          <p:cNvSpPr txBox="1"/>
          <p:nvPr/>
        </p:nvSpPr>
        <p:spPr>
          <a:xfrm>
            <a:off x="6035040" y="4690872"/>
            <a:ext cx="1280160" cy="310896"/>
          </a:xfrm>
          <a:prstGeom prst="rect">
            <a:avLst/>
          </a:prstGeom>
          <a:noFill/>
          <a:ln/>
        </p:spPr>
        <p:txBody>
          <a:bodyPr wrap="square" lIns="0" tIns="0" rIns="0" bIns="0" rtlCol="0" anchor="ctr"/>
          <a:lstStyle/>
          <a:p>
            <a:pPr algn="ctr" indent="0" marL="0">
              <a:buNone/>
            </a:pPr>
            <a:r>
              <a:rPr lang="en-US" sz="950" b="1" spc="140" kern="0" dirty="0">
                <a:solidFill>
                  <a:srgbClr val="7C97A8"/>
                </a:solidFill>
                <a:latin typeface="Consolas" pitchFamily="34" charset="0"/>
                <a:ea typeface="Consolas" pitchFamily="34" charset="-122"/>
                <a:cs typeface="Consolas" pitchFamily="34" charset="-120"/>
              </a:rPr>
              <a:t>NO ADVANTAGE</a:t>
            </a:r>
            <a:endParaRPr lang="en-US" sz="950" dirty="0"/>
          </a:p>
        </p:txBody>
      </p:sp>
      <p:sp>
        <p:nvSpPr>
          <p:cNvPr id="37" name="Shape 35"/>
          <p:cNvSpPr/>
          <p:nvPr/>
        </p:nvSpPr>
        <p:spPr>
          <a:xfrm>
            <a:off x="7818120" y="3383280"/>
            <a:ext cx="3657600" cy="2194560"/>
          </a:xfrm>
          <a:prstGeom prst="rect">
            <a:avLst/>
          </a:prstGeom>
          <a:solidFill>
            <a:srgbClr val="112532"/>
          </a:solidFill>
          <a:ln w="12700">
            <a:solidFill>
              <a:srgbClr val="1E3A4C"/>
            </a:solidFill>
            <a:prstDash val="solid"/>
          </a:ln>
        </p:spPr>
      </p:sp>
      <p:sp>
        <p:nvSpPr>
          <p:cNvPr id="38" name="Shape 36"/>
          <p:cNvSpPr/>
          <p:nvPr/>
        </p:nvSpPr>
        <p:spPr>
          <a:xfrm>
            <a:off x="7818120" y="3383280"/>
            <a:ext cx="41148" cy="2194560"/>
          </a:xfrm>
          <a:prstGeom prst="rect">
            <a:avLst/>
          </a:prstGeom>
          <a:solidFill>
            <a:srgbClr val="38C6D9"/>
          </a:solidFill>
          <a:ln w="12700">
            <a:solidFill>
              <a:srgbClr val="333333"/>
            </a:solidFill>
            <a:prstDash val="solid"/>
          </a:ln>
        </p:spPr>
      </p:sp>
      <p:sp>
        <p:nvSpPr>
          <p:cNvPr id="39" name="Text 37"/>
          <p:cNvSpPr txBox="1"/>
          <p:nvPr/>
        </p:nvSpPr>
        <p:spPr>
          <a:xfrm>
            <a:off x="8138160" y="3611880"/>
            <a:ext cx="3108960" cy="731520"/>
          </a:xfrm>
          <a:prstGeom prst="rect">
            <a:avLst/>
          </a:prstGeom>
          <a:noFill/>
          <a:ln/>
        </p:spPr>
        <p:txBody>
          <a:bodyPr wrap="square" lIns="0" tIns="0" rIns="0" bIns="0" rtlCol="0" anchor="ctr"/>
          <a:lstStyle/>
          <a:p>
            <a:pPr indent="0" marL="0">
              <a:lnSpc>
                <a:spcPts val="2400"/>
              </a:lnSpc>
              <a:buNone/>
            </a:pPr>
            <a:r>
              <a:rPr lang="en-US" sz="1700" b="1" dirty="0">
                <a:solidFill>
                  <a:srgbClr val="F2F6F8"/>
                </a:solidFill>
                <a:latin typeface="Georgia" pitchFamily="34" charset="0"/>
                <a:ea typeface="Georgia" pitchFamily="34" charset="-122"/>
                <a:cs typeface="Georgia" pitchFamily="34" charset="-120"/>
              </a:rPr>
              <a:t>Two specifications tested.</a:t>
            </a:r>
            <a:endParaRPr lang="en-US" sz="1700" dirty="0"/>
          </a:p>
          <a:p>
            <a:pPr indent="0" marL="0">
              <a:lnSpc>
                <a:spcPts val="2400"/>
              </a:lnSpc>
              <a:buNone/>
            </a:pPr>
            <a:r>
              <a:rPr lang="en-US" sz="1700" b="1" dirty="0">
                <a:solidFill>
                  <a:srgbClr val="F2F6F8"/>
                </a:solidFill>
                <a:latin typeface="Georgia" pitchFamily="34" charset="0"/>
                <a:ea typeface="Georgia" pitchFamily="34" charset="-122"/>
                <a:cs typeface="Georgia" pitchFamily="34" charset="-120"/>
              </a:rPr>
              <a:t>Then we stopped.</a:t>
            </a:r>
            <a:endParaRPr lang="en-US" sz="1700" dirty="0"/>
          </a:p>
        </p:txBody>
      </p:sp>
      <p:sp>
        <p:nvSpPr>
          <p:cNvPr id="40" name="Text 38"/>
          <p:cNvSpPr txBox="1"/>
          <p:nvPr/>
        </p:nvSpPr>
        <p:spPr>
          <a:xfrm>
            <a:off x="8138160" y="4434840"/>
            <a:ext cx="3108960" cy="1005840"/>
          </a:xfrm>
          <a:prstGeom prst="rect">
            <a:avLst/>
          </a:prstGeom>
          <a:noFill/>
          <a:ln/>
        </p:spPr>
        <p:txBody>
          <a:bodyPr wrap="square" lIns="0" tIns="0" rIns="0" bIns="0" rtlCol="0" anchor="ctr"/>
          <a:lstStyle/>
          <a:p>
            <a:pPr indent="0" marL="0">
              <a:lnSpc>
                <a:spcPts val="1500"/>
              </a:lnSpc>
              <a:buNone/>
            </a:pPr>
            <a:r>
              <a:rPr lang="en-US" sz="1100" dirty="0">
                <a:solidFill>
                  <a:srgbClr val="AFC4CF"/>
                </a:solidFill>
                <a:latin typeface="Trebuchet MS" pitchFamily="34" charset="0"/>
                <a:ea typeface="Trebuchet MS" pitchFamily="34" charset="-122"/>
                <a:cs typeface="Trebuchet MS" pitchFamily="34" charset="-120"/>
              </a:rPr>
              <a:t>Thresholds fixed on validation, applied once to the held-out season. Iterating until significance appeared would have invalidated the test.</a:t>
            </a:r>
            <a:endParaRPr lang="en-US" sz="1100" dirty="0"/>
          </a:p>
        </p:txBody>
      </p:sp>
      <p:sp>
        <p:nvSpPr>
          <p:cNvPr id="41" name="Text 39"/>
          <p:cNvSpPr txBox="1"/>
          <p:nvPr/>
        </p:nvSpPr>
        <p:spPr>
          <a:xfrm>
            <a:off x="685800" y="5852160"/>
            <a:ext cx="10789920" cy="411480"/>
          </a:xfrm>
          <a:prstGeom prst="rect">
            <a:avLst/>
          </a:prstGeom>
          <a:noFill/>
          <a:ln/>
        </p:spPr>
        <p:txBody>
          <a:bodyPr wrap="square" lIns="0" tIns="0" rIns="0" bIns="0" rtlCol="0" anchor="ctr"/>
          <a:lstStyle/>
          <a:p>
            <a:pPr indent="0" marL="0">
              <a:buNone/>
            </a:pPr>
            <a:r>
              <a:rPr lang="en-US" sz="1400" i="1" dirty="0">
                <a:solidFill>
                  <a:srgbClr val="F0A63C"/>
                </a:solidFill>
                <a:latin typeface="Georgia" pitchFamily="34" charset="0"/>
                <a:ea typeface="Georgia" pitchFamily="34" charset="-122"/>
                <a:cs typeface="Georgia" pitchFamily="34" charset="-120"/>
              </a:rPr>
              <a:t>The out-of-sample evidence did not support the hypothesis that the valuation residual identifies exploitable mispricing.</a:t>
            </a:r>
            <a:endParaRPr lang="en-US" sz="1400" dirty="0"/>
          </a:p>
        </p:txBody>
      </p:sp>
      <p:sp>
        <p:nvSpPr>
          <p:cNvPr id="42" name="Text 40"/>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1B7A8C"/>
                </a:solidFill>
                <a:latin typeface="Consolas" pitchFamily="34" charset="0"/>
                <a:ea typeface="Consolas" pitchFamily="34" charset="-122"/>
                <a:cs typeface="Consolas" pitchFamily="34" charset="-120"/>
              </a:rPr>
              <a:t>07 / 16</a:t>
            </a:r>
            <a:endParaRPr lang="en-US" sz="900" dirty="0"/>
          </a:p>
        </p:txBody>
      </p:sp>
      <p:sp>
        <p:nvSpPr>
          <p:cNvPr id="43" name="Text 41"/>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2C4A5C"/>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EVIDENCE 3, THE DISCOVERY</a:t>
            </a:r>
            <a:endParaRPr lang="en-US" sz="1000" dirty="0"/>
          </a:p>
        </p:txBody>
      </p:sp>
      <p:sp>
        <p:nvSpPr>
          <p:cNvPr id="4" name="Text 2"/>
          <p:cNvSpPr txBox="1"/>
          <p:nvPr/>
        </p:nvSpPr>
        <p:spPr>
          <a:xfrm>
            <a:off x="685800" y="841248"/>
            <a:ext cx="10058400" cy="1005840"/>
          </a:xfrm>
          <a:prstGeom prst="rect">
            <a:avLst/>
          </a:prstGeom>
          <a:noFill/>
          <a:ln/>
        </p:spPr>
        <p:txBody>
          <a:bodyPr wrap="square" lIns="0" tIns="0" rIns="0" bIns="0" rtlCol="0" anchor="t"/>
          <a:lstStyle/>
          <a:p>
            <a:pPr indent="0" marL="0">
              <a:lnSpc>
                <a:spcPts val="4200"/>
              </a:lnSpc>
              <a:buNone/>
            </a:pPr>
            <a:r>
              <a:rPr lang="en-US" sz="2700" b="1" dirty="0">
                <a:solidFill>
                  <a:srgbClr val="0C1A24"/>
                </a:solidFill>
                <a:latin typeface="Georgia" pitchFamily="34" charset="0"/>
                <a:ea typeface="Georgia" pitchFamily="34" charset="-122"/>
                <a:cs typeface="Georgia" pitchFamily="34" charset="-120"/>
              </a:rPr>
              <a:t>The residual was a risk signal, not an arbitrage signal</a:t>
            </a:r>
            <a:endParaRPr lang="en-US" sz="2700" dirty="0"/>
          </a:p>
        </p:txBody>
      </p:sp>
      <p:sp>
        <p:nvSpPr>
          <p:cNvPr id="5" name="Shape 3"/>
          <p:cNvSpPr/>
          <p:nvPr/>
        </p:nvSpPr>
        <p:spPr>
          <a:xfrm>
            <a:off x="685800" y="2139696"/>
            <a:ext cx="1463040" cy="41148"/>
          </a:xfrm>
          <a:prstGeom prst="rect">
            <a:avLst/>
          </a:prstGeom>
          <a:solidFill>
            <a:srgbClr val="1B7A8C"/>
          </a:solidFill>
          <a:ln w="12700">
            <a:solidFill>
              <a:srgbClr val="333333"/>
            </a:solidFill>
            <a:prstDash val="solid"/>
          </a:ln>
        </p:spPr>
      </p:sp>
      <p:sp>
        <p:nvSpPr>
          <p:cNvPr id="6" name="Text 4"/>
          <p:cNvSpPr txBox="1"/>
          <p:nvPr/>
        </p:nvSpPr>
        <p:spPr>
          <a:xfrm>
            <a:off x="685800" y="2331720"/>
            <a:ext cx="2651760" cy="868680"/>
          </a:xfrm>
          <a:prstGeom prst="rect">
            <a:avLst/>
          </a:prstGeom>
          <a:noFill/>
          <a:ln/>
        </p:spPr>
        <p:txBody>
          <a:bodyPr wrap="square" lIns="0" tIns="0" rIns="0" bIns="0" rtlCol="0" anchor="ctr"/>
          <a:lstStyle/>
          <a:p>
            <a:pPr indent="0" marL="0">
              <a:buNone/>
            </a:pPr>
            <a:r>
              <a:rPr lang="en-US" sz="4600" b="1" dirty="0">
                <a:solidFill>
                  <a:srgbClr val="E2574C"/>
                </a:solidFill>
                <a:latin typeface="Georgia" pitchFamily="34" charset="0"/>
                <a:ea typeface="Georgia" pitchFamily="34" charset="-122"/>
                <a:cs typeface="Georgia" pitchFamily="34" charset="-120"/>
              </a:rPr>
              <a:t>3.7×</a:t>
            </a:r>
            <a:endParaRPr lang="en-US" sz="4600" dirty="0"/>
          </a:p>
        </p:txBody>
      </p:sp>
      <p:sp>
        <p:nvSpPr>
          <p:cNvPr id="7" name="Text 5"/>
          <p:cNvSpPr txBox="1"/>
          <p:nvPr/>
        </p:nvSpPr>
        <p:spPr>
          <a:xfrm>
            <a:off x="685800" y="3163824"/>
            <a:ext cx="2651760" cy="256032"/>
          </a:xfrm>
          <a:prstGeom prst="rect">
            <a:avLst/>
          </a:prstGeom>
          <a:noFill/>
          <a:ln/>
        </p:spPr>
        <p:txBody>
          <a:bodyPr wrap="square" lIns="0" tIns="0" rIns="0" bIns="0" rtlCol="0" anchor="ctr"/>
          <a:lstStyle/>
          <a:p>
            <a:pPr indent="0" marL="0">
              <a:buNone/>
            </a:pPr>
            <a:r>
              <a:rPr lang="en-US" sz="900" b="1" spc="140" kern="0" dirty="0">
                <a:solidFill>
                  <a:srgbClr val="0C1A24"/>
                </a:solidFill>
                <a:latin typeface="Consolas" pitchFamily="34" charset="0"/>
                <a:ea typeface="Consolas" pitchFamily="34" charset="-122"/>
                <a:cs typeface="Consolas" pitchFamily="34" charset="-120"/>
              </a:rPr>
              <a:t>THE EXIT RATE</a:t>
            </a:r>
            <a:endParaRPr lang="en-US" sz="900" dirty="0"/>
          </a:p>
        </p:txBody>
      </p:sp>
      <p:sp>
        <p:nvSpPr>
          <p:cNvPr id="8" name="Text 6"/>
          <p:cNvSpPr txBox="1"/>
          <p:nvPr/>
        </p:nvSpPr>
        <p:spPr>
          <a:xfrm>
            <a:off x="685800" y="3419856"/>
            <a:ext cx="2606040" cy="365760"/>
          </a:xfrm>
          <a:prstGeom prst="rect">
            <a:avLst/>
          </a:prstGeom>
          <a:noFill/>
          <a:ln/>
        </p:spPr>
        <p:txBody>
          <a:bodyPr wrap="square" lIns="0" tIns="0" rIns="0" bIns="0" rtlCol="0" anchor="ctr"/>
          <a:lstStyle/>
          <a:p>
            <a:pPr indent="0" marL="0">
              <a:buNone/>
            </a:pPr>
            <a:r>
              <a:rPr lang="en-US" sz="1050" i="1" dirty="0">
                <a:solidFill>
                  <a:srgbClr val="5A6E7B"/>
                </a:solidFill>
                <a:latin typeface="Trebuchet MS" pitchFamily="34" charset="0"/>
                <a:ea typeface="Trebuchet MS" pitchFamily="34" charset="-122"/>
                <a:cs typeface="Trebuchet MS" pitchFamily="34" charset="-120"/>
              </a:rPr>
              <a:t>30.1% vs 8.2% benchmark</a:t>
            </a:r>
            <a:endParaRPr lang="en-US" sz="1050" dirty="0"/>
          </a:p>
        </p:txBody>
      </p:sp>
      <p:sp>
        <p:nvSpPr>
          <p:cNvPr id="9" name="Text 7"/>
          <p:cNvSpPr txBox="1"/>
          <p:nvPr/>
        </p:nvSpPr>
        <p:spPr>
          <a:xfrm>
            <a:off x="3474720" y="2331720"/>
            <a:ext cx="2651760" cy="868680"/>
          </a:xfrm>
          <a:prstGeom prst="rect">
            <a:avLst/>
          </a:prstGeom>
          <a:noFill/>
          <a:ln/>
        </p:spPr>
        <p:txBody>
          <a:bodyPr wrap="square" lIns="0" tIns="0" rIns="0" bIns="0" rtlCol="0" anchor="ctr"/>
          <a:lstStyle/>
          <a:p>
            <a:pPr indent="0" marL="0">
              <a:buNone/>
            </a:pPr>
            <a:r>
              <a:rPr lang="en-US" sz="4600" b="1" dirty="0">
                <a:solidFill>
                  <a:srgbClr val="1B7A8C"/>
                </a:solidFill>
                <a:latin typeface="Georgia" pitchFamily="34" charset="0"/>
                <a:ea typeface="Georgia" pitchFamily="34" charset="-122"/>
                <a:cs typeface="Georgia" pitchFamily="34" charset="-120"/>
              </a:rPr>
              <a:t>0.732</a:t>
            </a:r>
            <a:endParaRPr lang="en-US" sz="4600" dirty="0"/>
          </a:p>
        </p:txBody>
      </p:sp>
      <p:sp>
        <p:nvSpPr>
          <p:cNvPr id="10" name="Text 8"/>
          <p:cNvSpPr txBox="1"/>
          <p:nvPr/>
        </p:nvSpPr>
        <p:spPr>
          <a:xfrm>
            <a:off x="3474720" y="3163824"/>
            <a:ext cx="2651760" cy="256032"/>
          </a:xfrm>
          <a:prstGeom prst="rect">
            <a:avLst/>
          </a:prstGeom>
          <a:noFill/>
          <a:ln/>
        </p:spPr>
        <p:txBody>
          <a:bodyPr wrap="square" lIns="0" tIns="0" rIns="0" bIns="0" rtlCol="0" anchor="ctr"/>
          <a:lstStyle/>
          <a:p>
            <a:pPr indent="0" marL="0">
              <a:buNone/>
            </a:pPr>
            <a:r>
              <a:rPr lang="en-US" sz="900" b="1" spc="140" kern="0" dirty="0">
                <a:solidFill>
                  <a:srgbClr val="0C1A24"/>
                </a:solidFill>
                <a:latin typeface="Consolas" pitchFamily="34" charset="0"/>
                <a:ea typeface="Consolas" pitchFamily="34" charset="-122"/>
                <a:cs typeface="Consolas" pitchFamily="34" charset="-120"/>
              </a:rPr>
              <a:t>EXIT MODEL AUC</a:t>
            </a:r>
            <a:endParaRPr lang="en-US" sz="900" dirty="0"/>
          </a:p>
        </p:txBody>
      </p:sp>
      <p:sp>
        <p:nvSpPr>
          <p:cNvPr id="11" name="Text 9"/>
          <p:cNvSpPr txBox="1"/>
          <p:nvPr/>
        </p:nvSpPr>
        <p:spPr>
          <a:xfrm>
            <a:off x="3474720" y="3419856"/>
            <a:ext cx="2606040" cy="365760"/>
          </a:xfrm>
          <a:prstGeom prst="rect">
            <a:avLst/>
          </a:prstGeom>
          <a:noFill/>
          <a:ln/>
        </p:spPr>
        <p:txBody>
          <a:bodyPr wrap="square" lIns="0" tIns="0" rIns="0" bIns="0" rtlCol="0" anchor="ctr"/>
          <a:lstStyle/>
          <a:p>
            <a:pPr indent="0" marL="0">
              <a:buNone/>
            </a:pPr>
            <a:r>
              <a:rPr lang="en-US" sz="1050" i="1" dirty="0">
                <a:solidFill>
                  <a:srgbClr val="5A6E7B"/>
                </a:solidFill>
                <a:latin typeface="Trebuchet MS" pitchFamily="34" charset="0"/>
                <a:ea typeface="Trebuchet MS" pitchFamily="34" charset="-122"/>
                <a:cs typeface="Trebuchet MS" pitchFamily="34" charset="-120"/>
              </a:rPr>
              <a:t>held-out 2024/25, n = 1,508</a:t>
            </a:r>
            <a:endParaRPr lang="en-US" sz="1050" dirty="0"/>
          </a:p>
        </p:txBody>
      </p:sp>
      <p:sp>
        <p:nvSpPr>
          <p:cNvPr id="12" name="Text 10"/>
          <p:cNvSpPr txBox="1"/>
          <p:nvPr/>
        </p:nvSpPr>
        <p:spPr>
          <a:xfrm>
            <a:off x="6263640" y="2331720"/>
            <a:ext cx="2651760" cy="868680"/>
          </a:xfrm>
          <a:prstGeom prst="rect">
            <a:avLst/>
          </a:prstGeom>
          <a:noFill/>
          <a:ln/>
        </p:spPr>
        <p:txBody>
          <a:bodyPr wrap="square" lIns="0" tIns="0" rIns="0" bIns="0" rtlCol="0" anchor="ctr"/>
          <a:lstStyle/>
          <a:p>
            <a:pPr indent="0" marL="0">
              <a:buNone/>
            </a:pPr>
            <a:r>
              <a:rPr lang="en-US" sz="4600" b="1" dirty="0">
                <a:solidFill>
                  <a:srgbClr val="1B7A8C"/>
                </a:solidFill>
                <a:latin typeface="Georgia" pitchFamily="34" charset="0"/>
                <a:ea typeface="Georgia" pitchFamily="34" charset="-122"/>
                <a:cs typeface="Georgia" pitchFamily="34" charset="-120"/>
              </a:rPr>
              <a:t>9.5×</a:t>
            </a:r>
            <a:endParaRPr lang="en-US" sz="4600" dirty="0"/>
          </a:p>
        </p:txBody>
      </p:sp>
      <p:sp>
        <p:nvSpPr>
          <p:cNvPr id="13" name="Text 11"/>
          <p:cNvSpPr txBox="1"/>
          <p:nvPr/>
        </p:nvSpPr>
        <p:spPr>
          <a:xfrm>
            <a:off x="6263640" y="3163824"/>
            <a:ext cx="2651760" cy="256032"/>
          </a:xfrm>
          <a:prstGeom prst="rect">
            <a:avLst/>
          </a:prstGeom>
          <a:noFill/>
          <a:ln/>
        </p:spPr>
        <p:txBody>
          <a:bodyPr wrap="square" lIns="0" tIns="0" rIns="0" bIns="0" rtlCol="0" anchor="ctr"/>
          <a:lstStyle/>
          <a:p>
            <a:pPr indent="0" marL="0">
              <a:buNone/>
            </a:pPr>
            <a:r>
              <a:rPr lang="en-US" sz="900" b="1" spc="140" kern="0" dirty="0">
                <a:solidFill>
                  <a:srgbClr val="0C1A24"/>
                </a:solidFill>
                <a:latin typeface="Consolas" pitchFamily="34" charset="0"/>
                <a:ea typeface="Consolas" pitchFamily="34" charset="-122"/>
                <a:cs typeface="Consolas" pitchFamily="34" charset="-120"/>
              </a:rPr>
              <a:t>OBSERVED DECILE SPREAD</a:t>
            </a:r>
            <a:endParaRPr lang="en-US" sz="900" dirty="0"/>
          </a:p>
        </p:txBody>
      </p:sp>
      <p:sp>
        <p:nvSpPr>
          <p:cNvPr id="14" name="Text 12"/>
          <p:cNvSpPr txBox="1"/>
          <p:nvPr/>
        </p:nvSpPr>
        <p:spPr>
          <a:xfrm>
            <a:off x="6263640" y="3419856"/>
            <a:ext cx="2606040" cy="365760"/>
          </a:xfrm>
          <a:prstGeom prst="rect">
            <a:avLst/>
          </a:prstGeom>
          <a:noFill/>
          <a:ln/>
        </p:spPr>
        <p:txBody>
          <a:bodyPr wrap="square" lIns="0" tIns="0" rIns="0" bIns="0" rtlCol="0" anchor="ctr"/>
          <a:lstStyle/>
          <a:p>
            <a:pPr indent="0" marL="0">
              <a:buNone/>
            </a:pPr>
            <a:r>
              <a:rPr lang="en-US" sz="1050" i="1" dirty="0">
                <a:solidFill>
                  <a:srgbClr val="5A6E7B"/>
                </a:solidFill>
                <a:latin typeface="Trebuchet MS" pitchFamily="34" charset="0"/>
                <a:ea typeface="Trebuchet MS" pitchFamily="34" charset="-122"/>
                <a:cs typeface="Trebuchet MS" pitchFamily="34" charset="-120"/>
              </a:rPr>
              <a:t>7.3% lowest vs 69.5% highest</a:t>
            </a:r>
            <a:endParaRPr lang="en-US" sz="1050" dirty="0"/>
          </a:p>
        </p:txBody>
      </p:sp>
      <p:sp>
        <p:nvSpPr>
          <p:cNvPr id="15" name="Shape 13"/>
          <p:cNvSpPr/>
          <p:nvPr/>
        </p:nvSpPr>
        <p:spPr>
          <a:xfrm>
            <a:off x="9098280" y="2331720"/>
            <a:ext cx="2377440" cy="1417320"/>
          </a:xfrm>
          <a:prstGeom prst="rect">
            <a:avLst/>
          </a:prstGeom>
          <a:solidFill>
            <a:srgbClr val="FBECEA"/>
          </a:solidFill>
          <a:ln w="12700">
            <a:solidFill>
              <a:srgbClr val="E2574C"/>
            </a:solidFill>
            <a:prstDash val="solid"/>
          </a:ln>
        </p:spPr>
      </p:sp>
      <p:sp>
        <p:nvSpPr>
          <p:cNvPr id="16" name="Text 14"/>
          <p:cNvSpPr txBox="1"/>
          <p:nvPr/>
        </p:nvSpPr>
        <p:spPr>
          <a:xfrm>
            <a:off x="9235440" y="2651760"/>
            <a:ext cx="2103120" cy="411480"/>
          </a:xfrm>
          <a:prstGeom prst="rect">
            <a:avLst/>
          </a:prstGeom>
          <a:noFill/>
          <a:ln/>
        </p:spPr>
        <p:txBody>
          <a:bodyPr wrap="square" lIns="0" tIns="0" rIns="0" bIns="0" rtlCol="0" anchor="ctr"/>
          <a:lstStyle/>
          <a:p>
            <a:pPr algn="ctr" indent="0" marL="0">
              <a:buNone/>
            </a:pPr>
            <a:r>
              <a:rPr lang="en-US" sz="1900" b="1" dirty="0">
                <a:solidFill>
                  <a:srgbClr val="E2574C"/>
                </a:solidFill>
                <a:latin typeface="Georgia" pitchFamily="34" charset="0"/>
                <a:ea typeface="Georgia" pitchFamily="34" charset="-122"/>
                <a:cs typeface="Georgia" pitchFamily="34" charset="-120"/>
              </a:rPr>
              <a:t>p = 2.6 × 10⁻¹¹</a:t>
            </a:r>
            <a:endParaRPr lang="en-US" sz="1900" dirty="0"/>
          </a:p>
        </p:txBody>
      </p:sp>
      <p:sp>
        <p:nvSpPr>
          <p:cNvPr id="17" name="Text 15"/>
          <p:cNvSpPr txBox="1"/>
          <p:nvPr/>
        </p:nvSpPr>
        <p:spPr>
          <a:xfrm>
            <a:off x="9235440" y="3090672"/>
            <a:ext cx="2103120" cy="274320"/>
          </a:xfrm>
          <a:prstGeom prst="rect">
            <a:avLst/>
          </a:prstGeom>
          <a:noFill/>
          <a:ln/>
        </p:spPr>
        <p:txBody>
          <a:bodyPr wrap="square" lIns="0" tIns="0" rIns="0" bIns="0" rtlCol="0" anchor="ctr"/>
          <a:lstStyle/>
          <a:p>
            <a:pPr algn="ctr" indent="0" marL="0">
              <a:buNone/>
            </a:pPr>
            <a:r>
              <a:rPr lang="en-US" sz="950" dirty="0">
                <a:solidFill>
                  <a:srgbClr val="8A5049"/>
                </a:solidFill>
                <a:latin typeface="Consolas" pitchFamily="34" charset="0"/>
                <a:ea typeface="Consolas" pitchFamily="34" charset="-122"/>
                <a:cs typeface="Consolas" pitchFamily="34" charset="-120"/>
              </a:rPr>
              <a:t>Fisher exact  ·  OR 4.82</a:t>
            </a:r>
            <a:endParaRPr lang="en-US" sz="950" dirty="0"/>
          </a:p>
        </p:txBody>
      </p:sp>
      <p:graphicFrame>
        <p:nvGraphicFramePr>
          <p:cNvPr id="18" name="Chart 0" descr=""/>
          <p:cNvGraphicFramePr/>
          <p:nvPr/>
        </p:nvGraphicFramePr>
        <p:xfrm>
          <a:off x="548640" y="3977640"/>
          <a:ext cx="7223760" cy="178308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8046720" y="3977640"/>
            <a:ext cx="3429000" cy="1783080"/>
          </a:xfrm>
          <a:prstGeom prst="rect">
            <a:avLst/>
          </a:prstGeom>
          <a:solidFill>
            <a:srgbClr val="FFFFFF"/>
          </a:solidFill>
          <a:ln w="12700">
            <a:solidFill>
              <a:srgbClr val="D3DFE6"/>
            </a:solidFill>
            <a:prstDash val="solid"/>
          </a:ln>
        </p:spPr>
      </p:sp>
      <p:sp>
        <p:nvSpPr>
          <p:cNvPr id="20" name="Shape 17"/>
          <p:cNvSpPr/>
          <p:nvPr/>
        </p:nvSpPr>
        <p:spPr>
          <a:xfrm>
            <a:off x="8046720" y="3977640"/>
            <a:ext cx="41148" cy="1783080"/>
          </a:xfrm>
          <a:prstGeom prst="rect">
            <a:avLst/>
          </a:prstGeom>
          <a:solidFill>
            <a:srgbClr val="1B7A8C"/>
          </a:solidFill>
          <a:ln w="12700">
            <a:solidFill>
              <a:srgbClr val="333333"/>
            </a:solidFill>
            <a:prstDash val="solid"/>
          </a:ln>
        </p:spPr>
      </p:sp>
      <p:sp>
        <p:nvSpPr>
          <p:cNvPr id="21" name="Text 18"/>
          <p:cNvSpPr txBox="1"/>
          <p:nvPr/>
        </p:nvSpPr>
        <p:spPr>
          <a:xfrm>
            <a:off x="8275320" y="4160520"/>
            <a:ext cx="3063240" cy="685800"/>
          </a:xfrm>
          <a:prstGeom prst="rect">
            <a:avLst/>
          </a:prstGeom>
          <a:noFill/>
          <a:ln/>
        </p:spPr>
        <p:txBody>
          <a:bodyPr wrap="square" lIns="0" tIns="0" rIns="0" bIns="0" rtlCol="0" anchor="ctr"/>
          <a:lstStyle/>
          <a:p>
            <a:pPr indent="0" marL="0">
              <a:lnSpc>
                <a:spcPts val="1900"/>
              </a:lnSpc>
              <a:buNone/>
            </a:pPr>
            <a:r>
              <a:rPr lang="en-US" sz="1450" b="1" dirty="0">
                <a:solidFill>
                  <a:srgbClr val="0C1A24"/>
                </a:solidFill>
                <a:latin typeface="Georgia" pitchFamily="34" charset="0"/>
                <a:ea typeface="Georgia" pitchFamily="34" charset="-122"/>
                <a:cs typeface="Georgia" pitchFamily="34" charset="-120"/>
              </a:rPr>
              <a:t>Where a model disagrees with the market, the market is usually right</a:t>
            </a:r>
            <a:endParaRPr lang="en-US" sz="1450" dirty="0"/>
          </a:p>
        </p:txBody>
      </p:sp>
      <p:sp>
        <p:nvSpPr>
          <p:cNvPr id="22" name="Text 19"/>
          <p:cNvSpPr txBox="1"/>
          <p:nvPr/>
        </p:nvSpPr>
        <p:spPr>
          <a:xfrm>
            <a:off x="8275320" y="4892040"/>
            <a:ext cx="3063240" cy="777240"/>
          </a:xfrm>
          <a:prstGeom prst="rect">
            <a:avLst/>
          </a:prstGeom>
          <a:noFill/>
          <a:ln/>
        </p:spPr>
        <p:txBody>
          <a:bodyPr wrap="square" lIns="0" tIns="0" rIns="0" bIns="0" rtlCol="0" anchor="ctr"/>
          <a:lstStyle/>
          <a:p>
            <a:pPr indent="0" marL="0">
              <a:lnSpc>
                <a:spcPts val="1500"/>
              </a:lnSpc>
              <a:buNone/>
            </a:pPr>
            <a:r>
              <a:rPr lang="en-US" sz="1100" dirty="0">
                <a:solidFill>
                  <a:srgbClr val="41525E"/>
                </a:solidFill>
                <a:latin typeface="Trebuchet MS" pitchFamily="34" charset="0"/>
                <a:ea typeface="Trebuchet MS" pitchFamily="34" charset="-122"/>
                <a:cs typeface="Trebuchet MS" pitchFamily="34" charset="-120"/>
              </a:rPr>
              <a:t>A large unexplained gap more often signals information the market holds and public match data does not: contract, injury, role.</a:t>
            </a:r>
            <a:endParaRPr lang="en-US" sz="1100" dirty="0"/>
          </a:p>
        </p:txBody>
      </p:sp>
      <p:sp>
        <p:nvSpPr>
          <p:cNvPr id="23" name="Text 20"/>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08 / 16</a:t>
            </a:r>
            <a:endParaRPr lang="en-US" sz="900" dirty="0"/>
          </a:p>
        </p:txBody>
      </p:sp>
      <p:sp>
        <p:nvSpPr>
          <p:cNvPr id="24" name="Text 21"/>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EXPLAINABLE AI</a:t>
            </a:r>
            <a:endParaRPr lang="en-US" sz="1000" dirty="0"/>
          </a:p>
        </p:txBody>
      </p:sp>
      <p:sp>
        <p:nvSpPr>
          <p:cNvPr id="4" name="Text 2"/>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2800" b="1" dirty="0">
                <a:solidFill>
                  <a:srgbClr val="0C1A24"/>
                </a:solidFill>
                <a:latin typeface="Georgia" pitchFamily="34" charset="0"/>
                <a:ea typeface="Georgia" pitchFamily="34" charset="-122"/>
                <a:cs typeface="Georgia" pitchFamily="34" charset="-120"/>
              </a:rPr>
              <a:t>Two different questions, two different answers</a:t>
            </a:r>
            <a:endParaRPr lang="en-US" sz="2800" dirty="0"/>
          </a:p>
        </p:txBody>
      </p:sp>
      <p:sp>
        <p:nvSpPr>
          <p:cNvPr id="5" name="Shape 3"/>
          <p:cNvSpPr/>
          <p:nvPr/>
        </p:nvSpPr>
        <p:spPr>
          <a:xfrm>
            <a:off x="685800" y="2139696"/>
            <a:ext cx="1463040" cy="41148"/>
          </a:xfrm>
          <a:prstGeom prst="rect">
            <a:avLst/>
          </a:prstGeom>
          <a:solidFill>
            <a:srgbClr val="1B7A8C"/>
          </a:solidFill>
          <a:ln w="12700">
            <a:solidFill>
              <a:srgbClr val="333333"/>
            </a:solidFill>
            <a:prstDash val="solid"/>
          </a:ln>
        </p:spPr>
      </p:sp>
      <p:sp>
        <p:nvSpPr>
          <p:cNvPr id="6" name="Shape 4"/>
          <p:cNvSpPr/>
          <p:nvPr/>
        </p:nvSpPr>
        <p:spPr>
          <a:xfrm>
            <a:off x="685800" y="2331720"/>
            <a:ext cx="5257800" cy="3246120"/>
          </a:xfrm>
          <a:prstGeom prst="rect">
            <a:avLst/>
          </a:prstGeom>
          <a:solidFill>
            <a:srgbClr val="FFFFFF"/>
          </a:solidFill>
          <a:ln w="12700">
            <a:solidFill>
              <a:srgbClr val="D3DFE6"/>
            </a:solidFill>
            <a:prstDash val="solid"/>
          </a:ln>
        </p:spPr>
      </p:sp>
      <p:sp>
        <p:nvSpPr>
          <p:cNvPr id="7" name="Text 5"/>
          <p:cNvSpPr txBox="1"/>
          <p:nvPr/>
        </p:nvSpPr>
        <p:spPr>
          <a:xfrm>
            <a:off x="960120" y="2514600"/>
            <a:ext cx="4754880" cy="365760"/>
          </a:xfrm>
          <a:prstGeom prst="rect">
            <a:avLst/>
          </a:prstGeom>
          <a:noFill/>
          <a:ln/>
        </p:spPr>
        <p:txBody>
          <a:bodyPr wrap="square" lIns="0" tIns="0" rIns="0" bIns="0" rtlCol="0" anchor="ctr"/>
          <a:lstStyle/>
          <a:p>
            <a:pPr indent="0" marL="0">
              <a:buNone/>
            </a:pPr>
            <a:r>
              <a:rPr lang="en-US" sz="1900" b="1" dirty="0">
                <a:solidFill>
                  <a:srgbClr val="0C1A24"/>
                </a:solidFill>
                <a:latin typeface="Georgia" pitchFamily="34" charset="0"/>
                <a:ea typeface="Georgia" pitchFamily="34" charset="-122"/>
                <a:cs typeface="Georgia" pitchFamily="34" charset="-120"/>
              </a:rPr>
              <a:t>Facundo Buonanotte</a:t>
            </a:r>
            <a:endParaRPr lang="en-US" sz="1900" dirty="0"/>
          </a:p>
        </p:txBody>
      </p:sp>
      <p:sp>
        <p:nvSpPr>
          <p:cNvPr id="8" name="Text 6"/>
          <p:cNvSpPr txBox="1"/>
          <p:nvPr/>
        </p:nvSpPr>
        <p:spPr>
          <a:xfrm>
            <a:off x="960120" y="2880360"/>
            <a:ext cx="4754880" cy="274320"/>
          </a:xfrm>
          <a:prstGeom prst="rect">
            <a:avLst/>
          </a:prstGeom>
          <a:noFill/>
          <a:ln/>
        </p:spPr>
        <p:txBody>
          <a:bodyPr wrap="square" lIns="0" tIns="0" rIns="0" bIns="0" rtlCol="0" anchor="ctr"/>
          <a:lstStyle/>
          <a:p>
            <a:pPr indent="0" marL="0">
              <a:buNone/>
            </a:pPr>
            <a:r>
              <a:rPr lang="en-US" sz="950" dirty="0">
                <a:solidFill>
                  <a:srgbClr val="7C8F9B"/>
                </a:solidFill>
                <a:latin typeface="Consolas" pitchFamily="34" charset="0"/>
                <a:ea typeface="Consolas" pitchFamily="34" charset="-122"/>
                <a:cs typeface="Consolas" pitchFamily="34" charset="-120"/>
              </a:rPr>
              <a:t>Midfield · Premier League · age 20 · market €20.0M · model €20.3M</a:t>
            </a:r>
            <a:endParaRPr lang="en-US" sz="950" dirty="0"/>
          </a:p>
        </p:txBody>
      </p:sp>
      <p:sp>
        <p:nvSpPr>
          <p:cNvPr id="9" name="Text 7"/>
          <p:cNvSpPr txBox="1"/>
          <p:nvPr/>
        </p:nvSpPr>
        <p:spPr>
          <a:xfrm>
            <a:off x="960120" y="3273552"/>
            <a:ext cx="4754880" cy="256032"/>
          </a:xfrm>
          <a:prstGeom prst="rect">
            <a:avLst/>
          </a:prstGeom>
          <a:noFill/>
          <a:ln/>
        </p:spPr>
        <p:txBody>
          <a:bodyPr wrap="square" lIns="0" tIns="0" rIns="0" bIns="0" rtlCol="0" anchor="ctr"/>
          <a:lstStyle/>
          <a:p>
            <a:pPr indent="0" marL="0">
              <a:buNone/>
            </a:pPr>
            <a:r>
              <a:rPr lang="en-US" sz="900" b="1" spc="120" kern="0" dirty="0">
                <a:solidFill>
                  <a:srgbClr val="1B7A8C"/>
                </a:solidFill>
                <a:latin typeface="Consolas" pitchFamily="34" charset="0"/>
                <a:ea typeface="Consolas" pitchFamily="34" charset="-122"/>
                <a:cs typeface="Consolas" pitchFamily="34" charset="-120"/>
              </a:rPr>
              <a:t>Why the model values him this way</a:t>
            </a:r>
            <a:endParaRPr lang="en-US" sz="900" dirty="0"/>
          </a:p>
        </p:txBody>
      </p:sp>
      <p:sp>
        <p:nvSpPr>
          <p:cNvPr id="10" name="Text 8"/>
          <p:cNvSpPr txBox="1"/>
          <p:nvPr/>
        </p:nvSpPr>
        <p:spPr>
          <a:xfrm>
            <a:off x="960120" y="3529584"/>
            <a:ext cx="4754880" cy="566928"/>
          </a:xfrm>
          <a:prstGeom prst="rect">
            <a:avLst/>
          </a:prstGeom>
          <a:noFill/>
          <a:ln/>
        </p:spPr>
        <p:txBody>
          <a:bodyPr wrap="square" lIns="0" tIns="0" rIns="0" bIns="0" rtlCol="0" anchor="ctr"/>
          <a:lstStyle/>
          <a:p>
            <a:pPr indent="0" marL="0">
              <a:lnSpc>
                <a:spcPts val="1500"/>
              </a:lnSpc>
              <a:buNone/>
            </a:pPr>
            <a:r>
              <a:rPr lang="en-US" sz="1100" dirty="0">
                <a:solidFill>
                  <a:srgbClr val="41525E"/>
                </a:solidFill>
                <a:latin typeface="Trebuchet MS" pitchFamily="34" charset="0"/>
                <a:ea typeface="Trebuchet MS" pitchFamily="34" charset="-122"/>
                <a:cs typeface="Trebuchet MS" pitchFamily="34" charset="-120"/>
              </a:rPr>
              <a:t>age +0.764  ·  goal contributions +0.137  ·  league context +0.344</a:t>
            </a:r>
            <a:endParaRPr lang="en-US" sz="1100" dirty="0"/>
          </a:p>
          <a:p>
            <a:pPr indent="0" marL="0">
              <a:lnSpc>
                <a:spcPts val="1500"/>
              </a:lnSpc>
              <a:buNone/>
            </a:pPr>
            <a:r>
              <a:rPr lang="en-US" sz="1100" dirty="0">
                <a:solidFill>
                  <a:srgbClr val="41525E"/>
                </a:solidFill>
                <a:latin typeface="Trebuchet MS" pitchFamily="34" charset="0"/>
                <a:ea typeface="Trebuchet MS" pitchFamily="34" charset="-122"/>
                <a:cs typeface="Trebuchet MS" pitchFamily="34" charset="-120"/>
              </a:rPr>
              <a:t>minutes −0.143  ·  squad rotation −0.082</a:t>
            </a:r>
            <a:endParaRPr lang="en-US" sz="1100" dirty="0"/>
          </a:p>
        </p:txBody>
      </p:sp>
      <p:sp>
        <p:nvSpPr>
          <p:cNvPr id="11" name="Text 9"/>
          <p:cNvSpPr txBox="1"/>
          <p:nvPr/>
        </p:nvSpPr>
        <p:spPr>
          <a:xfrm>
            <a:off x="960120" y="4169664"/>
            <a:ext cx="4754880" cy="256032"/>
          </a:xfrm>
          <a:prstGeom prst="rect">
            <a:avLst/>
          </a:prstGeom>
          <a:noFill/>
          <a:ln/>
        </p:spPr>
        <p:txBody>
          <a:bodyPr wrap="square" lIns="0" tIns="0" rIns="0" bIns="0" rtlCol="0" anchor="ctr"/>
          <a:lstStyle/>
          <a:p>
            <a:pPr indent="0" marL="0">
              <a:buNone/>
            </a:pPr>
            <a:r>
              <a:rPr lang="en-US" sz="900" b="1" spc="120" kern="0" dirty="0">
                <a:solidFill>
                  <a:srgbClr val="F0A63C"/>
                </a:solidFill>
                <a:latin typeface="Consolas" pitchFamily="34" charset="0"/>
                <a:ea typeface="Consolas" pitchFamily="34" charset="-122"/>
                <a:cs typeface="Consolas" pitchFamily="34" charset="-120"/>
              </a:rPr>
              <a:t>Why the optimizer selected him</a:t>
            </a:r>
            <a:endParaRPr lang="en-US" sz="900" dirty="0"/>
          </a:p>
        </p:txBody>
      </p:sp>
      <p:sp>
        <p:nvSpPr>
          <p:cNvPr id="12" name="Text 10"/>
          <p:cNvSpPr txBox="1"/>
          <p:nvPr/>
        </p:nvSpPr>
        <p:spPr>
          <a:xfrm>
            <a:off x="960120" y="4425696"/>
            <a:ext cx="4754880" cy="384048"/>
          </a:xfrm>
          <a:prstGeom prst="rect">
            <a:avLst/>
          </a:prstGeom>
          <a:noFill/>
          <a:ln/>
        </p:spPr>
        <p:txBody>
          <a:bodyPr wrap="square" lIns="0" tIns="0" rIns="0" bIns="0" rtlCol="0" anchor="ctr"/>
          <a:lstStyle/>
          <a:p>
            <a:pPr indent="0" marL="0">
              <a:buNone/>
            </a:pPr>
            <a:r>
              <a:rPr lang="en-US" sz="1100" dirty="0">
                <a:solidFill>
                  <a:srgbClr val="41525E"/>
                </a:solidFill>
                <a:latin typeface="Trebuchet MS" pitchFamily="34" charset="0"/>
                <a:ea typeface="Trebuchet MS" pitchFamily="34" charset="-122"/>
                <a:cs typeface="Trebuchet MS" pitchFamily="34" charset="-120"/>
              </a:rPr>
              <a:t>Quality 86th percentile · potential 0.77 · value efficiency 0.57</a:t>
            </a:r>
            <a:endParaRPr lang="en-US" sz="1100" dirty="0"/>
          </a:p>
        </p:txBody>
      </p:sp>
      <p:sp>
        <p:nvSpPr>
          <p:cNvPr id="13" name="Text 11"/>
          <p:cNvSpPr txBox="1"/>
          <p:nvPr/>
        </p:nvSpPr>
        <p:spPr>
          <a:xfrm>
            <a:off x="960120" y="4846320"/>
            <a:ext cx="4754880" cy="594360"/>
          </a:xfrm>
          <a:prstGeom prst="rect">
            <a:avLst/>
          </a:prstGeom>
          <a:noFill/>
          <a:ln/>
        </p:spPr>
        <p:txBody>
          <a:bodyPr wrap="square" lIns="0" tIns="0" rIns="0" bIns="0" rtlCol="0" anchor="ctr"/>
          <a:lstStyle/>
          <a:p>
            <a:pPr indent="0" marL="0">
              <a:lnSpc>
                <a:spcPts val="1500"/>
              </a:lnSpc>
              <a:buNone/>
            </a:pPr>
            <a:r>
              <a:rPr lang="en-US" sz="1150" i="1" dirty="0">
                <a:solidFill>
                  <a:srgbClr val="F0A63C"/>
                </a:solidFill>
                <a:latin typeface="Georgia" pitchFamily="34" charset="0"/>
                <a:ea typeface="Georgia" pitchFamily="34" charset="-122"/>
                <a:cs typeface="Georgia" pitchFamily="34" charset="-120"/>
              </a:rPr>
              <a:t>His valuation gap is essentially zero. He was selected on quality and development potential, not on a bargain.</a:t>
            </a:r>
            <a:endParaRPr lang="en-US" sz="1150" dirty="0"/>
          </a:p>
        </p:txBody>
      </p:sp>
      <p:sp>
        <p:nvSpPr>
          <p:cNvPr id="14" name="Shape 12"/>
          <p:cNvSpPr/>
          <p:nvPr/>
        </p:nvSpPr>
        <p:spPr>
          <a:xfrm>
            <a:off x="6217920" y="2331720"/>
            <a:ext cx="5257800" cy="3246120"/>
          </a:xfrm>
          <a:prstGeom prst="rect">
            <a:avLst/>
          </a:prstGeom>
          <a:solidFill>
            <a:srgbClr val="FFFFFF"/>
          </a:solidFill>
          <a:ln w="12700">
            <a:solidFill>
              <a:srgbClr val="D3DFE6"/>
            </a:solidFill>
            <a:prstDash val="solid"/>
          </a:ln>
        </p:spPr>
      </p:sp>
      <p:sp>
        <p:nvSpPr>
          <p:cNvPr id="15" name="Text 13"/>
          <p:cNvSpPr txBox="1"/>
          <p:nvPr/>
        </p:nvSpPr>
        <p:spPr>
          <a:xfrm>
            <a:off x="6492240" y="2514600"/>
            <a:ext cx="4754880" cy="365760"/>
          </a:xfrm>
          <a:prstGeom prst="rect">
            <a:avLst/>
          </a:prstGeom>
          <a:noFill/>
          <a:ln/>
        </p:spPr>
        <p:txBody>
          <a:bodyPr wrap="square" lIns="0" tIns="0" rIns="0" bIns="0" rtlCol="0" anchor="ctr"/>
          <a:lstStyle/>
          <a:p>
            <a:pPr indent="0" marL="0">
              <a:buNone/>
            </a:pPr>
            <a:r>
              <a:rPr lang="en-US" sz="1900" b="1" dirty="0">
                <a:solidFill>
                  <a:srgbClr val="0C1A24"/>
                </a:solidFill>
                <a:latin typeface="Georgia" pitchFamily="34" charset="0"/>
                <a:ea typeface="Georgia" pitchFamily="34" charset="-122"/>
                <a:cs typeface="Georgia" pitchFamily="34" charset="-120"/>
              </a:rPr>
              <a:t>Diego Coppola</a:t>
            </a:r>
            <a:endParaRPr lang="en-US" sz="1900" dirty="0"/>
          </a:p>
        </p:txBody>
      </p:sp>
      <p:sp>
        <p:nvSpPr>
          <p:cNvPr id="16" name="Text 14"/>
          <p:cNvSpPr txBox="1"/>
          <p:nvPr/>
        </p:nvSpPr>
        <p:spPr>
          <a:xfrm>
            <a:off x="6492240" y="2880360"/>
            <a:ext cx="4754880" cy="274320"/>
          </a:xfrm>
          <a:prstGeom prst="rect">
            <a:avLst/>
          </a:prstGeom>
          <a:noFill/>
          <a:ln/>
        </p:spPr>
        <p:txBody>
          <a:bodyPr wrap="square" lIns="0" tIns="0" rIns="0" bIns="0" rtlCol="0" anchor="ctr"/>
          <a:lstStyle/>
          <a:p>
            <a:pPr indent="0" marL="0">
              <a:buNone/>
            </a:pPr>
            <a:r>
              <a:rPr lang="en-US" sz="950" dirty="0">
                <a:solidFill>
                  <a:srgbClr val="7C8F9B"/>
                </a:solidFill>
                <a:latin typeface="Consolas" pitchFamily="34" charset="0"/>
                <a:ea typeface="Consolas" pitchFamily="34" charset="-122"/>
                <a:cs typeface="Consolas" pitchFamily="34" charset="-120"/>
              </a:rPr>
              <a:t>Defender · Serie A · age 21 · market €10.0M · model €27.1M</a:t>
            </a:r>
            <a:endParaRPr lang="en-US" sz="950" dirty="0"/>
          </a:p>
        </p:txBody>
      </p:sp>
      <p:sp>
        <p:nvSpPr>
          <p:cNvPr id="17" name="Text 15"/>
          <p:cNvSpPr txBox="1"/>
          <p:nvPr/>
        </p:nvSpPr>
        <p:spPr>
          <a:xfrm>
            <a:off x="6492240" y="3273552"/>
            <a:ext cx="4754880" cy="256032"/>
          </a:xfrm>
          <a:prstGeom prst="rect">
            <a:avLst/>
          </a:prstGeom>
          <a:noFill/>
          <a:ln/>
        </p:spPr>
        <p:txBody>
          <a:bodyPr wrap="square" lIns="0" tIns="0" rIns="0" bIns="0" rtlCol="0" anchor="ctr"/>
          <a:lstStyle/>
          <a:p>
            <a:pPr indent="0" marL="0">
              <a:buNone/>
            </a:pPr>
            <a:r>
              <a:rPr lang="en-US" sz="900" b="1" spc="120" kern="0" dirty="0">
                <a:solidFill>
                  <a:srgbClr val="1B7A8C"/>
                </a:solidFill>
                <a:latin typeface="Consolas" pitchFamily="34" charset="0"/>
                <a:ea typeface="Consolas" pitchFamily="34" charset="-122"/>
                <a:cs typeface="Consolas" pitchFamily="34" charset="-120"/>
              </a:rPr>
              <a:t>Why the model values him this way</a:t>
            </a:r>
            <a:endParaRPr lang="en-US" sz="900" dirty="0"/>
          </a:p>
        </p:txBody>
      </p:sp>
      <p:sp>
        <p:nvSpPr>
          <p:cNvPr id="18" name="Text 16"/>
          <p:cNvSpPr txBox="1"/>
          <p:nvPr/>
        </p:nvSpPr>
        <p:spPr>
          <a:xfrm>
            <a:off x="6492240" y="3529584"/>
            <a:ext cx="4754880" cy="566928"/>
          </a:xfrm>
          <a:prstGeom prst="rect">
            <a:avLst/>
          </a:prstGeom>
          <a:noFill/>
          <a:ln/>
        </p:spPr>
        <p:txBody>
          <a:bodyPr wrap="square" lIns="0" tIns="0" rIns="0" bIns="0" rtlCol="0" anchor="ctr"/>
          <a:lstStyle/>
          <a:p>
            <a:pPr indent="0" marL="0">
              <a:lnSpc>
                <a:spcPts val="1500"/>
              </a:lnSpc>
              <a:buNone/>
            </a:pPr>
            <a:r>
              <a:rPr lang="en-US" sz="1100" dirty="0">
                <a:solidFill>
                  <a:srgbClr val="41525E"/>
                </a:solidFill>
                <a:latin typeface="Trebuchet MS" pitchFamily="34" charset="0"/>
                <a:ea typeface="Trebuchet MS" pitchFamily="34" charset="-122"/>
                <a:cs typeface="Trebuchet MS" pitchFamily="34" charset="-120"/>
              </a:rPr>
              <a:t>age +0.955  ·  league minutes +0.336  ·  height +0.138</a:t>
            </a:r>
            <a:endParaRPr lang="en-US" sz="1100" dirty="0"/>
          </a:p>
          <a:p>
            <a:pPr indent="0" marL="0">
              <a:lnSpc>
                <a:spcPts val="1500"/>
              </a:lnSpc>
              <a:buNone/>
            </a:pPr>
            <a:r>
              <a:rPr lang="en-US" sz="1100" dirty="0">
                <a:solidFill>
                  <a:srgbClr val="41525E"/>
                </a:solidFill>
                <a:latin typeface="Trebuchet MS" pitchFamily="34" charset="0"/>
                <a:ea typeface="Trebuchet MS" pitchFamily="34" charset="-122"/>
                <a:cs typeface="Trebuchet MS" pitchFamily="34" charset="-120"/>
              </a:rPr>
              <a:t>goal contributions −0.179  ·  Serie A −0.155</a:t>
            </a:r>
            <a:endParaRPr lang="en-US" sz="1100" dirty="0"/>
          </a:p>
        </p:txBody>
      </p:sp>
      <p:sp>
        <p:nvSpPr>
          <p:cNvPr id="19" name="Text 17"/>
          <p:cNvSpPr txBox="1"/>
          <p:nvPr/>
        </p:nvSpPr>
        <p:spPr>
          <a:xfrm>
            <a:off x="6492240" y="4169664"/>
            <a:ext cx="4754880" cy="256032"/>
          </a:xfrm>
          <a:prstGeom prst="rect">
            <a:avLst/>
          </a:prstGeom>
          <a:noFill/>
          <a:ln/>
        </p:spPr>
        <p:txBody>
          <a:bodyPr wrap="square" lIns="0" tIns="0" rIns="0" bIns="0" rtlCol="0" anchor="ctr"/>
          <a:lstStyle/>
          <a:p>
            <a:pPr indent="0" marL="0">
              <a:buNone/>
            </a:pPr>
            <a:r>
              <a:rPr lang="en-US" sz="900" b="1" spc="120" kern="0" dirty="0">
                <a:solidFill>
                  <a:srgbClr val="F0A63C"/>
                </a:solidFill>
                <a:latin typeface="Consolas" pitchFamily="34" charset="0"/>
                <a:ea typeface="Consolas" pitchFamily="34" charset="-122"/>
                <a:cs typeface="Consolas" pitchFamily="34" charset="-120"/>
              </a:rPr>
              <a:t>What the model does not know</a:t>
            </a:r>
            <a:endParaRPr lang="en-US" sz="900" dirty="0"/>
          </a:p>
        </p:txBody>
      </p:sp>
      <p:sp>
        <p:nvSpPr>
          <p:cNvPr id="20" name="Text 18"/>
          <p:cNvSpPr txBox="1"/>
          <p:nvPr/>
        </p:nvSpPr>
        <p:spPr>
          <a:xfrm>
            <a:off x="6492240" y="4425696"/>
            <a:ext cx="4754880" cy="384048"/>
          </a:xfrm>
          <a:prstGeom prst="rect">
            <a:avLst/>
          </a:prstGeom>
          <a:noFill/>
          <a:ln/>
        </p:spPr>
        <p:txBody>
          <a:bodyPr wrap="square" lIns="0" tIns="0" rIns="0" bIns="0" rtlCol="0" anchor="ctr"/>
          <a:lstStyle/>
          <a:p>
            <a:pPr indent="0" marL="0">
              <a:buNone/>
            </a:pPr>
            <a:r>
              <a:rPr lang="en-US" sz="1100" dirty="0">
                <a:solidFill>
                  <a:srgbClr val="41525E"/>
                </a:solidFill>
                <a:latin typeface="Trebuchet MS" pitchFamily="34" charset="0"/>
                <a:ea typeface="Trebuchet MS" pitchFamily="34" charset="-122"/>
                <a:cs typeface="Trebuchet MS" pitchFamily="34" charset="-120"/>
              </a:rPr>
              <a:t>No contract length, injury history, scouting view. Exit probability 12.9%.</a:t>
            </a:r>
            <a:endParaRPr lang="en-US" sz="1100" dirty="0"/>
          </a:p>
        </p:txBody>
      </p:sp>
      <p:sp>
        <p:nvSpPr>
          <p:cNvPr id="21" name="Text 19"/>
          <p:cNvSpPr txBox="1"/>
          <p:nvPr/>
        </p:nvSpPr>
        <p:spPr>
          <a:xfrm>
            <a:off x="6492240" y="4846320"/>
            <a:ext cx="4754880" cy="594360"/>
          </a:xfrm>
          <a:prstGeom prst="rect">
            <a:avLst/>
          </a:prstGeom>
          <a:noFill/>
          <a:ln/>
        </p:spPr>
        <p:txBody>
          <a:bodyPr wrap="square" lIns="0" tIns="0" rIns="0" bIns="0" rtlCol="0" anchor="ctr"/>
          <a:lstStyle/>
          <a:p>
            <a:pPr indent="0" marL="0">
              <a:lnSpc>
                <a:spcPts val="1500"/>
              </a:lnSpc>
              <a:buNone/>
            </a:pPr>
            <a:r>
              <a:rPr lang="en-US" sz="1150" i="1" dirty="0">
                <a:solidFill>
                  <a:srgbClr val="1B7A8C"/>
                </a:solidFill>
                <a:latin typeface="Georgia" pitchFamily="34" charset="0"/>
                <a:ea typeface="Georgia" pitchFamily="34" charset="-122"/>
                <a:cs typeface="Georgia" pitchFamily="34" charset="-120"/>
              </a:rPr>
              <a:t>Goal contributions LOWER a defender's implied value: the model reasons by position.</a:t>
            </a:r>
            <a:endParaRPr lang="en-US" sz="1150" dirty="0"/>
          </a:p>
        </p:txBody>
      </p:sp>
      <p:sp>
        <p:nvSpPr>
          <p:cNvPr id="22" name="Text 20"/>
          <p:cNvSpPr txBox="1"/>
          <p:nvPr/>
        </p:nvSpPr>
        <p:spPr>
          <a:xfrm>
            <a:off x="685800" y="5779008"/>
            <a:ext cx="10789920" cy="365760"/>
          </a:xfrm>
          <a:prstGeom prst="rect">
            <a:avLst/>
          </a:prstGeom>
          <a:noFill/>
          <a:ln/>
        </p:spPr>
        <p:txBody>
          <a:bodyPr wrap="square" lIns="0" tIns="0" rIns="0" bIns="0" rtlCol="0" anchor="ctr"/>
          <a:lstStyle/>
          <a:p>
            <a:pPr indent="0" marL="0">
              <a:buNone/>
            </a:pPr>
            <a:r>
              <a:rPr lang="en-US" sz="1400" i="1" dirty="0">
                <a:solidFill>
                  <a:srgbClr val="6D8492"/>
                </a:solidFill>
                <a:latin typeface="Georgia" pitchFamily="34" charset="0"/>
                <a:ea typeface="Georgia" pitchFamily="34" charset="-122"/>
                <a:cs typeface="Georgia" pitchFamily="34" charset="-120"/>
              </a:rPr>
              <a:t>SHAP explains a number. The optimizer explains a choice.</a:t>
            </a:r>
            <a:endParaRPr lang="en-US" sz="1400" dirty="0"/>
          </a:p>
        </p:txBody>
      </p:sp>
      <p:sp>
        <p:nvSpPr>
          <p:cNvPr id="23" name="Text 21"/>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09 / 16</a:t>
            </a:r>
            <a:endParaRPr lang="en-US" sz="900" dirty="0"/>
          </a:p>
        </p:txBody>
      </p:sp>
      <p:sp>
        <p:nvSpPr>
          <p:cNvPr id="24" name="Text 22"/>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A24"/>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1E3A4C">
              <a:alpha val="60000"/>
            </a:srgbClr>
          </a:solidFill>
          <a:ln w="12700">
            <a:solidFill>
              <a:srgbClr val="333333"/>
            </a:solidFill>
            <a:prstDash val="solid"/>
          </a:ln>
        </p:spPr>
      </p:sp>
      <p:sp>
        <p:nvSpPr>
          <p:cNvPr id="3" name="Shape 1"/>
          <p:cNvSpPr/>
          <p:nvPr/>
        </p:nvSpPr>
        <p:spPr>
          <a:xfrm>
            <a:off x="384048" y="6547104"/>
            <a:ext cx="11420856" cy="10973"/>
          </a:xfrm>
          <a:prstGeom prst="rect">
            <a:avLst/>
          </a:prstGeom>
          <a:solidFill>
            <a:srgbClr val="1E3A4C">
              <a:alpha val="60000"/>
            </a:srgbClr>
          </a:solidFill>
          <a:ln w="12700">
            <a:solidFill>
              <a:srgbClr val="333333"/>
            </a:solidFill>
            <a:prstDash val="solid"/>
          </a:ln>
        </p:spPr>
      </p:sp>
      <p:sp>
        <p:nvSpPr>
          <p:cNvPr id="4" name="Shape 2"/>
          <p:cNvSpPr/>
          <p:nvPr/>
        </p:nvSpPr>
        <p:spPr>
          <a:xfrm>
            <a:off x="384048" y="310896"/>
            <a:ext cx="10973" cy="6236208"/>
          </a:xfrm>
          <a:prstGeom prst="rect">
            <a:avLst/>
          </a:prstGeom>
          <a:solidFill>
            <a:srgbClr val="1E3A4C">
              <a:alpha val="60000"/>
            </a:srgbClr>
          </a:solidFill>
          <a:ln w="12700">
            <a:solidFill>
              <a:srgbClr val="333333"/>
            </a:solidFill>
            <a:prstDash val="solid"/>
          </a:ln>
        </p:spPr>
      </p:sp>
      <p:sp>
        <p:nvSpPr>
          <p:cNvPr id="5" name="Shape 3"/>
          <p:cNvSpPr/>
          <p:nvPr/>
        </p:nvSpPr>
        <p:spPr>
          <a:xfrm>
            <a:off x="11795760" y="310896"/>
            <a:ext cx="10973" cy="6236208"/>
          </a:xfrm>
          <a:prstGeom prst="rect">
            <a:avLst/>
          </a:prstGeom>
          <a:solidFill>
            <a:srgbClr val="1E3A4C">
              <a:alpha val="60000"/>
            </a:srgbClr>
          </a:solidFill>
          <a:ln w="12700">
            <a:solidFill>
              <a:srgbClr val="333333"/>
            </a:solidFill>
            <a:prstDash val="solid"/>
          </a:ln>
        </p:spPr>
      </p:sp>
      <p:sp>
        <p:nvSpPr>
          <p:cNvPr id="6" name="Shape 4"/>
          <p:cNvSpPr/>
          <p:nvPr/>
        </p:nvSpPr>
        <p:spPr>
          <a:xfrm>
            <a:off x="6080760" y="310896"/>
            <a:ext cx="10973" cy="6236208"/>
          </a:xfrm>
          <a:prstGeom prst="rect">
            <a:avLst/>
          </a:prstGeom>
          <a:solidFill>
            <a:srgbClr val="1E3A4C">
              <a:alpha val="60000"/>
            </a:srgbClr>
          </a:solidFill>
          <a:ln w="12700">
            <a:solidFill>
              <a:srgbClr val="333333"/>
            </a:solidFill>
            <a:prstDash val="solid"/>
          </a:ln>
        </p:spPr>
      </p:sp>
      <p:sp>
        <p:nvSpPr>
          <p:cNvPr id="7" name="Shape 5"/>
          <p:cNvSpPr/>
          <p:nvPr/>
        </p:nvSpPr>
        <p:spPr>
          <a:xfrm>
            <a:off x="5029200" y="3291840"/>
            <a:ext cx="2103120" cy="2103120"/>
          </a:xfrm>
          <a:prstGeom prst="ellipse">
            <a:avLst/>
          </a:prstGeom>
          <a:ln w="12700">
            <a:solidFill>
              <a:srgbClr val="1E3A4C">
                <a:alpha val="60000"/>
              </a:srgbClr>
            </a:solidFill>
            <a:prstDash val="solid"/>
          </a:ln>
        </p:spPr>
      </p:sp>
      <p:sp>
        <p:nvSpPr>
          <p:cNvPr id="8" name="Shape 6"/>
          <p:cNvSpPr/>
          <p:nvPr/>
        </p:nvSpPr>
        <p:spPr>
          <a:xfrm>
            <a:off x="384048" y="1965960"/>
            <a:ext cx="1600200" cy="10973"/>
          </a:xfrm>
          <a:prstGeom prst="rect">
            <a:avLst/>
          </a:prstGeom>
          <a:solidFill>
            <a:srgbClr val="1E3A4C">
              <a:alpha val="60000"/>
            </a:srgbClr>
          </a:solidFill>
          <a:ln w="12700">
            <a:solidFill>
              <a:srgbClr val="333333"/>
            </a:solidFill>
            <a:prstDash val="solid"/>
          </a:ln>
        </p:spPr>
      </p:sp>
      <p:sp>
        <p:nvSpPr>
          <p:cNvPr id="9" name="Shape 7"/>
          <p:cNvSpPr/>
          <p:nvPr/>
        </p:nvSpPr>
        <p:spPr>
          <a:xfrm>
            <a:off x="384048" y="4892040"/>
            <a:ext cx="1600200" cy="10973"/>
          </a:xfrm>
          <a:prstGeom prst="rect">
            <a:avLst/>
          </a:prstGeom>
          <a:solidFill>
            <a:srgbClr val="1E3A4C">
              <a:alpha val="60000"/>
            </a:srgbClr>
          </a:solidFill>
          <a:ln w="12700">
            <a:solidFill>
              <a:srgbClr val="333333"/>
            </a:solidFill>
            <a:prstDash val="solid"/>
          </a:ln>
        </p:spPr>
      </p:sp>
      <p:sp>
        <p:nvSpPr>
          <p:cNvPr id="10" name="Shape 8"/>
          <p:cNvSpPr/>
          <p:nvPr/>
        </p:nvSpPr>
        <p:spPr>
          <a:xfrm>
            <a:off x="1984248" y="1965960"/>
            <a:ext cx="10973" cy="2926080"/>
          </a:xfrm>
          <a:prstGeom prst="rect">
            <a:avLst/>
          </a:prstGeom>
          <a:solidFill>
            <a:srgbClr val="1E3A4C">
              <a:alpha val="60000"/>
            </a:srgbClr>
          </a:solidFill>
          <a:ln w="12700">
            <a:solidFill>
              <a:srgbClr val="333333"/>
            </a:solidFill>
            <a:prstDash val="solid"/>
          </a:ln>
        </p:spPr>
      </p:sp>
      <p:sp>
        <p:nvSpPr>
          <p:cNvPr id="11" name="Shape 9"/>
          <p:cNvSpPr/>
          <p:nvPr/>
        </p:nvSpPr>
        <p:spPr>
          <a:xfrm>
            <a:off x="10204704" y="1965960"/>
            <a:ext cx="1600200" cy="10973"/>
          </a:xfrm>
          <a:prstGeom prst="rect">
            <a:avLst/>
          </a:prstGeom>
          <a:solidFill>
            <a:srgbClr val="1E3A4C">
              <a:alpha val="60000"/>
            </a:srgbClr>
          </a:solidFill>
          <a:ln w="12700">
            <a:solidFill>
              <a:srgbClr val="333333"/>
            </a:solidFill>
            <a:prstDash val="solid"/>
          </a:ln>
        </p:spPr>
      </p:sp>
      <p:sp>
        <p:nvSpPr>
          <p:cNvPr id="12" name="Shape 10"/>
          <p:cNvSpPr/>
          <p:nvPr/>
        </p:nvSpPr>
        <p:spPr>
          <a:xfrm>
            <a:off x="10204704" y="4892040"/>
            <a:ext cx="1600200" cy="10973"/>
          </a:xfrm>
          <a:prstGeom prst="rect">
            <a:avLst/>
          </a:prstGeom>
          <a:solidFill>
            <a:srgbClr val="1E3A4C">
              <a:alpha val="60000"/>
            </a:srgbClr>
          </a:solidFill>
          <a:ln w="12700">
            <a:solidFill>
              <a:srgbClr val="333333"/>
            </a:solidFill>
            <a:prstDash val="solid"/>
          </a:ln>
        </p:spPr>
      </p:sp>
      <p:sp>
        <p:nvSpPr>
          <p:cNvPr id="13" name="Shape 11"/>
          <p:cNvSpPr/>
          <p:nvPr/>
        </p:nvSpPr>
        <p:spPr>
          <a:xfrm>
            <a:off x="10204704" y="1965960"/>
            <a:ext cx="10973" cy="2926080"/>
          </a:xfrm>
          <a:prstGeom prst="rect">
            <a:avLst/>
          </a:prstGeom>
          <a:solidFill>
            <a:srgbClr val="1E3A4C">
              <a:alpha val="60000"/>
            </a:srgbClr>
          </a:solidFill>
          <a:ln w="12700">
            <a:solidFill>
              <a:srgbClr val="333333"/>
            </a:solidFill>
            <a:prstDash val="solid"/>
          </a:ln>
        </p:spPr>
      </p:sp>
      <p:sp>
        <p:nvSpPr>
          <p:cNvPr id="14" name="Shape 12"/>
          <p:cNvSpPr/>
          <p:nvPr/>
        </p:nvSpPr>
        <p:spPr>
          <a:xfrm>
            <a:off x="384048" y="2788920"/>
            <a:ext cx="658368" cy="10973"/>
          </a:xfrm>
          <a:prstGeom prst="rect">
            <a:avLst/>
          </a:prstGeom>
          <a:solidFill>
            <a:srgbClr val="1E3A4C">
              <a:alpha val="60000"/>
            </a:srgbClr>
          </a:solidFill>
          <a:ln w="12700">
            <a:solidFill>
              <a:srgbClr val="333333"/>
            </a:solidFill>
            <a:prstDash val="solid"/>
          </a:ln>
        </p:spPr>
      </p:sp>
      <p:sp>
        <p:nvSpPr>
          <p:cNvPr id="15" name="Shape 13"/>
          <p:cNvSpPr/>
          <p:nvPr/>
        </p:nvSpPr>
        <p:spPr>
          <a:xfrm>
            <a:off x="384048" y="4069080"/>
            <a:ext cx="658368" cy="10973"/>
          </a:xfrm>
          <a:prstGeom prst="rect">
            <a:avLst/>
          </a:prstGeom>
          <a:solidFill>
            <a:srgbClr val="1E3A4C">
              <a:alpha val="60000"/>
            </a:srgbClr>
          </a:solidFill>
          <a:ln w="12700">
            <a:solidFill>
              <a:srgbClr val="333333"/>
            </a:solidFill>
            <a:prstDash val="solid"/>
          </a:ln>
        </p:spPr>
      </p:sp>
      <p:sp>
        <p:nvSpPr>
          <p:cNvPr id="16" name="Shape 14"/>
          <p:cNvSpPr/>
          <p:nvPr/>
        </p:nvSpPr>
        <p:spPr>
          <a:xfrm>
            <a:off x="1042416" y="2788920"/>
            <a:ext cx="10973" cy="1280160"/>
          </a:xfrm>
          <a:prstGeom prst="rect">
            <a:avLst/>
          </a:prstGeom>
          <a:solidFill>
            <a:srgbClr val="1E3A4C">
              <a:alpha val="60000"/>
            </a:srgbClr>
          </a:solidFill>
          <a:ln w="12700">
            <a:solidFill>
              <a:srgbClr val="333333"/>
            </a:solidFill>
            <a:prstDash val="solid"/>
          </a:ln>
        </p:spPr>
      </p:sp>
      <p:sp>
        <p:nvSpPr>
          <p:cNvPr id="17" name="Shape 15"/>
          <p:cNvSpPr/>
          <p:nvPr/>
        </p:nvSpPr>
        <p:spPr>
          <a:xfrm>
            <a:off x="11146536" y="2788920"/>
            <a:ext cx="658368" cy="10973"/>
          </a:xfrm>
          <a:prstGeom prst="rect">
            <a:avLst/>
          </a:prstGeom>
          <a:solidFill>
            <a:srgbClr val="1E3A4C">
              <a:alpha val="60000"/>
            </a:srgbClr>
          </a:solidFill>
          <a:ln w="12700">
            <a:solidFill>
              <a:srgbClr val="333333"/>
            </a:solidFill>
            <a:prstDash val="solid"/>
          </a:ln>
        </p:spPr>
      </p:sp>
      <p:sp>
        <p:nvSpPr>
          <p:cNvPr id="18" name="Shape 16"/>
          <p:cNvSpPr/>
          <p:nvPr/>
        </p:nvSpPr>
        <p:spPr>
          <a:xfrm>
            <a:off x="11146536" y="4069080"/>
            <a:ext cx="658368" cy="10973"/>
          </a:xfrm>
          <a:prstGeom prst="rect">
            <a:avLst/>
          </a:prstGeom>
          <a:solidFill>
            <a:srgbClr val="1E3A4C">
              <a:alpha val="60000"/>
            </a:srgbClr>
          </a:solidFill>
          <a:ln w="12700">
            <a:solidFill>
              <a:srgbClr val="333333"/>
            </a:solidFill>
            <a:prstDash val="solid"/>
          </a:ln>
        </p:spPr>
      </p:sp>
      <p:sp>
        <p:nvSpPr>
          <p:cNvPr id="19" name="Shape 17"/>
          <p:cNvSpPr/>
          <p:nvPr/>
        </p:nvSpPr>
        <p:spPr>
          <a:xfrm>
            <a:off x="11146536" y="2788920"/>
            <a:ext cx="10973" cy="1280160"/>
          </a:xfrm>
          <a:prstGeom prst="rect">
            <a:avLst/>
          </a:prstGeom>
          <a:solidFill>
            <a:srgbClr val="1E3A4C">
              <a:alpha val="60000"/>
            </a:srgbClr>
          </a:solidFill>
          <a:ln w="12700">
            <a:solidFill>
              <a:srgbClr val="333333"/>
            </a:solidFill>
            <a:prstDash val="solid"/>
          </a:ln>
        </p:spPr>
      </p:sp>
      <p:sp>
        <p:nvSpPr>
          <p:cNvPr id="20" name="Text 18"/>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38C6D9"/>
                </a:solidFill>
                <a:latin typeface="Consolas" pitchFamily="34" charset="0"/>
                <a:ea typeface="Consolas" pitchFamily="34" charset="-122"/>
                <a:cs typeface="Consolas" pitchFamily="34" charset="-120"/>
              </a:rPr>
              <a:t>THE CENTRAL INVERSION</a:t>
            </a:r>
            <a:endParaRPr lang="en-US" sz="1000" dirty="0"/>
          </a:p>
        </p:txBody>
      </p:sp>
      <p:sp>
        <p:nvSpPr>
          <p:cNvPr id="21" name="Text 19"/>
          <p:cNvSpPr txBox="1"/>
          <p:nvPr/>
        </p:nvSpPr>
        <p:spPr>
          <a:xfrm>
            <a:off x="685800" y="786384"/>
            <a:ext cx="10789920" cy="548640"/>
          </a:xfrm>
          <a:prstGeom prst="rect">
            <a:avLst/>
          </a:prstGeom>
          <a:noFill/>
          <a:ln/>
        </p:spPr>
        <p:txBody>
          <a:bodyPr wrap="square" lIns="0" tIns="0" rIns="0" bIns="0" rtlCol="0" anchor="ctr"/>
          <a:lstStyle/>
          <a:p>
            <a:pPr indent="0" marL="0">
              <a:buNone/>
            </a:pPr>
            <a:r>
              <a:rPr lang="en-US" sz="2900" b="1" dirty="0">
                <a:solidFill>
                  <a:srgbClr val="F2F6F8"/>
                </a:solidFill>
                <a:latin typeface="Georgia" pitchFamily="34" charset="0"/>
                <a:ea typeface="Georgia" pitchFamily="34" charset="-122"/>
                <a:cs typeface="Georgia" pitchFamily="34" charset="-120"/>
              </a:rPr>
              <a:t>A large gap is only interesting when the risk is low</a:t>
            </a:r>
            <a:endParaRPr lang="en-US" sz="2900" dirty="0"/>
          </a:p>
        </p:txBody>
      </p:sp>
      <p:sp>
        <p:nvSpPr>
          <p:cNvPr id="22" name="Shape 20"/>
          <p:cNvSpPr/>
          <p:nvPr/>
        </p:nvSpPr>
        <p:spPr>
          <a:xfrm>
            <a:off x="685800" y="1389888"/>
            <a:ext cx="2011680" cy="41148"/>
          </a:xfrm>
          <a:prstGeom prst="rect">
            <a:avLst/>
          </a:prstGeom>
          <a:solidFill>
            <a:srgbClr val="38C6D9"/>
          </a:solidFill>
          <a:ln w="12700">
            <a:solidFill>
              <a:srgbClr val="333333"/>
            </a:solidFill>
            <a:prstDash val="solid"/>
          </a:ln>
        </p:spPr>
      </p:sp>
      <p:sp>
        <p:nvSpPr>
          <p:cNvPr id="23" name="Shape 21"/>
          <p:cNvSpPr/>
          <p:nvPr/>
        </p:nvSpPr>
        <p:spPr>
          <a:xfrm>
            <a:off x="2514600" y="1783080"/>
            <a:ext cx="3931920" cy="1851660"/>
          </a:xfrm>
          <a:prstGeom prst="rect">
            <a:avLst/>
          </a:prstGeom>
          <a:solidFill>
            <a:srgbClr val="0F2733"/>
          </a:solidFill>
          <a:ln w="12700">
            <a:solidFill>
              <a:srgbClr val="1E3A4C"/>
            </a:solidFill>
            <a:prstDash val="solid"/>
          </a:ln>
        </p:spPr>
      </p:sp>
      <p:sp>
        <p:nvSpPr>
          <p:cNvPr id="24" name="Text 22"/>
          <p:cNvSpPr txBox="1"/>
          <p:nvPr/>
        </p:nvSpPr>
        <p:spPr>
          <a:xfrm>
            <a:off x="2788920" y="2057400"/>
            <a:ext cx="3383280" cy="256032"/>
          </a:xfrm>
          <a:prstGeom prst="rect">
            <a:avLst/>
          </a:prstGeom>
          <a:noFill/>
          <a:ln/>
        </p:spPr>
        <p:txBody>
          <a:bodyPr wrap="square" lIns="0" tIns="0" rIns="0" bIns="0" rtlCol="0" anchor="ctr"/>
          <a:lstStyle/>
          <a:p>
            <a:pPr indent="0" marL="0">
              <a:buNone/>
            </a:pPr>
            <a:r>
              <a:rPr lang="en-US" sz="950" spc="120" kern="0" dirty="0">
                <a:solidFill>
                  <a:srgbClr val="7C97A8"/>
                </a:solidFill>
                <a:latin typeface="Consolas" pitchFamily="34" charset="0"/>
                <a:ea typeface="Consolas" pitchFamily="34" charset="-122"/>
                <a:cs typeface="Consolas" pitchFamily="34" charset="-120"/>
              </a:rPr>
              <a:t>High gap · Low risk</a:t>
            </a:r>
            <a:endParaRPr lang="en-US" sz="950" dirty="0"/>
          </a:p>
        </p:txBody>
      </p:sp>
      <p:sp>
        <p:nvSpPr>
          <p:cNvPr id="25" name="Text 23"/>
          <p:cNvSpPr txBox="1"/>
          <p:nvPr/>
        </p:nvSpPr>
        <p:spPr>
          <a:xfrm>
            <a:off x="2788920" y="2386584"/>
            <a:ext cx="3383280" cy="457200"/>
          </a:xfrm>
          <a:prstGeom prst="rect">
            <a:avLst/>
          </a:prstGeom>
          <a:noFill/>
          <a:ln/>
        </p:spPr>
        <p:txBody>
          <a:bodyPr wrap="square" lIns="0" tIns="0" rIns="0" bIns="0" rtlCol="0" anchor="ctr"/>
          <a:lstStyle/>
          <a:p>
            <a:pPr indent="0" marL="0">
              <a:buNone/>
            </a:pPr>
            <a:r>
              <a:rPr lang="en-US" sz="2100" b="1" dirty="0">
                <a:solidFill>
                  <a:srgbClr val="38C6D9"/>
                </a:solidFill>
                <a:latin typeface="Georgia" pitchFamily="34" charset="0"/>
                <a:ea typeface="Georgia" pitchFamily="34" charset="-122"/>
                <a:cs typeface="Georgia" pitchFamily="34" charset="-120"/>
              </a:rPr>
              <a:t>POTENTIAL OPPORTUNITY</a:t>
            </a:r>
            <a:endParaRPr lang="en-US" sz="2100" dirty="0"/>
          </a:p>
        </p:txBody>
      </p:sp>
      <p:sp>
        <p:nvSpPr>
          <p:cNvPr id="26" name="Text 24"/>
          <p:cNvSpPr txBox="1"/>
          <p:nvPr/>
        </p:nvSpPr>
        <p:spPr>
          <a:xfrm>
            <a:off x="2788920" y="2880360"/>
            <a:ext cx="3383280" cy="365760"/>
          </a:xfrm>
          <a:prstGeom prst="rect">
            <a:avLst/>
          </a:prstGeom>
          <a:noFill/>
          <a:ln/>
        </p:spPr>
        <p:txBody>
          <a:bodyPr wrap="square" lIns="0" tIns="0" rIns="0" bIns="0" rtlCol="0" anchor="ctr"/>
          <a:lstStyle/>
          <a:p>
            <a:pPr indent="0" marL="0">
              <a:buNone/>
            </a:pPr>
            <a:r>
              <a:rPr lang="en-US" sz="1150" dirty="0">
                <a:solidFill>
                  <a:srgbClr val="AFC4CF"/>
                </a:solidFill>
                <a:latin typeface="Trebuchet MS" pitchFamily="34" charset="0"/>
                <a:ea typeface="Trebuchet MS" pitchFamily="34" charset="-122"/>
                <a:cs typeface="Trebuchet MS" pitchFamily="34" charset="-120"/>
              </a:rPr>
              <a:t>investigate</a:t>
            </a:r>
            <a:endParaRPr lang="en-US" sz="1150" dirty="0"/>
          </a:p>
        </p:txBody>
      </p:sp>
      <p:sp>
        <p:nvSpPr>
          <p:cNvPr id="27" name="Shape 25"/>
          <p:cNvSpPr/>
          <p:nvPr/>
        </p:nvSpPr>
        <p:spPr>
          <a:xfrm>
            <a:off x="6446520" y="1783080"/>
            <a:ext cx="3931920" cy="1851660"/>
          </a:xfrm>
          <a:prstGeom prst="rect">
            <a:avLst/>
          </a:prstGeom>
          <a:solidFill>
            <a:srgbClr val="2B1A1C"/>
          </a:solidFill>
          <a:ln w="12700">
            <a:solidFill>
              <a:srgbClr val="1E3A4C"/>
            </a:solidFill>
            <a:prstDash val="solid"/>
          </a:ln>
        </p:spPr>
      </p:sp>
      <p:sp>
        <p:nvSpPr>
          <p:cNvPr id="28" name="Text 26"/>
          <p:cNvSpPr txBox="1"/>
          <p:nvPr/>
        </p:nvSpPr>
        <p:spPr>
          <a:xfrm>
            <a:off x="6720840" y="2057400"/>
            <a:ext cx="3383280" cy="256032"/>
          </a:xfrm>
          <a:prstGeom prst="rect">
            <a:avLst/>
          </a:prstGeom>
          <a:noFill/>
          <a:ln/>
        </p:spPr>
        <p:txBody>
          <a:bodyPr wrap="square" lIns="0" tIns="0" rIns="0" bIns="0" rtlCol="0" anchor="ctr"/>
          <a:lstStyle/>
          <a:p>
            <a:pPr indent="0" marL="0">
              <a:buNone/>
            </a:pPr>
            <a:r>
              <a:rPr lang="en-US" sz="950" spc="120" kern="0" dirty="0">
                <a:solidFill>
                  <a:srgbClr val="7C97A8"/>
                </a:solidFill>
                <a:latin typeface="Consolas" pitchFamily="34" charset="0"/>
                <a:ea typeface="Consolas" pitchFamily="34" charset="-122"/>
                <a:cs typeface="Consolas" pitchFamily="34" charset="-120"/>
              </a:rPr>
              <a:t>High gap · High risk</a:t>
            </a:r>
            <a:endParaRPr lang="en-US" sz="950" dirty="0"/>
          </a:p>
        </p:txBody>
      </p:sp>
      <p:sp>
        <p:nvSpPr>
          <p:cNvPr id="29" name="Text 27"/>
          <p:cNvSpPr txBox="1"/>
          <p:nvPr/>
        </p:nvSpPr>
        <p:spPr>
          <a:xfrm>
            <a:off x="6720840" y="2386584"/>
            <a:ext cx="3383280" cy="457200"/>
          </a:xfrm>
          <a:prstGeom prst="rect">
            <a:avLst/>
          </a:prstGeom>
          <a:noFill/>
          <a:ln/>
        </p:spPr>
        <p:txBody>
          <a:bodyPr wrap="square" lIns="0" tIns="0" rIns="0" bIns="0" rtlCol="0" anchor="ctr"/>
          <a:lstStyle/>
          <a:p>
            <a:pPr indent="0" marL="0">
              <a:buNone/>
            </a:pPr>
            <a:r>
              <a:rPr lang="en-US" sz="2100" b="1" dirty="0">
                <a:solidFill>
                  <a:srgbClr val="E2574C"/>
                </a:solidFill>
                <a:latin typeface="Georgia" pitchFamily="34" charset="0"/>
                <a:ea typeface="Georgia" pitchFamily="34" charset="-122"/>
                <a:cs typeface="Georgia" pitchFamily="34" charset="-120"/>
              </a:rPr>
              <a:t>WARNING</a:t>
            </a:r>
            <a:endParaRPr lang="en-US" sz="2100" dirty="0"/>
          </a:p>
        </p:txBody>
      </p:sp>
      <p:sp>
        <p:nvSpPr>
          <p:cNvPr id="30" name="Text 28"/>
          <p:cNvSpPr txBox="1"/>
          <p:nvPr/>
        </p:nvSpPr>
        <p:spPr>
          <a:xfrm>
            <a:off x="6720840" y="2880360"/>
            <a:ext cx="3383280" cy="365760"/>
          </a:xfrm>
          <a:prstGeom prst="rect">
            <a:avLst/>
          </a:prstGeom>
          <a:noFill/>
          <a:ln/>
        </p:spPr>
        <p:txBody>
          <a:bodyPr wrap="square" lIns="0" tIns="0" rIns="0" bIns="0" rtlCol="0" anchor="ctr"/>
          <a:lstStyle/>
          <a:p>
            <a:pPr indent="0" marL="0">
              <a:buNone/>
            </a:pPr>
            <a:r>
              <a:rPr lang="en-US" sz="1150" dirty="0">
                <a:solidFill>
                  <a:srgbClr val="AFC4CF"/>
                </a:solidFill>
                <a:latin typeface="Trebuchet MS" pitchFamily="34" charset="0"/>
                <a:ea typeface="Trebuchet MS" pitchFamily="34" charset="-122"/>
                <a:cs typeface="Trebuchet MS" pitchFamily="34" charset="-120"/>
              </a:rPr>
              <a:t>the market likely knows something</a:t>
            </a:r>
            <a:endParaRPr lang="en-US" sz="1150" dirty="0"/>
          </a:p>
        </p:txBody>
      </p:sp>
      <p:sp>
        <p:nvSpPr>
          <p:cNvPr id="31" name="Shape 29"/>
          <p:cNvSpPr/>
          <p:nvPr/>
        </p:nvSpPr>
        <p:spPr>
          <a:xfrm>
            <a:off x="2514600" y="3634740"/>
            <a:ext cx="3931920" cy="1851660"/>
          </a:xfrm>
          <a:prstGeom prst="rect">
            <a:avLst/>
          </a:prstGeom>
          <a:solidFill>
            <a:srgbClr val="0F2733"/>
          </a:solidFill>
          <a:ln w="12700">
            <a:solidFill>
              <a:srgbClr val="1E3A4C"/>
            </a:solidFill>
            <a:prstDash val="solid"/>
          </a:ln>
        </p:spPr>
      </p:sp>
      <p:sp>
        <p:nvSpPr>
          <p:cNvPr id="32" name="Text 30"/>
          <p:cNvSpPr txBox="1"/>
          <p:nvPr/>
        </p:nvSpPr>
        <p:spPr>
          <a:xfrm>
            <a:off x="2788920" y="3909060"/>
            <a:ext cx="3383280" cy="256032"/>
          </a:xfrm>
          <a:prstGeom prst="rect">
            <a:avLst/>
          </a:prstGeom>
          <a:noFill/>
          <a:ln/>
        </p:spPr>
        <p:txBody>
          <a:bodyPr wrap="square" lIns="0" tIns="0" rIns="0" bIns="0" rtlCol="0" anchor="ctr"/>
          <a:lstStyle/>
          <a:p>
            <a:pPr indent="0" marL="0">
              <a:buNone/>
            </a:pPr>
            <a:r>
              <a:rPr lang="en-US" sz="950" spc="120" kern="0" dirty="0">
                <a:solidFill>
                  <a:srgbClr val="7C97A8"/>
                </a:solidFill>
                <a:latin typeface="Consolas" pitchFamily="34" charset="0"/>
                <a:ea typeface="Consolas" pitchFamily="34" charset="-122"/>
                <a:cs typeface="Consolas" pitchFamily="34" charset="-120"/>
              </a:rPr>
              <a:t>Low gap · Low risk</a:t>
            </a:r>
            <a:endParaRPr lang="en-US" sz="950" dirty="0"/>
          </a:p>
        </p:txBody>
      </p:sp>
      <p:sp>
        <p:nvSpPr>
          <p:cNvPr id="33" name="Text 31"/>
          <p:cNvSpPr txBox="1"/>
          <p:nvPr/>
        </p:nvSpPr>
        <p:spPr>
          <a:xfrm>
            <a:off x="2788920" y="4238244"/>
            <a:ext cx="3383280" cy="457200"/>
          </a:xfrm>
          <a:prstGeom prst="rect">
            <a:avLst/>
          </a:prstGeom>
          <a:noFill/>
          <a:ln/>
        </p:spPr>
        <p:txBody>
          <a:bodyPr wrap="square" lIns="0" tIns="0" rIns="0" bIns="0" rtlCol="0" anchor="ctr"/>
          <a:lstStyle/>
          <a:p>
            <a:pPr indent="0" marL="0">
              <a:buNone/>
            </a:pPr>
            <a:r>
              <a:rPr lang="en-US" sz="2100" b="1" dirty="0">
                <a:solidFill>
                  <a:srgbClr val="AFC4CF"/>
                </a:solidFill>
                <a:latin typeface="Georgia" pitchFamily="34" charset="0"/>
                <a:ea typeface="Georgia" pitchFamily="34" charset="-122"/>
                <a:cs typeface="Georgia" pitchFamily="34" charset="-120"/>
              </a:rPr>
              <a:t>BROADLY ALIGNED</a:t>
            </a:r>
            <a:endParaRPr lang="en-US" sz="2100" dirty="0"/>
          </a:p>
        </p:txBody>
      </p:sp>
      <p:sp>
        <p:nvSpPr>
          <p:cNvPr id="34" name="Text 32"/>
          <p:cNvSpPr txBox="1"/>
          <p:nvPr/>
        </p:nvSpPr>
        <p:spPr>
          <a:xfrm>
            <a:off x="2788920" y="4732020"/>
            <a:ext cx="3383280" cy="365760"/>
          </a:xfrm>
          <a:prstGeom prst="rect">
            <a:avLst/>
          </a:prstGeom>
          <a:noFill/>
          <a:ln/>
        </p:spPr>
        <p:txBody>
          <a:bodyPr wrap="square" lIns="0" tIns="0" rIns="0" bIns="0" rtlCol="0" anchor="ctr"/>
          <a:lstStyle/>
          <a:p>
            <a:pPr indent="0" marL="0">
              <a:buNone/>
            </a:pPr>
            <a:r>
              <a:rPr lang="en-US" sz="1150" dirty="0">
                <a:solidFill>
                  <a:srgbClr val="AFC4CF"/>
                </a:solidFill>
                <a:latin typeface="Trebuchet MS" pitchFamily="34" charset="0"/>
                <a:ea typeface="Trebuchet MS" pitchFamily="34" charset="-122"/>
                <a:cs typeface="Trebuchet MS" pitchFamily="34" charset="-120"/>
              </a:rPr>
              <a:t>no action indicated</a:t>
            </a:r>
            <a:endParaRPr lang="en-US" sz="1150" dirty="0"/>
          </a:p>
        </p:txBody>
      </p:sp>
      <p:sp>
        <p:nvSpPr>
          <p:cNvPr id="35" name="Shape 33"/>
          <p:cNvSpPr/>
          <p:nvPr/>
        </p:nvSpPr>
        <p:spPr>
          <a:xfrm>
            <a:off x="6446520" y="3634740"/>
            <a:ext cx="3931920" cy="1851660"/>
          </a:xfrm>
          <a:prstGeom prst="rect">
            <a:avLst/>
          </a:prstGeom>
          <a:solidFill>
            <a:srgbClr val="2B2318"/>
          </a:solidFill>
          <a:ln w="12700">
            <a:solidFill>
              <a:srgbClr val="1E3A4C"/>
            </a:solidFill>
            <a:prstDash val="solid"/>
          </a:ln>
        </p:spPr>
      </p:sp>
      <p:sp>
        <p:nvSpPr>
          <p:cNvPr id="36" name="Text 34"/>
          <p:cNvSpPr txBox="1"/>
          <p:nvPr/>
        </p:nvSpPr>
        <p:spPr>
          <a:xfrm>
            <a:off x="6720840" y="3909060"/>
            <a:ext cx="3383280" cy="256032"/>
          </a:xfrm>
          <a:prstGeom prst="rect">
            <a:avLst/>
          </a:prstGeom>
          <a:noFill/>
          <a:ln/>
        </p:spPr>
        <p:txBody>
          <a:bodyPr wrap="square" lIns="0" tIns="0" rIns="0" bIns="0" rtlCol="0" anchor="ctr"/>
          <a:lstStyle/>
          <a:p>
            <a:pPr indent="0" marL="0">
              <a:buNone/>
            </a:pPr>
            <a:r>
              <a:rPr lang="en-US" sz="950" spc="120" kern="0" dirty="0">
                <a:solidFill>
                  <a:srgbClr val="7C97A8"/>
                </a:solidFill>
                <a:latin typeface="Consolas" pitchFamily="34" charset="0"/>
                <a:ea typeface="Consolas" pitchFamily="34" charset="-122"/>
                <a:cs typeface="Consolas" pitchFamily="34" charset="-120"/>
              </a:rPr>
              <a:t>Low gap · High risk</a:t>
            </a:r>
            <a:endParaRPr lang="en-US" sz="950" dirty="0"/>
          </a:p>
        </p:txBody>
      </p:sp>
      <p:sp>
        <p:nvSpPr>
          <p:cNvPr id="37" name="Text 35"/>
          <p:cNvSpPr txBox="1"/>
          <p:nvPr/>
        </p:nvSpPr>
        <p:spPr>
          <a:xfrm>
            <a:off x="6720840" y="4238244"/>
            <a:ext cx="3383280" cy="457200"/>
          </a:xfrm>
          <a:prstGeom prst="rect">
            <a:avLst/>
          </a:prstGeom>
          <a:noFill/>
          <a:ln/>
        </p:spPr>
        <p:txBody>
          <a:bodyPr wrap="square" lIns="0" tIns="0" rIns="0" bIns="0" rtlCol="0" anchor="ctr"/>
          <a:lstStyle/>
          <a:p>
            <a:pPr indent="0" marL="0">
              <a:buNone/>
            </a:pPr>
            <a:r>
              <a:rPr lang="en-US" sz="2100" b="1" dirty="0">
                <a:solidFill>
                  <a:srgbClr val="F0A63C"/>
                </a:solidFill>
                <a:latin typeface="Georgia" pitchFamily="34" charset="0"/>
                <a:ea typeface="Georgia" pitchFamily="34" charset="-122"/>
                <a:cs typeface="Georgia" pitchFamily="34" charset="-120"/>
              </a:rPr>
              <a:t>RISK CAUTION</a:t>
            </a:r>
            <a:endParaRPr lang="en-US" sz="2100" dirty="0"/>
          </a:p>
        </p:txBody>
      </p:sp>
      <p:sp>
        <p:nvSpPr>
          <p:cNvPr id="38" name="Text 36"/>
          <p:cNvSpPr txBox="1"/>
          <p:nvPr/>
        </p:nvSpPr>
        <p:spPr>
          <a:xfrm>
            <a:off x="6720840" y="4732020"/>
            <a:ext cx="3383280" cy="365760"/>
          </a:xfrm>
          <a:prstGeom prst="rect">
            <a:avLst/>
          </a:prstGeom>
          <a:noFill/>
          <a:ln/>
        </p:spPr>
        <p:txBody>
          <a:bodyPr wrap="square" lIns="0" tIns="0" rIns="0" bIns="0" rtlCol="0" anchor="ctr"/>
          <a:lstStyle/>
          <a:p>
            <a:pPr indent="0" marL="0">
              <a:buNone/>
            </a:pPr>
            <a:r>
              <a:rPr lang="en-US" sz="1150" dirty="0">
                <a:solidFill>
                  <a:srgbClr val="AFC4CF"/>
                </a:solidFill>
                <a:latin typeface="Trebuchet MS" pitchFamily="34" charset="0"/>
                <a:ea typeface="Trebuchet MS" pitchFamily="34" charset="-122"/>
                <a:cs typeface="Trebuchet MS" pitchFamily="34" charset="-120"/>
              </a:rPr>
              <a:t>retention concern</a:t>
            </a:r>
            <a:endParaRPr lang="en-US" sz="1150" dirty="0"/>
          </a:p>
        </p:txBody>
      </p:sp>
      <p:sp>
        <p:nvSpPr>
          <p:cNvPr id="39" name="Text 37"/>
          <p:cNvSpPr txBox="1"/>
          <p:nvPr/>
        </p:nvSpPr>
        <p:spPr>
          <a:xfrm>
            <a:off x="777240" y="3470148"/>
            <a:ext cx="1645920" cy="274320"/>
          </a:xfrm>
          <a:prstGeom prst="rect">
            <a:avLst/>
          </a:prstGeom>
          <a:noFill/>
          <a:ln/>
        </p:spPr>
        <p:txBody>
          <a:bodyPr wrap="square" lIns="0" tIns="0" rIns="0" bIns="0" rtlCol="0" anchor="ctr"/>
          <a:lstStyle/>
          <a:p>
            <a:pPr algn="r" indent="0" marL="0">
              <a:buNone/>
            </a:pPr>
            <a:r>
              <a:rPr lang="en-US" sz="950" b="1" spc="140" kern="0" dirty="0">
                <a:solidFill>
                  <a:srgbClr val="7C97A8"/>
                </a:solidFill>
                <a:latin typeface="Consolas" pitchFamily="34" charset="0"/>
                <a:ea typeface="Consolas" pitchFamily="34" charset="-122"/>
                <a:cs typeface="Consolas" pitchFamily="34" charset="-120"/>
              </a:rPr>
              <a:t>VALUATION GAP</a:t>
            </a:r>
            <a:endParaRPr lang="en-US" sz="950" dirty="0"/>
          </a:p>
        </p:txBody>
      </p:sp>
      <p:sp>
        <p:nvSpPr>
          <p:cNvPr id="40" name="Text 38"/>
          <p:cNvSpPr txBox="1"/>
          <p:nvPr/>
        </p:nvSpPr>
        <p:spPr>
          <a:xfrm>
            <a:off x="777240" y="1920240"/>
            <a:ext cx="1645920" cy="256032"/>
          </a:xfrm>
          <a:prstGeom prst="rect">
            <a:avLst/>
          </a:prstGeom>
          <a:noFill/>
          <a:ln/>
        </p:spPr>
        <p:txBody>
          <a:bodyPr wrap="square" lIns="0" tIns="0" rIns="0" bIns="0" rtlCol="0" anchor="ctr"/>
          <a:lstStyle/>
          <a:p>
            <a:pPr algn="r" indent="0" marL="0">
              <a:buNone/>
            </a:pPr>
            <a:r>
              <a:rPr lang="en-US" sz="900" dirty="0">
                <a:solidFill>
                  <a:srgbClr val="44637A"/>
                </a:solidFill>
                <a:latin typeface="Consolas" pitchFamily="34" charset="0"/>
                <a:ea typeface="Consolas" pitchFamily="34" charset="-122"/>
                <a:cs typeface="Consolas" pitchFamily="34" charset="-120"/>
              </a:rPr>
              <a:t>high ↑</a:t>
            </a:r>
            <a:endParaRPr lang="en-US" sz="900" dirty="0"/>
          </a:p>
        </p:txBody>
      </p:sp>
      <p:sp>
        <p:nvSpPr>
          <p:cNvPr id="41" name="Text 39"/>
          <p:cNvSpPr txBox="1"/>
          <p:nvPr/>
        </p:nvSpPr>
        <p:spPr>
          <a:xfrm>
            <a:off x="777240" y="5102352"/>
            <a:ext cx="1645920" cy="256032"/>
          </a:xfrm>
          <a:prstGeom prst="rect">
            <a:avLst/>
          </a:prstGeom>
          <a:noFill/>
          <a:ln/>
        </p:spPr>
        <p:txBody>
          <a:bodyPr wrap="square" lIns="0" tIns="0" rIns="0" bIns="0" rtlCol="0" anchor="ctr"/>
          <a:lstStyle/>
          <a:p>
            <a:pPr algn="r" indent="0" marL="0">
              <a:buNone/>
            </a:pPr>
            <a:r>
              <a:rPr lang="en-US" sz="900" dirty="0">
                <a:solidFill>
                  <a:srgbClr val="44637A"/>
                </a:solidFill>
                <a:latin typeface="Consolas" pitchFamily="34" charset="0"/>
                <a:ea typeface="Consolas" pitchFamily="34" charset="-122"/>
                <a:cs typeface="Consolas" pitchFamily="34" charset="-120"/>
              </a:rPr>
              <a:t>↓ low</a:t>
            </a:r>
            <a:endParaRPr lang="en-US" sz="900" dirty="0"/>
          </a:p>
        </p:txBody>
      </p:sp>
      <p:sp>
        <p:nvSpPr>
          <p:cNvPr id="42" name="Text 40"/>
          <p:cNvSpPr txBox="1"/>
          <p:nvPr/>
        </p:nvSpPr>
        <p:spPr>
          <a:xfrm>
            <a:off x="2514600" y="5632704"/>
            <a:ext cx="7863840" cy="274320"/>
          </a:xfrm>
          <a:prstGeom prst="rect">
            <a:avLst/>
          </a:prstGeom>
          <a:noFill/>
          <a:ln/>
        </p:spPr>
        <p:txBody>
          <a:bodyPr wrap="square" lIns="0" tIns="0" rIns="0" bIns="0" rtlCol="0" anchor="ctr"/>
          <a:lstStyle/>
          <a:p>
            <a:pPr algn="ctr" indent="0" marL="0">
              <a:buNone/>
            </a:pPr>
            <a:r>
              <a:rPr lang="en-US" sz="950" b="1" spc="120" kern="0" dirty="0">
                <a:solidFill>
                  <a:srgbClr val="7C97A8"/>
                </a:solidFill>
                <a:latin typeface="Consolas" pitchFamily="34" charset="0"/>
                <a:ea typeface="Consolas" pitchFamily="34" charset="-122"/>
                <a:cs typeface="Consolas" pitchFamily="34" charset="-120"/>
              </a:rPr>
              <a:t>←  lower exit risk                    EXIT RISK                    higher exit risk  →</a:t>
            </a:r>
            <a:endParaRPr lang="en-US" sz="950" dirty="0"/>
          </a:p>
        </p:txBody>
      </p:sp>
      <p:sp>
        <p:nvSpPr>
          <p:cNvPr id="43" name="Text 41"/>
          <p:cNvSpPr txBox="1"/>
          <p:nvPr/>
        </p:nvSpPr>
        <p:spPr>
          <a:xfrm>
            <a:off x="685800" y="5989320"/>
            <a:ext cx="10149840" cy="329184"/>
          </a:xfrm>
          <a:prstGeom prst="rect">
            <a:avLst/>
          </a:prstGeom>
          <a:noFill/>
          <a:ln/>
        </p:spPr>
        <p:txBody>
          <a:bodyPr wrap="square" lIns="0" tIns="0" rIns="0" bIns="0" rtlCol="0" anchor="ctr"/>
          <a:lstStyle/>
          <a:p>
            <a:pPr indent="0" marL="0">
              <a:buNone/>
            </a:pPr>
            <a:r>
              <a:rPr lang="en-US" sz="1300" i="1" dirty="0">
                <a:solidFill>
                  <a:srgbClr val="38C6D9"/>
                </a:solidFill>
                <a:latin typeface="Georgia" pitchFamily="34" charset="0"/>
                <a:ea typeface="Georgia" pitchFamily="34" charset="-122"/>
                <a:cs typeface="Georgia" pitchFamily="34" charset="-120"/>
              </a:rPr>
              <a:t>The system never labels a player “undervalued”. It says: potential valuation discrepancy, investigate.</a:t>
            </a:r>
            <a:endParaRPr lang="en-US" sz="1300" dirty="0"/>
          </a:p>
        </p:txBody>
      </p:sp>
      <p:sp>
        <p:nvSpPr>
          <p:cNvPr id="44" name="Text 42"/>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1B7A8C"/>
                </a:solidFill>
                <a:latin typeface="Consolas" pitchFamily="34" charset="0"/>
                <a:ea typeface="Consolas" pitchFamily="34" charset="-122"/>
                <a:cs typeface="Consolas" pitchFamily="34" charset="-120"/>
              </a:rPr>
              <a:t>10 / 16</a:t>
            </a:r>
            <a:endParaRPr lang="en-US" sz="900" dirty="0"/>
          </a:p>
        </p:txBody>
      </p:sp>
      <p:sp>
        <p:nvSpPr>
          <p:cNvPr id="45" name="Text 43"/>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2C4A5C"/>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RECRUITMENT COMMITTEE SCENARIO</a:t>
            </a:r>
            <a:endParaRPr lang="en-US" sz="1000" dirty="0"/>
          </a:p>
        </p:txBody>
      </p:sp>
      <p:sp>
        <p:nvSpPr>
          <p:cNvPr id="4" name="Text 2"/>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2800" b="1" dirty="0">
                <a:solidFill>
                  <a:srgbClr val="0C1A24"/>
                </a:solidFill>
                <a:latin typeface="Georgia" pitchFamily="34" charset="0"/>
                <a:ea typeface="Georgia" pitchFamily="34" charset="-122"/>
                <a:cs typeface="Georgia" pitchFamily="34" charset="-120"/>
              </a:rPr>
              <a:t>€50M, one defender, one midfielder, one attacker</a:t>
            </a:r>
            <a:endParaRPr lang="en-US" sz="2800" dirty="0"/>
          </a:p>
        </p:txBody>
      </p:sp>
      <p:sp>
        <p:nvSpPr>
          <p:cNvPr id="5" name="Shape 3"/>
          <p:cNvSpPr/>
          <p:nvPr/>
        </p:nvSpPr>
        <p:spPr>
          <a:xfrm>
            <a:off x="685800" y="2139696"/>
            <a:ext cx="1463040" cy="41148"/>
          </a:xfrm>
          <a:prstGeom prst="rect">
            <a:avLst/>
          </a:prstGeom>
          <a:solidFill>
            <a:srgbClr val="1B7A8C"/>
          </a:solidFill>
          <a:ln w="12700">
            <a:solidFill>
              <a:srgbClr val="333333"/>
            </a:solidFill>
            <a:prstDash val="solid"/>
          </a:ln>
        </p:spPr>
      </p:sp>
      <p:sp>
        <p:nvSpPr>
          <p:cNvPr id="6" name="Text 4"/>
          <p:cNvSpPr txBox="1"/>
          <p:nvPr/>
        </p:nvSpPr>
        <p:spPr>
          <a:xfrm>
            <a:off x="868680" y="2286000"/>
            <a:ext cx="7223760" cy="237744"/>
          </a:xfrm>
          <a:prstGeom prst="rect">
            <a:avLst/>
          </a:prstGeom>
          <a:noFill/>
          <a:ln/>
        </p:spPr>
        <p:txBody>
          <a:bodyPr wrap="square" lIns="0" tIns="0" rIns="0" bIns="0" rtlCol="0" anchor="ctr"/>
          <a:lstStyle/>
          <a:p>
            <a:pPr indent="0" marL="0">
              <a:buNone/>
            </a:pPr>
            <a:r>
              <a:rPr lang="en-US" sz="850" b="1" spc="100" kern="0" dirty="0">
                <a:solidFill>
                  <a:srgbClr val="9DB2BF"/>
                </a:solidFill>
                <a:latin typeface="Consolas" pitchFamily="34" charset="0"/>
                <a:ea typeface="Consolas" pitchFamily="34" charset="-122"/>
                <a:cs typeface="Consolas" pitchFamily="34" charset="-120"/>
              </a:rPr>
              <a:t>PLAYER      MARKET      MODEL-IMPLIED      QUALITY      EXIT RISK</a:t>
            </a:r>
            <a:endParaRPr lang="en-US" sz="850" dirty="0"/>
          </a:p>
        </p:txBody>
      </p:sp>
      <p:sp>
        <p:nvSpPr>
          <p:cNvPr id="7" name="Shape 5"/>
          <p:cNvSpPr/>
          <p:nvPr/>
        </p:nvSpPr>
        <p:spPr>
          <a:xfrm>
            <a:off x="685800" y="2606040"/>
            <a:ext cx="7680960" cy="822960"/>
          </a:xfrm>
          <a:prstGeom prst="rect">
            <a:avLst/>
          </a:prstGeom>
          <a:solidFill>
            <a:srgbClr val="FFFFFF"/>
          </a:solidFill>
          <a:ln w="12700">
            <a:solidFill>
              <a:srgbClr val="D3DFE6"/>
            </a:solidFill>
            <a:prstDash val="solid"/>
          </a:ln>
        </p:spPr>
      </p:sp>
      <p:sp>
        <p:nvSpPr>
          <p:cNvPr id="8" name="Shape 6"/>
          <p:cNvSpPr/>
          <p:nvPr/>
        </p:nvSpPr>
        <p:spPr>
          <a:xfrm>
            <a:off x="685800" y="2606040"/>
            <a:ext cx="36576" cy="822960"/>
          </a:xfrm>
          <a:prstGeom prst="rect">
            <a:avLst/>
          </a:prstGeom>
          <a:solidFill>
            <a:srgbClr val="1B7A8C"/>
          </a:solidFill>
          <a:ln w="12700">
            <a:solidFill>
              <a:srgbClr val="333333"/>
            </a:solidFill>
            <a:prstDash val="solid"/>
          </a:ln>
        </p:spPr>
      </p:sp>
      <p:sp>
        <p:nvSpPr>
          <p:cNvPr id="9" name="Text 7"/>
          <p:cNvSpPr txBox="1"/>
          <p:nvPr/>
        </p:nvSpPr>
        <p:spPr>
          <a:xfrm>
            <a:off x="914400" y="2715768"/>
            <a:ext cx="2560320" cy="310896"/>
          </a:xfrm>
          <a:prstGeom prst="rect">
            <a:avLst/>
          </a:prstGeom>
          <a:noFill/>
          <a:ln/>
        </p:spPr>
        <p:txBody>
          <a:bodyPr wrap="square" lIns="0" tIns="0" rIns="0" bIns="0" rtlCol="0" anchor="ctr"/>
          <a:lstStyle/>
          <a:p>
            <a:pPr indent="0" marL="0">
              <a:buNone/>
            </a:pPr>
            <a:r>
              <a:rPr lang="en-US" sz="1500" b="1" dirty="0">
                <a:solidFill>
                  <a:srgbClr val="0C1A24"/>
                </a:solidFill>
                <a:latin typeface="Georgia" pitchFamily="34" charset="0"/>
                <a:ea typeface="Georgia" pitchFamily="34" charset="-122"/>
                <a:cs typeface="Georgia" pitchFamily="34" charset="-120"/>
              </a:rPr>
              <a:t>Lucas Stassin</a:t>
            </a:r>
            <a:endParaRPr lang="en-US" sz="1500" dirty="0"/>
          </a:p>
        </p:txBody>
      </p:sp>
      <p:sp>
        <p:nvSpPr>
          <p:cNvPr id="10" name="Text 8"/>
          <p:cNvSpPr txBox="1"/>
          <p:nvPr/>
        </p:nvSpPr>
        <p:spPr>
          <a:xfrm>
            <a:off x="914400" y="3044952"/>
            <a:ext cx="2651760" cy="256032"/>
          </a:xfrm>
          <a:prstGeom prst="rect">
            <a:avLst/>
          </a:prstGeom>
          <a:noFill/>
          <a:ln/>
        </p:spPr>
        <p:txBody>
          <a:bodyPr wrap="square" lIns="0" tIns="0" rIns="0" bIns="0" rtlCol="0" anchor="ctr"/>
          <a:lstStyle/>
          <a:p>
            <a:pPr indent="0" marL="0">
              <a:buNone/>
            </a:pPr>
            <a:r>
              <a:rPr lang="en-US" sz="850" dirty="0">
                <a:solidFill>
                  <a:srgbClr val="7C8F9B"/>
                </a:solidFill>
                <a:latin typeface="Consolas" pitchFamily="34" charset="0"/>
                <a:ea typeface="Consolas" pitchFamily="34" charset="-122"/>
                <a:cs typeface="Consolas" pitchFamily="34" charset="-120"/>
              </a:rPr>
              <a:t>Attack · Ligue 1 · 20</a:t>
            </a:r>
            <a:endParaRPr lang="en-US" sz="850" dirty="0"/>
          </a:p>
        </p:txBody>
      </p:sp>
      <p:sp>
        <p:nvSpPr>
          <p:cNvPr id="11" name="Text 9"/>
          <p:cNvSpPr txBox="1"/>
          <p:nvPr/>
        </p:nvSpPr>
        <p:spPr>
          <a:xfrm>
            <a:off x="3657600" y="2843784"/>
            <a:ext cx="1097280" cy="347472"/>
          </a:xfrm>
          <a:prstGeom prst="rect">
            <a:avLst/>
          </a:prstGeom>
          <a:noFill/>
          <a:ln/>
        </p:spPr>
        <p:txBody>
          <a:bodyPr wrap="square" lIns="0" tIns="0" rIns="0" bIns="0" rtlCol="0" anchor="ctr"/>
          <a:lstStyle/>
          <a:p>
            <a:pPr indent="0" marL="0">
              <a:buNone/>
            </a:pPr>
            <a:r>
              <a:rPr lang="en-US" sz="1300" dirty="0">
                <a:solidFill>
                  <a:srgbClr val="41525E"/>
                </a:solidFill>
                <a:latin typeface="Trebuchet MS" pitchFamily="34" charset="0"/>
                <a:ea typeface="Trebuchet MS" pitchFamily="34" charset="-122"/>
                <a:cs typeface="Trebuchet MS" pitchFamily="34" charset="-120"/>
              </a:rPr>
              <a:t>€18.0M</a:t>
            </a:r>
            <a:endParaRPr lang="en-US" sz="1300" dirty="0"/>
          </a:p>
        </p:txBody>
      </p:sp>
      <p:sp>
        <p:nvSpPr>
          <p:cNvPr id="12" name="Text 10"/>
          <p:cNvSpPr txBox="1"/>
          <p:nvPr/>
        </p:nvSpPr>
        <p:spPr>
          <a:xfrm>
            <a:off x="4846320" y="2843784"/>
            <a:ext cx="1188720" cy="347472"/>
          </a:xfrm>
          <a:prstGeom prst="rect">
            <a:avLst/>
          </a:prstGeom>
          <a:noFill/>
          <a:ln/>
        </p:spPr>
        <p:txBody>
          <a:bodyPr wrap="square" lIns="0" tIns="0" rIns="0" bIns="0" rtlCol="0" anchor="ctr"/>
          <a:lstStyle/>
          <a:p>
            <a:pPr indent="0" marL="0">
              <a:buNone/>
            </a:pPr>
            <a:r>
              <a:rPr lang="en-US" sz="1500" b="1" dirty="0">
                <a:solidFill>
                  <a:srgbClr val="1B7A8C"/>
                </a:solidFill>
                <a:latin typeface="Georgia" pitchFamily="34" charset="0"/>
                <a:ea typeface="Georgia" pitchFamily="34" charset="-122"/>
                <a:cs typeface="Georgia" pitchFamily="34" charset="-120"/>
              </a:rPr>
              <a:t>€31.1M</a:t>
            </a:r>
            <a:endParaRPr lang="en-US" sz="1500" dirty="0"/>
          </a:p>
        </p:txBody>
      </p:sp>
      <p:sp>
        <p:nvSpPr>
          <p:cNvPr id="13" name="Text 11"/>
          <p:cNvSpPr txBox="1"/>
          <p:nvPr/>
        </p:nvSpPr>
        <p:spPr>
          <a:xfrm>
            <a:off x="6263640" y="2843784"/>
            <a:ext cx="914400" cy="347472"/>
          </a:xfrm>
          <a:prstGeom prst="rect">
            <a:avLst/>
          </a:prstGeom>
          <a:noFill/>
          <a:ln/>
        </p:spPr>
        <p:txBody>
          <a:bodyPr wrap="square" lIns="0" tIns="0" rIns="0" bIns="0" rtlCol="0" anchor="ctr"/>
          <a:lstStyle/>
          <a:p>
            <a:pPr indent="0" marL="0">
              <a:buNone/>
            </a:pPr>
            <a:r>
              <a:rPr lang="en-US" sz="1300" dirty="0">
                <a:solidFill>
                  <a:srgbClr val="41525E"/>
                </a:solidFill>
                <a:latin typeface="Trebuchet MS" pitchFamily="34" charset="0"/>
                <a:ea typeface="Trebuchet MS" pitchFamily="34" charset="-122"/>
                <a:cs typeface="Trebuchet MS" pitchFamily="34" charset="-120"/>
              </a:rPr>
              <a:t>90th</a:t>
            </a:r>
            <a:endParaRPr lang="en-US" sz="1300" dirty="0"/>
          </a:p>
        </p:txBody>
      </p:sp>
      <p:sp>
        <p:nvSpPr>
          <p:cNvPr id="14" name="Text 12"/>
          <p:cNvSpPr txBox="1"/>
          <p:nvPr/>
        </p:nvSpPr>
        <p:spPr>
          <a:xfrm>
            <a:off x="7315200" y="2843784"/>
            <a:ext cx="822960" cy="347472"/>
          </a:xfrm>
          <a:prstGeom prst="rect">
            <a:avLst/>
          </a:prstGeom>
          <a:noFill/>
          <a:ln/>
        </p:spPr>
        <p:txBody>
          <a:bodyPr wrap="square" lIns="0" tIns="0" rIns="0" bIns="0" rtlCol="0" anchor="ctr"/>
          <a:lstStyle/>
          <a:p>
            <a:pPr indent="0" marL="0">
              <a:buNone/>
            </a:pPr>
            <a:r>
              <a:rPr lang="en-US" sz="1500" b="1" dirty="0">
                <a:solidFill>
                  <a:srgbClr val="F0A63C"/>
                </a:solidFill>
                <a:latin typeface="Georgia" pitchFamily="34" charset="0"/>
                <a:ea typeface="Georgia" pitchFamily="34" charset="-122"/>
                <a:cs typeface="Georgia" pitchFamily="34" charset="-120"/>
              </a:rPr>
              <a:t>14%</a:t>
            </a:r>
            <a:endParaRPr lang="en-US" sz="1500" dirty="0"/>
          </a:p>
        </p:txBody>
      </p:sp>
      <p:sp>
        <p:nvSpPr>
          <p:cNvPr id="15" name="Shape 13"/>
          <p:cNvSpPr/>
          <p:nvPr/>
        </p:nvSpPr>
        <p:spPr>
          <a:xfrm>
            <a:off x="685800" y="3566160"/>
            <a:ext cx="7680960" cy="822960"/>
          </a:xfrm>
          <a:prstGeom prst="rect">
            <a:avLst/>
          </a:prstGeom>
          <a:solidFill>
            <a:srgbClr val="FFFFFF"/>
          </a:solidFill>
          <a:ln w="12700">
            <a:solidFill>
              <a:srgbClr val="D3DFE6"/>
            </a:solidFill>
            <a:prstDash val="solid"/>
          </a:ln>
        </p:spPr>
      </p:sp>
      <p:sp>
        <p:nvSpPr>
          <p:cNvPr id="16" name="Shape 14"/>
          <p:cNvSpPr/>
          <p:nvPr/>
        </p:nvSpPr>
        <p:spPr>
          <a:xfrm>
            <a:off x="685800" y="3566160"/>
            <a:ext cx="36576" cy="822960"/>
          </a:xfrm>
          <a:prstGeom prst="rect">
            <a:avLst/>
          </a:prstGeom>
          <a:solidFill>
            <a:srgbClr val="1B7A8C"/>
          </a:solidFill>
          <a:ln w="12700">
            <a:solidFill>
              <a:srgbClr val="333333"/>
            </a:solidFill>
            <a:prstDash val="solid"/>
          </a:ln>
        </p:spPr>
      </p:sp>
      <p:sp>
        <p:nvSpPr>
          <p:cNvPr id="17" name="Text 15"/>
          <p:cNvSpPr txBox="1"/>
          <p:nvPr/>
        </p:nvSpPr>
        <p:spPr>
          <a:xfrm>
            <a:off x="914400" y="3675888"/>
            <a:ext cx="2560320" cy="310896"/>
          </a:xfrm>
          <a:prstGeom prst="rect">
            <a:avLst/>
          </a:prstGeom>
          <a:noFill/>
          <a:ln/>
        </p:spPr>
        <p:txBody>
          <a:bodyPr wrap="square" lIns="0" tIns="0" rIns="0" bIns="0" rtlCol="0" anchor="ctr"/>
          <a:lstStyle/>
          <a:p>
            <a:pPr indent="0" marL="0">
              <a:buNone/>
            </a:pPr>
            <a:r>
              <a:rPr lang="en-US" sz="1500" b="1" dirty="0">
                <a:solidFill>
                  <a:srgbClr val="0C1A24"/>
                </a:solidFill>
                <a:latin typeface="Georgia" pitchFamily="34" charset="0"/>
                <a:ea typeface="Georgia" pitchFamily="34" charset="-122"/>
                <a:cs typeface="Georgia" pitchFamily="34" charset="-120"/>
              </a:rPr>
              <a:t>Diego Coppola</a:t>
            </a:r>
            <a:endParaRPr lang="en-US" sz="1500" dirty="0"/>
          </a:p>
        </p:txBody>
      </p:sp>
      <p:sp>
        <p:nvSpPr>
          <p:cNvPr id="18" name="Text 16"/>
          <p:cNvSpPr txBox="1"/>
          <p:nvPr/>
        </p:nvSpPr>
        <p:spPr>
          <a:xfrm>
            <a:off x="914400" y="4005072"/>
            <a:ext cx="2651760" cy="256032"/>
          </a:xfrm>
          <a:prstGeom prst="rect">
            <a:avLst/>
          </a:prstGeom>
          <a:noFill/>
          <a:ln/>
        </p:spPr>
        <p:txBody>
          <a:bodyPr wrap="square" lIns="0" tIns="0" rIns="0" bIns="0" rtlCol="0" anchor="ctr"/>
          <a:lstStyle/>
          <a:p>
            <a:pPr indent="0" marL="0">
              <a:buNone/>
            </a:pPr>
            <a:r>
              <a:rPr lang="en-US" sz="850" dirty="0">
                <a:solidFill>
                  <a:srgbClr val="7C8F9B"/>
                </a:solidFill>
                <a:latin typeface="Consolas" pitchFamily="34" charset="0"/>
                <a:ea typeface="Consolas" pitchFamily="34" charset="-122"/>
                <a:cs typeface="Consolas" pitchFamily="34" charset="-120"/>
              </a:rPr>
              <a:t>Defender · Serie A · 21</a:t>
            </a:r>
            <a:endParaRPr lang="en-US" sz="850" dirty="0"/>
          </a:p>
        </p:txBody>
      </p:sp>
      <p:sp>
        <p:nvSpPr>
          <p:cNvPr id="19" name="Text 17"/>
          <p:cNvSpPr txBox="1"/>
          <p:nvPr/>
        </p:nvSpPr>
        <p:spPr>
          <a:xfrm>
            <a:off x="3657600" y="3803904"/>
            <a:ext cx="1097280" cy="347472"/>
          </a:xfrm>
          <a:prstGeom prst="rect">
            <a:avLst/>
          </a:prstGeom>
          <a:noFill/>
          <a:ln/>
        </p:spPr>
        <p:txBody>
          <a:bodyPr wrap="square" lIns="0" tIns="0" rIns="0" bIns="0" rtlCol="0" anchor="ctr"/>
          <a:lstStyle/>
          <a:p>
            <a:pPr indent="0" marL="0">
              <a:buNone/>
            </a:pPr>
            <a:r>
              <a:rPr lang="en-US" sz="1300" dirty="0">
                <a:solidFill>
                  <a:srgbClr val="41525E"/>
                </a:solidFill>
                <a:latin typeface="Trebuchet MS" pitchFamily="34" charset="0"/>
                <a:ea typeface="Trebuchet MS" pitchFamily="34" charset="-122"/>
                <a:cs typeface="Trebuchet MS" pitchFamily="34" charset="-120"/>
              </a:rPr>
              <a:t>€10.0M</a:t>
            </a:r>
            <a:endParaRPr lang="en-US" sz="1300" dirty="0"/>
          </a:p>
        </p:txBody>
      </p:sp>
      <p:sp>
        <p:nvSpPr>
          <p:cNvPr id="20" name="Text 18"/>
          <p:cNvSpPr txBox="1"/>
          <p:nvPr/>
        </p:nvSpPr>
        <p:spPr>
          <a:xfrm>
            <a:off x="4846320" y="3803904"/>
            <a:ext cx="1188720" cy="347472"/>
          </a:xfrm>
          <a:prstGeom prst="rect">
            <a:avLst/>
          </a:prstGeom>
          <a:noFill/>
          <a:ln/>
        </p:spPr>
        <p:txBody>
          <a:bodyPr wrap="square" lIns="0" tIns="0" rIns="0" bIns="0" rtlCol="0" anchor="ctr"/>
          <a:lstStyle/>
          <a:p>
            <a:pPr indent="0" marL="0">
              <a:buNone/>
            </a:pPr>
            <a:r>
              <a:rPr lang="en-US" sz="1500" b="1" dirty="0">
                <a:solidFill>
                  <a:srgbClr val="1B7A8C"/>
                </a:solidFill>
                <a:latin typeface="Georgia" pitchFamily="34" charset="0"/>
                <a:ea typeface="Georgia" pitchFamily="34" charset="-122"/>
                <a:cs typeface="Georgia" pitchFamily="34" charset="-120"/>
              </a:rPr>
              <a:t>€27.1M</a:t>
            </a:r>
            <a:endParaRPr lang="en-US" sz="1500" dirty="0"/>
          </a:p>
        </p:txBody>
      </p:sp>
      <p:sp>
        <p:nvSpPr>
          <p:cNvPr id="21" name="Text 19"/>
          <p:cNvSpPr txBox="1"/>
          <p:nvPr/>
        </p:nvSpPr>
        <p:spPr>
          <a:xfrm>
            <a:off x="6263640" y="3803904"/>
            <a:ext cx="914400" cy="347472"/>
          </a:xfrm>
          <a:prstGeom prst="rect">
            <a:avLst/>
          </a:prstGeom>
          <a:noFill/>
          <a:ln/>
        </p:spPr>
        <p:txBody>
          <a:bodyPr wrap="square" lIns="0" tIns="0" rIns="0" bIns="0" rtlCol="0" anchor="ctr"/>
          <a:lstStyle/>
          <a:p>
            <a:pPr indent="0" marL="0">
              <a:buNone/>
            </a:pPr>
            <a:r>
              <a:rPr lang="en-US" sz="1300" dirty="0">
                <a:solidFill>
                  <a:srgbClr val="41525E"/>
                </a:solidFill>
                <a:latin typeface="Trebuchet MS" pitchFamily="34" charset="0"/>
                <a:ea typeface="Trebuchet MS" pitchFamily="34" charset="-122"/>
                <a:cs typeface="Trebuchet MS" pitchFamily="34" charset="-120"/>
              </a:rPr>
              <a:t>89th</a:t>
            </a:r>
            <a:endParaRPr lang="en-US" sz="1300" dirty="0"/>
          </a:p>
        </p:txBody>
      </p:sp>
      <p:sp>
        <p:nvSpPr>
          <p:cNvPr id="22" name="Text 20"/>
          <p:cNvSpPr txBox="1"/>
          <p:nvPr/>
        </p:nvSpPr>
        <p:spPr>
          <a:xfrm>
            <a:off x="7315200" y="3803904"/>
            <a:ext cx="822960" cy="347472"/>
          </a:xfrm>
          <a:prstGeom prst="rect">
            <a:avLst/>
          </a:prstGeom>
          <a:noFill/>
          <a:ln/>
        </p:spPr>
        <p:txBody>
          <a:bodyPr wrap="square" lIns="0" tIns="0" rIns="0" bIns="0" rtlCol="0" anchor="ctr"/>
          <a:lstStyle/>
          <a:p>
            <a:pPr indent="0" marL="0">
              <a:buNone/>
            </a:pPr>
            <a:r>
              <a:rPr lang="en-US" sz="1500" b="1" dirty="0">
                <a:solidFill>
                  <a:srgbClr val="F0A63C"/>
                </a:solidFill>
                <a:latin typeface="Georgia" pitchFamily="34" charset="0"/>
                <a:ea typeface="Georgia" pitchFamily="34" charset="-122"/>
                <a:cs typeface="Georgia" pitchFamily="34" charset="-120"/>
              </a:rPr>
              <a:t>13%</a:t>
            </a:r>
            <a:endParaRPr lang="en-US" sz="1500" dirty="0"/>
          </a:p>
        </p:txBody>
      </p:sp>
      <p:sp>
        <p:nvSpPr>
          <p:cNvPr id="23" name="Shape 21"/>
          <p:cNvSpPr/>
          <p:nvPr/>
        </p:nvSpPr>
        <p:spPr>
          <a:xfrm>
            <a:off x="685800" y="4526280"/>
            <a:ext cx="7680960" cy="822960"/>
          </a:xfrm>
          <a:prstGeom prst="rect">
            <a:avLst/>
          </a:prstGeom>
          <a:solidFill>
            <a:srgbClr val="FFFFFF"/>
          </a:solidFill>
          <a:ln w="12700">
            <a:solidFill>
              <a:srgbClr val="D3DFE6"/>
            </a:solidFill>
            <a:prstDash val="solid"/>
          </a:ln>
        </p:spPr>
      </p:sp>
      <p:sp>
        <p:nvSpPr>
          <p:cNvPr id="24" name="Shape 22"/>
          <p:cNvSpPr/>
          <p:nvPr/>
        </p:nvSpPr>
        <p:spPr>
          <a:xfrm>
            <a:off x="685800" y="4526280"/>
            <a:ext cx="36576" cy="822960"/>
          </a:xfrm>
          <a:prstGeom prst="rect">
            <a:avLst/>
          </a:prstGeom>
          <a:solidFill>
            <a:srgbClr val="1B7A8C"/>
          </a:solidFill>
          <a:ln w="12700">
            <a:solidFill>
              <a:srgbClr val="333333"/>
            </a:solidFill>
            <a:prstDash val="solid"/>
          </a:ln>
        </p:spPr>
      </p:sp>
      <p:sp>
        <p:nvSpPr>
          <p:cNvPr id="25" name="Text 23"/>
          <p:cNvSpPr txBox="1"/>
          <p:nvPr/>
        </p:nvSpPr>
        <p:spPr>
          <a:xfrm>
            <a:off x="914400" y="4636008"/>
            <a:ext cx="2560320" cy="310896"/>
          </a:xfrm>
          <a:prstGeom prst="rect">
            <a:avLst/>
          </a:prstGeom>
          <a:noFill/>
          <a:ln/>
        </p:spPr>
        <p:txBody>
          <a:bodyPr wrap="square" lIns="0" tIns="0" rIns="0" bIns="0" rtlCol="0" anchor="ctr"/>
          <a:lstStyle/>
          <a:p>
            <a:pPr indent="0" marL="0">
              <a:buNone/>
            </a:pPr>
            <a:r>
              <a:rPr lang="en-US" sz="1500" b="1" dirty="0">
                <a:solidFill>
                  <a:srgbClr val="0C1A24"/>
                </a:solidFill>
                <a:latin typeface="Georgia" pitchFamily="34" charset="0"/>
                <a:ea typeface="Georgia" pitchFamily="34" charset="-122"/>
                <a:cs typeface="Georgia" pitchFamily="34" charset="-120"/>
              </a:rPr>
              <a:t>Facundo Buonanotte</a:t>
            </a:r>
            <a:endParaRPr lang="en-US" sz="1500" dirty="0"/>
          </a:p>
        </p:txBody>
      </p:sp>
      <p:sp>
        <p:nvSpPr>
          <p:cNvPr id="26" name="Text 24"/>
          <p:cNvSpPr txBox="1"/>
          <p:nvPr/>
        </p:nvSpPr>
        <p:spPr>
          <a:xfrm>
            <a:off x="914400" y="4965192"/>
            <a:ext cx="2651760" cy="256032"/>
          </a:xfrm>
          <a:prstGeom prst="rect">
            <a:avLst/>
          </a:prstGeom>
          <a:noFill/>
          <a:ln/>
        </p:spPr>
        <p:txBody>
          <a:bodyPr wrap="square" lIns="0" tIns="0" rIns="0" bIns="0" rtlCol="0" anchor="ctr"/>
          <a:lstStyle/>
          <a:p>
            <a:pPr indent="0" marL="0">
              <a:buNone/>
            </a:pPr>
            <a:r>
              <a:rPr lang="en-US" sz="850" dirty="0">
                <a:solidFill>
                  <a:srgbClr val="7C8F9B"/>
                </a:solidFill>
                <a:latin typeface="Consolas" pitchFamily="34" charset="0"/>
                <a:ea typeface="Consolas" pitchFamily="34" charset="-122"/>
                <a:cs typeface="Consolas" pitchFamily="34" charset="-120"/>
              </a:rPr>
              <a:t>Midfield · Premier League · 20</a:t>
            </a:r>
            <a:endParaRPr lang="en-US" sz="850" dirty="0"/>
          </a:p>
        </p:txBody>
      </p:sp>
      <p:sp>
        <p:nvSpPr>
          <p:cNvPr id="27" name="Text 25"/>
          <p:cNvSpPr txBox="1"/>
          <p:nvPr/>
        </p:nvSpPr>
        <p:spPr>
          <a:xfrm>
            <a:off x="3657600" y="4764024"/>
            <a:ext cx="1097280" cy="347472"/>
          </a:xfrm>
          <a:prstGeom prst="rect">
            <a:avLst/>
          </a:prstGeom>
          <a:noFill/>
          <a:ln/>
        </p:spPr>
        <p:txBody>
          <a:bodyPr wrap="square" lIns="0" tIns="0" rIns="0" bIns="0" rtlCol="0" anchor="ctr"/>
          <a:lstStyle/>
          <a:p>
            <a:pPr indent="0" marL="0">
              <a:buNone/>
            </a:pPr>
            <a:r>
              <a:rPr lang="en-US" sz="1300" dirty="0">
                <a:solidFill>
                  <a:srgbClr val="41525E"/>
                </a:solidFill>
                <a:latin typeface="Trebuchet MS" pitchFamily="34" charset="0"/>
                <a:ea typeface="Trebuchet MS" pitchFamily="34" charset="-122"/>
                <a:cs typeface="Trebuchet MS" pitchFamily="34" charset="-120"/>
              </a:rPr>
              <a:t>€20.0M</a:t>
            </a:r>
            <a:endParaRPr lang="en-US" sz="1300" dirty="0"/>
          </a:p>
        </p:txBody>
      </p:sp>
      <p:sp>
        <p:nvSpPr>
          <p:cNvPr id="28" name="Text 26"/>
          <p:cNvSpPr txBox="1"/>
          <p:nvPr/>
        </p:nvSpPr>
        <p:spPr>
          <a:xfrm>
            <a:off x="4846320" y="4764024"/>
            <a:ext cx="1188720" cy="347472"/>
          </a:xfrm>
          <a:prstGeom prst="rect">
            <a:avLst/>
          </a:prstGeom>
          <a:noFill/>
          <a:ln/>
        </p:spPr>
        <p:txBody>
          <a:bodyPr wrap="square" lIns="0" tIns="0" rIns="0" bIns="0" rtlCol="0" anchor="ctr"/>
          <a:lstStyle/>
          <a:p>
            <a:pPr indent="0" marL="0">
              <a:buNone/>
            </a:pPr>
            <a:r>
              <a:rPr lang="en-US" sz="1500" b="1" dirty="0">
                <a:solidFill>
                  <a:srgbClr val="1B7A8C"/>
                </a:solidFill>
                <a:latin typeface="Georgia" pitchFamily="34" charset="0"/>
                <a:ea typeface="Georgia" pitchFamily="34" charset="-122"/>
                <a:cs typeface="Georgia" pitchFamily="34" charset="-120"/>
              </a:rPr>
              <a:t>€20.3M</a:t>
            </a:r>
            <a:endParaRPr lang="en-US" sz="1500" dirty="0"/>
          </a:p>
        </p:txBody>
      </p:sp>
      <p:sp>
        <p:nvSpPr>
          <p:cNvPr id="29" name="Text 27"/>
          <p:cNvSpPr txBox="1"/>
          <p:nvPr/>
        </p:nvSpPr>
        <p:spPr>
          <a:xfrm>
            <a:off x="6263640" y="4764024"/>
            <a:ext cx="914400" cy="347472"/>
          </a:xfrm>
          <a:prstGeom prst="rect">
            <a:avLst/>
          </a:prstGeom>
          <a:noFill/>
          <a:ln/>
        </p:spPr>
        <p:txBody>
          <a:bodyPr wrap="square" lIns="0" tIns="0" rIns="0" bIns="0" rtlCol="0" anchor="ctr"/>
          <a:lstStyle/>
          <a:p>
            <a:pPr indent="0" marL="0">
              <a:buNone/>
            </a:pPr>
            <a:r>
              <a:rPr lang="en-US" sz="1300" dirty="0">
                <a:solidFill>
                  <a:srgbClr val="41525E"/>
                </a:solidFill>
                <a:latin typeface="Trebuchet MS" pitchFamily="34" charset="0"/>
                <a:ea typeface="Trebuchet MS" pitchFamily="34" charset="-122"/>
                <a:cs typeface="Trebuchet MS" pitchFamily="34" charset="-120"/>
              </a:rPr>
              <a:t>86th</a:t>
            </a:r>
            <a:endParaRPr lang="en-US" sz="1300" dirty="0"/>
          </a:p>
        </p:txBody>
      </p:sp>
      <p:sp>
        <p:nvSpPr>
          <p:cNvPr id="30" name="Text 28"/>
          <p:cNvSpPr txBox="1"/>
          <p:nvPr/>
        </p:nvSpPr>
        <p:spPr>
          <a:xfrm>
            <a:off x="7315200" y="4764024"/>
            <a:ext cx="822960" cy="347472"/>
          </a:xfrm>
          <a:prstGeom prst="rect">
            <a:avLst/>
          </a:prstGeom>
          <a:noFill/>
          <a:ln/>
        </p:spPr>
        <p:txBody>
          <a:bodyPr wrap="square" lIns="0" tIns="0" rIns="0" bIns="0" rtlCol="0" anchor="ctr"/>
          <a:lstStyle/>
          <a:p>
            <a:pPr indent="0" marL="0">
              <a:buNone/>
            </a:pPr>
            <a:r>
              <a:rPr lang="en-US" sz="1500" b="1" dirty="0">
                <a:solidFill>
                  <a:srgbClr val="F0A63C"/>
                </a:solidFill>
                <a:latin typeface="Georgia" pitchFamily="34" charset="0"/>
                <a:ea typeface="Georgia" pitchFamily="34" charset="-122"/>
                <a:cs typeface="Georgia" pitchFamily="34" charset="-120"/>
              </a:rPr>
              <a:t>25%</a:t>
            </a:r>
            <a:endParaRPr lang="en-US" sz="1500" dirty="0"/>
          </a:p>
        </p:txBody>
      </p:sp>
      <p:sp>
        <p:nvSpPr>
          <p:cNvPr id="31" name="Shape 29"/>
          <p:cNvSpPr/>
          <p:nvPr/>
        </p:nvSpPr>
        <p:spPr>
          <a:xfrm>
            <a:off x="8686800" y="2606040"/>
            <a:ext cx="2788920" cy="2834640"/>
          </a:xfrm>
          <a:prstGeom prst="rect">
            <a:avLst/>
          </a:prstGeom>
          <a:solidFill>
            <a:srgbClr val="E1F1F4"/>
          </a:solidFill>
          <a:ln w="12700">
            <a:solidFill>
              <a:srgbClr val="1B7A8C"/>
            </a:solidFill>
            <a:prstDash val="solid"/>
          </a:ln>
        </p:spPr>
      </p:sp>
      <p:sp>
        <p:nvSpPr>
          <p:cNvPr id="32" name="Text 30"/>
          <p:cNvSpPr txBox="1"/>
          <p:nvPr/>
        </p:nvSpPr>
        <p:spPr>
          <a:xfrm>
            <a:off x="8915400" y="2834640"/>
            <a:ext cx="2377440" cy="640080"/>
          </a:xfrm>
          <a:prstGeom prst="rect">
            <a:avLst/>
          </a:prstGeom>
          <a:noFill/>
          <a:ln/>
        </p:spPr>
        <p:txBody>
          <a:bodyPr wrap="square" lIns="0" tIns="0" rIns="0" bIns="0" rtlCol="0" anchor="ctr"/>
          <a:lstStyle/>
          <a:p>
            <a:pPr indent="0" marL="0">
              <a:buNone/>
            </a:pPr>
            <a:r>
              <a:rPr lang="en-US" sz="3800" b="1" dirty="0">
                <a:solidFill>
                  <a:srgbClr val="1B7A8C"/>
                </a:solidFill>
                <a:latin typeface="Georgia" pitchFamily="34" charset="0"/>
                <a:ea typeface="Georgia" pitchFamily="34" charset="-122"/>
                <a:cs typeface="Georgia" pitchFamily="34" charset="-120"/>
              </a:rPr>
              <a:t>€48.0M</a:t>
            </a:r>
            <a:endParaRPr lang="en-US" sz="3800" dirty="0"/>
          </a:p>
        </p:txBody>
      </p:sp>
      <p:sp>
        <p:nvSpPr>
          <p:cNvPr id="33" name="Text 31"/>
          <p:cNvSpPr txBox="1"/>
          <p:nvPr/>
        </p:nvSpPr>
        <p:spPr>
          <a:xfrm>
            <a:off x="8915400" y="3474720"/>
            <a:ext cx="2377440" cy="256032"/>
          </a:xfrm>
          <a:prstGeom prst="rect">
            <a:avLst/>
          </a:prstGeom>
          <a:noFill/>
          <a:ln/>
        </p:spPr>
        <p:txBody>
          <a:bodyPr wrap="square" lIns="0" tIns="0" rIns="0" bIns="0" rtlCol="0" anchor="ctr"/>
          <a:lstStyle/>
          <a:p>
            <a:pPr indent="0" marL="0">
              <a:buNone/>
            </a:pPr>
            <a:r>
              <a:rPr lang="en-US" sz="900" b="1" spc="120" kern="0" dirty="0">
                <a:solidFill>
                  <a:srgbClr val="2A5966"/>
                </a:solidFill>
                <a:latin typeface="Consolas" pitchFamily="34" charset="0"/>
                <a:ea typeface="Consolas" pitchFamily="34" charset="-122"/>
                <a:cs typeface="Consolas" pitchFamily="34" charset="-120"/>
              </a:rPr>
              <a:t>COMMITTED OF €50M</a:t>
            </a:r>
            <a:endParaRPr lang="en-US" sz="900" dirty="0"/>
          </a:p>
        </p:txBody>
      </p:sp>
      <p:sp>
        <p:nvSpPr>
          <p:cNvPr id="34" name="Text 32"/>
          <p:cNvSpPr txBox="1"/>
          <p:nvPr/>
        </p:nvSpPr>
        <p:spPr>
          <a:xfrm>
            <a:off x="8915400" y="3931920"/>
            <a:ext cx="1828800" cy="274320"/>
          </a:xfrm>
          <a:prstGeom prst="rect">
            <a:avLst/>
          </a:prstGeom>
          <a:noFill/>
          <a:ln/>
        </p:spPr>
        <p:txBody>
          <a:bodyPr wrap="square" lIns="0" tIns="0" rIns="0" bIns="0" rtlCol="0" anchor="ctr"/>
          <a:lstStyle/>
          <a:p>
            <a:pPr indent="0" marL="0">
              <a:buNone/>
            </a:pPr>
            <a:r>
              <a:rPr lang="en-US" sz="1050" dirty="0">
                <a:solidFill>
                  <a:srgbClr val="3E5C66"/>
                </a:solidFill>
                <a:latin typeface="Trebuchet MS" pitchFamily="34" charset="0"/>
                <a:ea typeface="Trebuchet MS" pitchFamily="34" charset="-122"/>
                <a:cs typeface="Trebuchet MS" pitchFamily="34" charset="-120"/>
              </a:rPr>
              <a:t>Mean quality percentile</a:t>
            </a:r>
            <a:endParaRPr lang="en-US" sz="1050" dirty="0"/>
          </a:p>
        </p:txBody>
      </p:sp>
      <p:sp>
        <p:nvSpPr>
          <p:cNvPr id="35" name="Text 33"/>
          <p:cNvSpPr txBox="1"/>
          <p:nvPr/>
        </p:nvSpPr>
        <p:spPr>
          <a:xfrm>
            <a:off x="10607040" y="3931920"/>
            <a:ext cx="731520" cy="274320"/>
          </a:xfrm>
          <a:prstGeom prst="rect">
            <a:avLst/>
          </a:prstGeom>
          <a:noFill/>
          <a:ln/>
        </p:spPr>
        <p:txBody>
          <a:bodyPr wrap="square" lIns="0" tIns="0" rIns="0" bIns="0" rtlCol="0" anchor="ctr"/>
          <a:lstStyle/>
          <a:p>
            <a:pPr algn="r" indent="0" marL="0">
              <a:buNone/>
            </a:pPr>
            <a:r>
              <a:rPr lang="en-US" sz="1250" b="1" dirty="0">
                <a:solidFill>
                  <a:srgbClr val="0C1A24"/>
                </a:solidFill>
                <a:latin typeface="Georgia" pitchFamily="34" charset="0"/>
                <a:ea typeface="Georgia" pitchFamily="34" charset="-122"/>
                <a:cs typeface="Georgia" pitchFamily="34" charset="-120"/>
              </a:rPr>
              <a:t>88.3</a:t>
            </a:r>
            <a:endParaRPr lang="en-US" sz="1250" dirty="0"/>
          </a:p>
        </p:txBody>
      </p:sp>
      <p:sp>
        <p:nvSpPr>
          <p:cNvPr id="36" name="Text 34"/>
          <p:cNvSpPr txBox="1"/>
          <p:nvPr/>
        </p:nvSpPr>
        <p:spPr>
          <a:xfrm>
            <a:off x="8915400" y="4261104"/>
            <a:ext cx="1828800" cy="274320"/>
          </a:xfrm>
          <a:prstGeom prst="rect">
            <a:avLst/>
          </a:prstGeom>
          <a:noFill/>
          <a:ln/>
        </p:spPr>
        <p:txBody>
          <a:bodyPr wrap="square" lIns="0" tIns="0" rIns="0" bIns="0" rtlCol="0" anchor="ctr"/>
          <a:lstStyle/>
          <a:p>
            <a:pPr indent="0" marL="0">
              <a:buNone/>
            </a:pPr>
            <a:r>
              <a:rPr lang="en-US" sz="1050" dirty="0">
                <a:solidFill>
                  <a:srgbClr val="3E5C66"/>
                </a:solidFill>
                <a:latin typeface="Trebuchet MS" pitchFamily="34" charset="0"/>
                <a:ea typeface="Trebuchet MS" pitchFamily="34" charset="-122"/>
                <a:cs typeface="Trebuchet MS" pitchFamily="34" charset="-120"/>
              </a:rPr>
              <a:t>Mean predicted exit risk</a:t>
            </a:r>
            <a:endParaRPr lang="en-US" sz="1050" dirty="0"/>
          </a:p>
        </p:txBody>
      </p:sp>
      <p:sp>
        <p:nvSpPr>
          <p:cNvPr id="37" name="Text 35"/>
          <p:cNvSpPr txBox="1"/>
          <p:nvPr/>
        </p:nvSpPr>
        <p:spPr>
          <a:xfrm>
            <a:off x="10607040" y="4261104"/>
            <a:ext cx="731520" cy="274320"/>
          </a:xfrm>
          <a:prstGeom prst="rect">
            <a:avLst/>
          </a:prstGeom>
          <a:noFill/>
          <a:ln/>
        </p:spPr>
        <p:txBody>
          <a:bodyPr wrap="square" lIns="0" tIns="0" rIns="0" bIns="0" rtlCol="0" anchor="ctr"/>
          <a:lstStyle/>
          <a:p>
            <a:pPr algn="r" indent="0" marL="0">
              <a:buNone/>
            </a:pPr>
            <a:r>
              <a:rPr lang="en-US" sz="1250" b="1" dirty="0">
                <a:solidFill>
                  <a:srgbClr val="0C1A24"/>
                </a:solidFill>
                <a:latin typeface="Georgia" pitchFamily="34" charset="0"/>
                <a:ea typeface="Georgia" pitchFamily="34" charset="-122"/>
                <a:cs typeface="Georgia" pitchFamily="34" charset="-120"/>
              </a:rPr>
              <a:t>17.1%</a:t>
            </a:r>
            <a:endParaRPr lang="en-US" sz="1250" dirty="0"/>
          </a:p>
        </p:txBody>
      </p:sp>
      <p:sp>
        <p:nvSpPr>
          <p:cNvPr id="38" name="Text 36"/>
          <p:cNvSpPr txBox="1"/>
          <p:nvPr/>
        </p:nvSpPr>
        <p:spPr>
          <a:xfrm>
            <a:off x="8915400" y="4590288"/>
            <a:ext cx="1828800" cy="274320"/>
          </a:xfrm>
          <a:prstGeom prst="rect">
            <a:avLst/>
          </a:prstGeom>
          <a:noFill/>
          <a:ln/>
        </p:spPr>
        <p:txBody>
          <a:bodyPr wrap="square" lIns="0" tIns="0" rIns="0" bIns="0" rtlCol="0" anchor="ctr"/>
          <a:lstStyle/>
          <a:p>
            <a:pPr indent="0" marL="0">
              <a:buNone/>
            </a:pPr>
            <a:r>
              <a:rPr lang="en-US" sz="1050" dirty="0">
                <a:solidFill>
                  <a:srgbClr val="3E5C66"/>
                </a:solidFill>
                <a:latin typeface="Trebuchet MS" pitchFamily="34" charset="0"/>
                <a:ea typeface="Trebuchet MS" pitchFamily="34" charset="-122"/>
                <a:cs typeface="Trebuchet MS" pitchFamily="34" charset="-120"/>
              </a:rPr>
              <a:t>Mean age</a:t>
            </a:r>
            <a:endParaRPr lang="en-US" sz="1050" dirty="0"/>
          </a:p>
        </p:txBody>
      </p:sp>
      <p:sp>
        <p:nvSpPr>
          <p:cNvPr id="39" name="Text 37"/>
          <p:cNvSpPr txBox="1"/>
          <p:nvPr/>
        </p:nvSpPr>
        <p:spPr>
          <a:xfrm>
            <a:off x="10607040" y="4590288"/>
            <a:ext cx="731520" cy="274320"/>
          </a:xfrm>
          <a:prstGeom prst="rect">
            <a:avLst/>
          </a:prstGeom>
          <a:noFill/>
          <a:ln/>
        </p:spPr>
        <p:txBody>
          <a:bodyPr wrap="square" lIns="0" tIns="0" rIns="0" bIns="0" rtlCol="0" anchor="ctr"/>
          <a:lstStyle/>
          <a:p>
            <a:pPr algn="r" indent="0" marL="0">
              <a:buNone/>
            </a:pPr>
            <a:r>
              <a:rPr lang="en-US" sz="1250" b="1" dirty="0">
                <a:solidFill>
                  <a:srgbClr val="0C1A24"/>
                </a:solidFill>
                <a:latin typeface="Georgia" pitchFamily="34" charset="0"/>
                <a:ea typeface="Georgia" pitchFamily="34" charset="-122"/>
                <a:cs typeface="Georgia" pitchFamily="34" charset="-120"/>
              </a:rPr>
              <a:t>20.4</a:t>
            </a:r>
            <a:endParaRPr lang="en-US" sz="1250" dirty="0"/>
          </a:p>
        </p:txBody>
      </p:sp>
      <p:sp>
        <p:nvSpPr>
          <p:cNvPr id="40" name="Text 38"/>
          <p:cNvSpPr txBox="1"/>
          <p:nvPr/>
        </p:nvSpPr>
        <p:spPr>
          <a:xfrm>
            <a:off x="8915400" y="4956048"/>
            <a:ext cx="2377440" cy="411480"/>
          </a:xfrm>
          <a:prstGeom prst="rect">
            <a:avLst/>
          </a:prstGeom>
          <a:noFill/>
          <a:ln/>
        </p:spPr>
        <p:txBody>
          <a:bodyPr wrap="square" lIns="0" tIns="0" rIns="0" bIns="0" rtlCol="0" anchor="ctr"/>
          <a:lstStyle/>
          <a:p>
            <a:pPr indent="0" marL="0">
              <a:lnSpc>
                <a:spcPts val="1200"/>
              </a:lnSpc>
              <a:buNone/>
            </a:pPr>
            <a:r>
              <a:rPr lang="en-US" sz="950" i="1" dirty="0">
                <a:solidFill>
                  <a:srgbClr val="5E7A85"/>
                </a:solidFill>
                <a:latin typeface="Trebuchet MS" pitchFamily="34" charset="0"/>
                <a:ea typeface="Trebuchet MS" pitchFamily="34" charset="-122"/>
                <a:cs typeface="Trebuchet MS" pitchFamily="34" charset="-120"/>
              </a:rPr>
              <a:t>Solved as an integer linear program under declared weights and constraints.</a:t>
            </a:r>
            <a:endParaRPr lang="en-US" sz="950" dirty="0"/>
          </a:p>
        </p:txBody>
      </p:sp>
      <p:sp>
        <p:nvSpPr>
          <p:cNvPr id="41" name="Shape 39"/>
          <p:cNvSpPr/>
          <p:nvPr/>
        </p:nvSpPr>
        <p:spPr>
          <a:xfrm>
            <a:off x="685800" y="5623560"/>
            <a:ext cx="10789920" cy="566928"/>
          </a:xfrm>
          <a:prstGeom prst="rect">
            <a:avLst/>
          </a:prstGeom>
          <a:solidFill>
            <a:srgbClr val="FEF4E4"/>
          </a:solidFill>
          <a:ln w="12700">
            <a:solidFill>
              <a:srgbClr val="F0A63C"/>
            </a:solidFill>
            <a:prstDash val="solid"/>
          </a:ln>
        </p:spPr>
      </p:sp>
      <p:sp>
        <p:nvSpPr>
          <p:cNvPr id="42" name="Shape 40"/>
          <p:cNvSpPr/>
          <p:nvPr/>
        </p:nvSpPr>
        <p:spPr>
          <a:xfrm>
            <a:off x="685800" y="5623560"/>
            <a:ext cx="45720" cy="566928"/>
          </a:xfrm>
          <a:prstGeom prst="rect">
            <a:avLst/>
          </a:prstGeom>
          <a:solidFill>
            <a:srgbClr val="F0A63C"/>
          </a:solidFill>
          <a:ln w="12700">
            <a:solidFill>
              <a:srgbClr val="333333"/>
            </a:solidFill>
            <a:prstDash val="solid"/>
          </a:ln>
        </p:spPr>
      </p:sp>
      <p:sp>
        <p:nvSpPr>
          <p:cNvPr id="43" name="Text 41"/>
          <p:cNvSpPr txBox="1"/>
          <p:nvPr/>
        </p:nvSpPr>
        <p:spPr>
          <a:xfrm>
            <a:off x="1005840" y="5751576"/>
            <a:ext cx="10241280" cy="329184"/>
          </a:xfrm>
          <a:prstGeom prst="rect">
            <a:avLst/>
          </a:prstGeom>
          <a:noFill/>
          <a:ln/>
        </p:spPr>
        <p:txBody>
          <a:bodyPr wrap="square" lIns="0" tIns="0" rIns="0" bIns="0" rtlCol="0" anchor="ctr"/>
          <a:lstStyle/>
          <a:p>
            <a:pPr indent="0" marL="0">
              <a:buNone/>
            </a:pPr>
            <a:r>
              <a:rPr lang="en-US" sz="1250" b="1" dirty="0">
                <a:solidFill>
                  <a:srgbClr val="8A5F17"/>
                </a:solidFill>
                <a:latin typeface="Trebuchet MS" pitchFamily="34" charset="0"/>
                <a:ea typeface="Trebuchet MS" pitchFamily="34" charset="-122"/>
                <a:cs typeface="Trebuchet MS" pitchFamily="34" charset="-120"/>
              </a:rPr>
              <a:t>Illustrative application of a validated risk model, NOT optimizer validation. Three players cannot establish effectiveness.</a:t>
            </a:r>
            <a:endParaRPr lang="en-US" sz="1250" dirty="0"/>
          </a:p>
        </p:txBody>
      </p:sp>
      <p:sp>
        <p:nvSpPr>
          <p:cNvPr id="44" name="Text 42"/>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11 / 16</a:t>
            </a:r>
            <a:endParaRPr lang="en-US" sz="900" dirty="0"/>
          </a:p>
        </p:txBody>
      </p:sp>
      <p:sp>
        <p:nvSpPr>
          <p:cNvPr id="45" name="Text 43"/>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ROBUSTNESS AND SENSITIVITY</a:t>
            </a:r>
            <a:endParaRPr lang="en-US" sz="1000" dirty="0"/>
          </a:p>
        </p:txBody>
      </p:sp>
      <p:sp>
        <p:nvSpPr>
          <p:cNvPr id="4" name="Text 2"/>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2800" b="1" dirty="0">
                <a:solidFill>
                  <a:srgbClr val="0C1A24"/>
                </a:solidFill>
                <a:latin typeface="Georgia" pitchFamily="34" charset="0"/>
                <a:ea typeface="Georgia" pitchFamily="34" charset="-122"/>
                <a:cs typeface="Georgia" pitchFamily="34" charset="-120"/>
              </a:rPr>
              <a:t>Would different assumptions change the answer?</a:t>
            </a:r>
            <a:endParaRPr lang="en-US" sz="2800" dirty="0"/>
          </a:p>
        </p:txBody>
      </p:sp>
      <p:sp>
        <p:nvSpPr>
          <p:cNvPr id="5" name="Shape 3"/>
          <p:cNvSpPr/>
          <p:nvPr/>
        </p:nvSpPr>
        <p:spPr>
          <a:xfrm>
            <a:off x="685800" y="2139696"/>
            <a:ext cx="1463040" cy="41148"/>
          </a:xfrm>
          <a:prstGeom prst="rect">
            <a:avLst/>
          </a:prstGeom>
          <a:solidFill>
            <a:srgbClr val="1B7A8C"/>
          </a:solidFill>
          <a:ln w="12700">
            <a:solidFill>
              <a:srgbClr val="333333"/>
            </a:solidFill>
            <a:prstDash val="solid"/>
          </a:ln>
        </p:spPr>
      </p:sp>
      <p:sp>
        <p:nvSpPr>
          <p:cNvPr id="6" name="Text 4"/>
          <p:cNvSpPr txBox="1"/>
          <p:nvPr/>
        </p:nvSpPr>
        <p:spPr>
          <a:xfrm>
            <a:off x="685800" y="2286000"/>
            <a:ext cx="5669280" cy="256032"/>
          </a:xfrm>
          <a:prstGeom prst="rect">
            <a:avLst/>
          </a:prstGeom>
          <a:noFill/>
          <a:ln/>
        </p:spPr>
        <p:txBody>
          <a:bodyPr wrap="square" lIns="0" tIns="0" rIns="0" bIns="0" rtlCol="0" anchor="ctr"/>
          <a:lstStyle/>
          <a:p>
            <a:pPr indent="0" marL="0">
              <a:buNone/>
            </a:pPr>
            <a:r>
              <a:rPr lang="en-US" sz="900" b="1" spc="130" kern="0" dirty="0">
                <a:solidFill>
                  <a:srgbClr val="8FA5B2"/>
                </a:solidFill>
                <a:latin typeface="Consolas" pitchFamily="34" charset="0"/>
                <a:ea typeface="Consolas" pitchFamily="34" charset="-122"/>
                <a:cs typeface="Consolas" pitchFamily="34" charset="-120"/>
              </a:rPr>
              <a:t>SELECTION STABILITY ACROSS SIX WEIGHT CONFIGURATIONS</a:t>
            </a:r>
            <a:endParaRPr lang="en-US" sz="900" dirty="0"/>
          </a:p>
        </p:txBody>
      </p:sp>
      <p:sp>
        <p:nvSpPr>
          <p:cNvPr id="7" name="Text 5"/>
          <p:cNvSpPr txBox="1"/>
          <p:nvPr/>
        </p:nvSpPr>
        <p:spPr>
          <a:xfrm>
            <a:off x="685800" y="2697480"/>
            <a:ext cx="2286000" cy="320040"/>
          </a:xfrm>
          <a:prstGeom prst="rect">
            <a:avLst/>
          </a:prstGeom>
          <a:noFill/>
          <a:ln/>
        </p:spPr>
        <p:txBody>
          <a:bodyPr wrap="square" lIns="0" tIns="0" rIns="0" bIns="0" rtlCol="0" anchor="ctr"/>
          <a:lstStyle/>
          <a:p>
            <a:pPr indent="0" marL="0">
              <a:buNone/>
            </a:pPr>
            <a:r>
              <a:rPr lang="en-US" sz="1250" dirty="0">
                <a:solidFill>
                  <a:srgbClr val="41525E"/>
                </a:solidFill>
                <a:latin typeface="Trebuchet MS" pitchFamily="34" charset="0"/>
                <a:ea typeface="Trebuchet MS" pitchFamily="34" charset="-122"/>
                <a:cs typeface="Trebuchet MS" pitchFamily="34" charset="-120"/>
              </a:rPr>
              <a:t>Lucas Stassin</a:t>
            </a:r>
            <a:endParaRPr lang="en-US" sz="1250" dirty="0"/>
          </a:p>
        </p:txBody>
      </p:sp>
      <p:sp>
        <p:nvSpPr>
          <p:cNvPr id="8" name="Shape 6"/>
          <p:cNvSpPr/>
          <p:nvPr/>
        </p:nvSpPr>
        <p:spPr>
          <a:xfrm>
            <a:off x="3108960" y="2734056"/>
            <a:ext cx="310896" cy="265176"/>
          </a:xfrm>
          <a:prstGeom prst="rect">
            <a:avLst/>
          </a:prstGeom>
          <a:solidFill>
            <a:srgbClr val="1B7A8C"/>
          </a:solidFill>
          <a:ln w="12700">
            <a:solidFill>
              <a:srgbClr val="333333"/>
            </a:solidFill>
            <a:prstDash val="solid"/>
          </a:ln>
        </p:spPr>
      </p:sp>
      <p:sp>
        <p:nvSpPr>
          <p:cNvPr id="9" name="Shape 7"/>
          <p:cNvSpPr/>
          <p:nvPr/>
        </p:nvSpPr>
        <p:spPr>
          <a:xfrm>
            <a:off x="3511296" y="2734056"/>
            <a:ext cx="310896" cy="265176"/>
          </a:xfrm>
          <a:prstGeom prst="rect">
            <a:avLst/>
          </a:prstGeom>
          <a:solidFill>
            <a:srgbClr val="1B7A8C"/>
          </a:solidFill>
          <a:ln w="12700">
            <a:solidFill>
              <a:srgbClr val="333333"/>
            </a:solidFill>
            <a:prstDash val="solid"/>
          </a:ln>
        </p:spPr>
      </p:sp>
      <p:sp>
        <p:nvSpPr>
          <p:cNvPr id="10" name="Shape 8"/>
          <p:cNvSpPr/>
          <p:nvPr/>
        </p:nvSpPr>
        <p:spPr>
          <a:xfrm>
            <a:off x="3913632" y="2734056"/>
            <a:ext cx="310896" cy="265176"/>
          </a:xfrm>
          <a:prstGeom prst="rect">
            <a:avLst/>
          </a:prstGeom>
          <a:solidFill>
            <a:srgbClr val="1B7A8C"/>
          </a:solidFill>
          <a:ln w="12700">
            <a:solidFill>
              <a:srgbClr val="333333"/>
            </a:solidFill>
            <a:prstDash val="solid"/>
          </a:ln>
        </p:spPr>
      </p:sp>
      <p:sp>
        <p:nvSpPr>
          <p:cNvPr id="11" name="Shape 9"/>
          <p:cNvSpPr/>
          <p:nvPr/>
        </p:nvSpPr>
        <p:spPr>
          <a:xfrm>
            <a:off x="4315968" y="2734056"/>
            <a:ext cx="310896" cy="265176"/>
          </a:xfrm>
          <a:prstGeom prst="rect">
            <a:avLst/>
          </a:prstGeom>
          <a:solidFill>
            <a:srgbClr val="1B7A8C"/>
          </a:solidFill>
          <a:ln w="12700">
            <a:solidFill>
              <a:srgbClr val="333333"/>
            </a:solidFill>
            <a:prstDash val="solid"/>
          </a:ln>
        </p:spPr>
      </p:sp>
      <p:sp>
        <p:nvSpPr>
          <p:cNvPr id="12" name="Shape 10"/>
          <p:cNvSpPr/>
          <p:nvPr/>
        </p:nvSpPr>
        <p:spPr>
          <a:xfrm>
            <a:off x="4718304" y="2734056"/>
            <a:ext cx="310896" cy="265176"/>
          </a:xfrm>
          <a:prstGeom prst="rect">
            <a:avLst/>
          </a:prstGeom>
          <a:solidFill>
            <a:srgbClr val="1B7A8C"/>
          </a:solidFill>
          <a:ln w="12700">
            <a:solidFill>
              <a:srgbClr val="333333"/>
            </a:solidFill>
            <a:prstDash val="solid"/>
          </a:ln>
        </p:spPr>
      </p:sp>
      <p:sp>
        <p:nvSpPr>
          <p:cNvPr id="13" name="Shape 11"/>
          <p:cNvSpPr/>
          <p:nvPr/>
        </p:nvSpPr>
        <p:spPr>
          <a:xfrm>
            <a:off x="5120640" y="2734056"/>
            <a:ext cx="310896" cy="265176"/>
          </a:xfrm>
          <a:prstGeom prst="rect">
            <a:avLst/>
          </a:prstGeom>
          <a:solidFill>
            <a:srgbClr val="1B7A8C"/>
          </a:solidFill>
          <a:ln w="12700">
            <a:solidFill>
              <a:srgbClr val="333333"/>
            </a:solidFill>
            <a:prstDash val="solid"/>
          </a:ln>
        </p:spPr>
      </p:sp>
      <p:sp>
        <p:nvSpPr>
          <p:cNvPr id="14" name="Text 12"/>
          <p:cNvSpPr txBox="1"/>
          <p:nvPr/>
        </p:nvSpPr>
        <p:spPr>
          <a:xfrm>
            <a:off x="5623560" y="2697480"/>
            <a:ext cx="914400" cy="320040"/>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6 of 6</a:t>
            </a:r>
            <a:endParaRPr lang="en-US" sz="1100" dirty="0"/>
          </a:p>
        </p:txBody>
      </p:sp>
      <p:sp>
        <p:nvSpPr>
          <p:cNvPr id="15" name="Text 13"/>
          <p:cNvSpPr txBox="1"/>
          <p:nvPr/>
        </p:nvSpPr>
        <p:spPr>
          <a:xfrm>
            <a:off x="685800" y="3383280"/>
            <a:ext cx="2286000" cy="320040"/>
          </a:xfrm>
          <a:prstGeom prst="rect">
            <a:avLst/>
          </a:prstGeom>
          <a:noFill/>
          <a:ln/>
        </p:spPr>
        <p:txBody>
          <a:bodyPr wrap="square" lIns="0" tIns="0" rIns="0" bIns="0" rtlCol="0" anchor="ctr"/>
          <a:lstStyle/>
          <a:p>
            <a:pPr indent="0" marL="0">
              <a:buNone/>
            </a:pPr>
            <a:r>
              <a:rPr lang="en-US" sz="1250" dirty="0">
                <a:solidFill>
                  <a:srgbClr val="41525E"/>
                </a:solidFill>
                <a:latin typeface="Trebuchet MS" pitchFamily="34" charset="0"/>
                <a:ea typeface="Trebuchet MS" pitchFamily="34" charset="-122"/>
                <a:cs typeface="Trebuchet MS" pitchFamily="34" charset="-120"/>
              </a:rPr>
              <a:t>Diego Coppola</a:t>
            </a:r>
            <a:endParaRPr lang="en-US" sz="1250" dirty="0"/>
          </a:p>
        </p:txBody>
      </p:sp>
      <p:sp>
        <p:nvSpPr>
          <p:cNvPr id="16" name="Shape 14"/>
          <p:cNvSpPr/>
          <p:nvPr/>
        </p:nvSpPr>
        <p:spPr>
          <a:xfrm>
            <a:off x="3108960" y="3419856"/>
            <a:ext cx="310896" cy="265176"/>
          </a:xfrm>
          <a:prstGeom prst="rect">
            <a:avLst/>
          </a:prstGeom>
          <a:solidFill>
            <a:srgbClr val="1B7A8C"/>
          </a:solidFill>
          <a:ln w="12700">
            <a:solidFill>
              <a:srgbClr val="333333"/>
            </a:solidFill>
            <a:prstDash val="solid"/>
          </a:ln>
        </p:spPr>
      </p:sp>
      <p:sp>
        <p:nvSpPr>
          <p:cNvPr id="17" name="Shape 15"/>
          <p:cNvSpPr/>
          <p:nvPr/>
        </p:nvSpPr>
        <p:spPr>
          <a:xfrm>
            <a:off x="3511296" y="3419856"/>
            <a:ext cx="310896" cy="265176"/>
          </a:xfrm>
          <a:prstGeom prst="rect">
            <a:avLst/>
          </a:prstGeom>
          <a:solidFill>
            <a:srgbClr val="1B7A8C"/>
          </a:solidFill>
          <a:ln w="12700">
            <a:solidFill>
              <a:srgbClr val="333333"/>
            </a:solidFill>
            <a:prstDash val="solid"/>
          </a:ln>
        </p:spPr>
      </p:sp>
      <p:sp>
        <p:nvSpPr>
          <p:cNvPr id="18" name="Shape 16"/>
          <p:cNvSpPr/>
          <p:nvPr/>
        </p:nvSpPr>
        <p:spPr>
          <a:xfrm>
            <a:off x="3913632" y="3419856"/>
            <a:ext cx="310896" cy="265176"/>
          </a:xfrm>
          <a:prstGeom prst="rect">
            <a:avLst/>
          </a:prstGeom>
          <a:solidFill>
            <a:srgbClr val="1B7A8C"/>
          </a:solidFill>
          <a:ln w="12700">
            <a:solidFill>
              <a:srgbClr val="333333"/>
            </a:solidFill>
            <a:prstDash val="solid"/>
          </a:ln>
        </p:spPr>
      </p:sp>
      <p:sp>
        <p:nvSpPr>
          <p:cNvPr id="19" name="Shape 17"/>
          <p:cNvSpPr/>
          <p:nvPr/>
        </p:nvSpPr>
        <p:spPr>
          <a:xfrm>
            <a:off x="4315968" y="3419856"/>
            <a:ext cx="310896" cy="265176"/>
          </a:xfrm>
          <a:prstGeom prst="rect">
            <a:avLst/>
          </a:prstGeom>
          <a:solidFill>
            <a:srgbClr val="1B7A8C"/>
          </a:solidFill>
          <a:ln w="12700">
            <a:solidFill>
              <a:srgbClr val="333333"/>
            </a:solidFill>
            <a:prstDash val="solid"/>
          </a:ln>
        </p:spPr>
      </p:sp>
      <p:sp>
        <p:nvSpPr>
          <p:cNvPr id="20" name="Shape 18"/>
          <p:cNvSpPr/>
          <p:nvPr/>
        </p:nvSpPr>
        <p:spPr>
          <a:xfrm>
            <a:off x="4718304" y="3419856"/>
            <a:ext cx="310896" cy="265176"/>
          </a:xfrm>
          <a:prstGeom prst="rect">
            <a:avLst/>
          </a:prstGeom>
          <a:solidFill>
            <a:srgbClr val="E6EDF1"/>
          </a:solidFill>
          <a:ln w="12700">
            <a:solidFill>
              <a:srgbClr val="333333"/>
            </a:solidFill>
            <a:prstDash val="solid"/>
          </a:ln>
        </p:spPr>
      </p:sp>
      <p:sp>
        <p:nvSpPr>
          <p:cNvPr id="21" name="Shape 19"/>
          <p:cNvSpPr/>
          <p:nvPr/>
        </p:nvSpPr>
        <p:spPr>
          <a:xfrm>
            <a:off x="5120640" y="3419856"/>
            <a:ext cx="310896" cy="265176"/>
          </a:xfrm>
          <a:prstGeom prst="rect">
            <a:avLst/>
          </a:prstGeom>
          <a:solidFill>
            <a:srgbClr val="E6EDF1"/>
          </a:solidFill>
          <a:ln w="12700">
            <a:solidFill>
              <a:srgbClr val="333333"/>
            </a:solidFill>
            <a:prstDash val="solid"/>
          </a:ln>
        </p:spPr>
      </p:sp>
      <p:sp>
        <p:nvSpPr>
          <p:cNvPr id="22" name="Text 20"/>
          <p:cNvSpPr txBox="1"/>
          <p:nvPr/>
        </p:nvSpPr>
        <p:spPr>
          <a:xfrm>
            <a:off x="5623560" y="3383280"/>
            <a:ext cx="914400" cy="320040"/>
          </a:xfrm>
          <a:prstGeom prst="rect">
            <a:avLst/>
          </a:prstGeom>
          <a:noFill/>
          <a:ln/>
        </p:spPr>
        <p:txBody>
          <a:bodyPr wrap="square" lIns="0" tIns="0" rIns="0" bIns="0" rtlCol="0" anchor="ctr"/>
          <a:lstStyle/>
          <a:p>
            <a:pPr indent="0" marL="0">
              <a:buNone/>
            </a:pPr>
            <a:r>
              <a:rPr lang="en-US" sz="1100" b="1" dirty="0">
                <a:solidFill>
                  <a:srgbClr val="1B7A8C"/>
                </a:solidFill>
                <a:latin typeface="Consolas" pitchFamily="34" charset="0"/>
                <a:ea typeface="Consolas" pitchFamily="34" charset="-122"/>
                <a:cs typeface="Consolas" pitchFamily="34" charset="-120"/>
              </a:rPr>
              <a:t>4 of 6</a:t>
            </a:r>
            <a:endParaRPr lang="en-US" sz="1100" dirty="0"/>
          </a:p>
        </p:txBody>
      </p:sp>
      <p:sp>
        <p:nvSpPr>
          <p:cNvPr id="23" name="Text 21"/>
          <p:cNvSpPr txBox="1"/>
          <p:nvPr/>
        </p:nvSpPr>
        <p:spPr>
          <a:xfrm>
            <a:off x="685800" y="4069080"/>
            <a:ext cx="2286000" cy="320040"/>
          </a:xfrm>
          <a:prstGeom prst="rect">
            <a:avLst/>
          </a:prstGeom>
          <a:noFill/>
          <a:ln/>
        </p:spPr>
        <p:txBody>
          <a:bodyPr wrap="square" lIns="0" tIns="0" rIns="0" bIns="0" rtlCol="0" anchor="ctr"/>
          <a:lstStyle/>
          <a:p>
            <a:pPr indent="0" marL="0">
              <a:buNone/>
            </a:pPr>
            <a:r>
              <a:rPr lang="en-US" sz="1250" dirty="0">
                <a:solidFill>
                  <a:srgbClr val="41525E"/>
                </a:solidFill>
                <a:latin typeface="Trebuchet MS" pitchFamily="34" charset="0"/>
                <a:ea typeface="Trebuchet MS" pitchFamily="34" charset="-122"/>
                <a:cs typeface="Trebuchet MS" pitchFamily="34" charset="-120"/>
              </a:rPr>
              <a:t>Facundo Buonanotte</a:t>
            </a:r>
            <a:endParaRPr lang="en-US" sz="1250" dirty="0"/>
          </a:p>
        </p:txBody>
      </p:sp>
      <p:sp>
        <p:nvSpPr>
          <p:cNvPr id="24" name="Shape 22"/>
          <p:cNvSpPr/>
          <p:nvPr/>
        </p:nvSpPr>
        <p:spPr>
          <a:xfrm>
            <a:off x="3108960" y="4105656"/>
            <a:ext cx="310896" cy="265176"/>
          </a:xfrm>
          <a:prstGeom prst="rect">
            <a:avLst/>
          </a:prstGeom>
          <a:solidFill>
            <a:srgbClr val="F0A63C"/>
          </a:solidFill>
          <a:ln w="12700">
            <a:solidFill>
              <a:srgbClr val="333333"/>
            </a:solidFill>
            <a:prstDash val="solid"/>
          </a:ln>
        </p:spPr>
      </p:sp>
      <p:sp>
        <p:nvSpPr>
          <p:cNvPr id="25" name="Shape 23"/>
          <p:cNvSpPr/>
          <p:nvPr/>
        </p:nvSpPr>
        <p:spPr>
          <a:xfrm>
            <a:off x="3511296" y="4105656"/>
            <a:ext cx="310896" cy="265176"/>
          </a:xfrm>
          <a:prstGeom prst="rect">
            <a:avLst/>
          </a:prstGeom>
          <a:solidFill>
            <a:srgbClr val="F0A63C"/>
          </a:solidFill>
          <a:ln w="12700">
            <a:solidFill>
              <a:srgbClr val="333333"/>
            </a:solidFill>
            <a:prstDash val="solid"/>
          </a:ln>
        </p:spPr>
      </p:sp>
      <p:sp>
        <p:nvSpPr>
          <p:cNvPr id="26" name="Shape 24"/>
          <p:cNvSpPr/>
          <p:nvPr/>
        </p:nvSpPr>
        <p:spPr>
          <a:xfrm>
            <a:off x="3913632" y="4105656"/>
            <a:ext cx="310896" cy="265176"/>
          </a:xfrm>
          <a:prstGeom prst="rect">
            <a:avLst/>
          </a:prstGeom>
          <a:solidFill>
            <a:srgbClr val="F0A63C"/>
          </a:solidFill>
          <a:ln w="12700">
            <a:solidFill>
              <a:srgbClr val="333333"/>
            </a:solidFill>
            <a:prstDash val="solid"/>
          </a:ln>
        </p:spPr>
      </p:sp>
      <p:sp>
        <p:nvSpPr>
          <p:cNvPr id="27" name="Shape 25"/>
          <p:cNvSpPr/>
          <p:nvPr/>
        </p:nvSpPr>
        <p:spPr>
          <a:xfrm>
            <a:off x="4315968" y="4105656"/>
            <a:ext cx="310896" cy="265176"/>
          </a:xfrm>
          <a:prstGeom prst="rect">
            <a:avLst/>
          </a:prstGeom>
          <a:solidFill>
            <a:srgbClr val="E6EDF1"/>
          </a:solidFill>
          <a:ln w="12700">
            <a:solidFill>
              <a:srgbClr val="333333"/>
            </a:solidFill>
            <a:prstDash val="solid"/>
          </a:ln>
        </p:spPr>
      </p:sp>
      <p:sp>
        <p:nvSpPr>
          <p:cNvPr id="28" name="Shape 26"/>
          <p:cNvSpPr/>
          <p:nvPr/>
        </p:nvSpPr>
        <p:spPr>
          <a:xfrm>
            <a:off x="4718304" y="4105656"/>
            <a:ext cx="310896" cy="265176"/>
          </a:xfrm>
          <a:prstGeom prst="rect">
            <a:avLst/>
          </a:prstGeom>
          <a:solidFill>
            <a:srgbClr val="E6EDF1"/>
          </a:solidFill>
          <a:ln w="12700">
            <a:solidFill>
              <a:srgbClr val="333333"/>
            </a:solidFill>
            <a:prstDash val="solid"/>
          </a:ln>
        </p:spPr>
      </p:sp>
      <p:sp>
        <p:nvSpPr>
          <p:cNvPr id="29" name="Shape 27"/>
          <p:cNvSpPr/>
          <p:nvPr/>
        </p:nvSpPr>
        <p:spPr>
          <a:xfrm>
            <a:off x="5120640" y="4105656"/>
            <a:ext cx="310896" cy="265176"/>
          </a:xfrm>
          <a:prstGeom prst="rect">
            <a:avLst/>
          </a:prstGeom>
          <a:solidFill>
            <a:srgbClr val="E6EDF1"/>
          </a:solidFill>
          <a:ln w="12700">
            <a:solidFill>
              <a:srgbClr val="333333"/>
            </a:solidFill>
            <a:prstDash val="solid"/>
          </a:ln>
        </p:spPr>
      </p:sp>
      <p:sp>
        <p:nvSpPr>
          <p:cNvPr id="30" name="Text 28"/>
          <p:cNvSpPr txBox="1"/>
          <p:nvPr/>
        </p:nvSpPr>
        <p:spPr>
          <a:xfrm>
            <a:off x="5623560" y="4069080"/>
            <a:ext cx="914400" cy="320040"/>
          </a:xfrm>
          <a:prstGeom prst="rect">
            <a:avLst/>
          </a:prstGeom>
          <a:noFill/>
          <a:ln/>
        </p:spPr>
        <p:txBody>
          <a:bodyPr wrap="square" lIns="0" tIns="0" rIns="0" bIns="0" rtlCol="0" anchor="ctr"/>
          <a:lstStyle/>
          <a:p>
            <a:pPr indent="0" marL="0">
              <a:buNone/>
            </a:pPr>
            <a:r>
              <a:rPr lang="en-US" sz="1100" b="1" dirty="0">
                <a:solidFill>
                  <a:srgbClr val="F0A63C"/>
                </a:solidFill>
                <a:latin typeface="Consolas" pitchFamily="34" charset="0"/>
                <a:ea typeface="Consolas" pitchFamily="34" charset="-122"/>
                <a:cs typeface="Consolas" pitchFamily="34" charset="-120"/>
              </a:rPr>
              <a:t>3 of 6</a:t>
            </a:r>
            <a:endParaRPr lang="en-US" sz="1100" dirty="0"/>
          </a:p>
        </p:txBody>
      </p:sp>
      <p:sp>
        <p:nvSpPr>
          <p:cNvPr id="31" name="Text 29"/>
          <p:cNvSpPr txBox="1"/>
          <p:nvPr/>
        </p:nvSpPr>
        <p:spPr>
          <a:xfrm>
            <a:off x="685800" y="4846320"/>
            <a:ext cx="5760720" cy="548640"/>
          </a:xfrm>
          <a:prstGeom prst="rect">
            <a:avLst/>
          </a:prstGeom>
          <a:noFill/>
          <a:ln/>
        </p:spPr>
        <p:txBody>
          <a:bodyPr wrap="square" lIns="0" tIns="0" rIns="0" bIns="0" rtlCol="0" anchor="ctr"/>
          <a:lstStyle/>
          <a:p>
            <a:pPr indent="0" marL="0">
              <a:lnSpc>
                <a:spcPts val="1700"/>
              </a:lnSpc>
              <a:buNone/>
            </a:pPr>
            <a:r>
              <a:rPr lang="en-US" sz="1250" i="1" dirty="0">
                <a:solidFill>
                  <a:srgbClr val="41525E"/>
                </a:solidFill>
                <a:latin typeface="Georgia" pitchFamily="34" charset="0"/>
                <a:ea typeface="Georgia" pitchFamily="34" charset="-122"/>
                <a:cs typeface="Georgia" pitchFamily="34" charset="-120"/>
              </a:rPr>
              <a:t>Meaningful stability, not complete invariance. The core recommendation persists; the remainder shifts with managerial priorities.</a:t>
            </a:r>
            <a:endParaRPr lang="en-US" sz="1250" dirty="0"/>
          </a:p>
        </p:txBody>
      </p:sp>
      <p:graphicFrame>
        <p:nvGraphicFramePr>
          <p:cNvPr id="32" name="Chart 0" descr=""/>
          <p:cNvGraphicFramePr/>
          <p:nvPr/>
        </p:nvGraphicFramePr>
        <p:xfrm>
          <a:off x="6675120" y="2377440"/>
          <a:ext cx="4800600" cy="2377440"/>
        </p:xfrm>
        <a:graphic xmlns:a="http://schemas.openxmlformats.org/drawingml/2006/main">
          <a:graphicData uri="http://schemas.openxmlformats.org/drawingml/2006/chart">
            <c:chart xmlns:c="http://schemas.openxmlformats.org/drawingml/2006/chart" r:id="rId1"/>
          </a:graphicData>
        </a:graphic>
      </p:graphicFrame>
      <p:sp>
        <p:nvSpPr>
          <p:cNvPr id="33" name="Text 30"/>
          <p:cNvSpPr txBox="1"/>
          <p:nvPr/>
        </p:nvSpPr>
        <p:spPr>
          <a:xfrm>
            <a:off x="6675120" y="4846320"/>
            <a:ext cx="4800600" cy="731520"/>
          </a:xfrm>
          <a:prstGeom prst="rect">
            <a:avLst/>
          </a:prstGeom>
          <a:noFill/>
          <a:ln/>
        </p:spPr>
        <p:txBody>
          <a:bodyPr wrap="square" lIns="0" tIns="0" rIns="0" bIns="0" rtlCol="0" anchor="ctr"/>
          <a:lstStyle/>
          <a:p>
            <a:pPr indent="0" marL="0">
              <a:lnSpc>
                <a:spcPts val="1500"/>
              </a:lnSpc>
              <a:buNone/>
            </a:pPr>
            <a:r>
              <a:rPr lang="en-US" sz="1100" dirty="0">
                <a:solidFill>
                  <a:srgbClr val="41525E"/>
                </a:solidFill>
                <a:latin typeface="Trebuchet MS" pitchFamily="34" charset="0"/>
                <a:ea typeface="Trebuchet MS" pitchFamily="34" charset="-122"/>
                <a:cs typeface="Trebuchet MS" pitchFamily="34" charset="-120"/>
              </a:rPr>
              <a:t>Beyond about €75M more budget buys nothing: the quality, age, risk and confidence constraints bind before the money does. Relaxing a constraint may be worth more than raising the budget.</a:t>
            </a:r>
            <a:endParaRPr lang="en-US" sz="1100" dirty="0"/>
          </a:p>
        </p:txBody>
      </p:sp>
      <p:sp>
        <p:nvSpPr>
          <p:cNvPr id="34" name="Text 31"/>
          <p:cNvSpPr txBox="1"/>
          <p:nvPr/>
        </p:nvSpPr>
        <p:spPr>
          <a:xfrm>
            <a:off x="685800" y="5852160"/>
            <a:ext cx="10789920" cy="329184"/>
          </a:xfrm>
          <a:prstGeom prst="rect">
            <a:avLst/>
          </a:prstGeom>
          <a:noFill/>
          <a:ln/>
        </p:spPr>
        <p:txBody>
          <a:bodyPr wrap="square" lIns="0" tIns="0" rIns="0" bIns="0" rtlCol="0" anchor="ctr"/>
          <a:lstStyle/>
          <a:p>
            <a:pPr indent="0" marL="0">
              <a:buNone/>
            </a:pPr>
            <a:r>
              <a:rPr lang="en-US" sz="1000" dirty="0">
                <a:solidFill>
                  <a:srgbClr val="8FA5B2"/>
                </a:solidFill>
                <a:latin typeface="Consolas" pitchFamily="34" charset="0"/>
                <a:ea typeface="Consolas" pitchFamily="34" charset="-122"/>
                <a:cs typeface="Consolas" pitchFamily="34" charset="-120"/>
              </a:rPr>
              <a:t>A property of the model's eligible universe, not evidence of a €52M optimum in the real transfer market.</a:t>
            </a:r>
            <a:endParaRPr lang="en-US" sz="1000" dirty="0"/>
          </a:p>
        </p:txBody>
      </p:sp>
      <p:sp>
        <p:nvSpPr>
          <p:cNvPr id="35" name="Text 32"/>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12 / 16</a:t>
            </a:r>
            <a:endParaRPr lang="en-US" sz="900" dirty="0"/>
          </a:p>
        </p:txBody>
      </p:sp>
      <p:sp>
        <p:nvSpPr>
          <p:cNvPr id="36" name="Text 33"/>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GENERATIVE AI AS AN OBJECT OF STUDY</a:t>
            </a:r>
            <a:endParaRPr lang="en-US" sz="1000" dirty="0"/>
          </a:p>
        </p:txBody>
      </p:sp>
      <p:sp>
        <p:nvSpPr>
          <p:cNvPr id="4" name="Text 2"/>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2800" b="1" dirty="0">
                <a:solidFill>
                  <a:srgbClr val="0C1A24"/>
                </a:solidFill>
                <a:latin typeface="Georgia" pitchFamily="34" charset="0"/>
                <a:ea typeface="Georgia" pitchFamily="34" charset="-122"/>
                <a:cs typeface="Georgia" pitchFamily="34" charset="-120"/>
              </a:rPr>
              <a:t>The guardrail caught the model inventing statistics</a:t>
            </a:r>
            <a:endParaRPr lang="en-US" sz="2800" dirty="0"/>
          </a:p>
        </p:txBody>
      </p:sp>
      <p:sp>
        <p:nvSpPr>
          <p:cNvPr id="5" name="Shape 3"/>
          <p:cNvSpPr/>
          <p:nvPr/>
        </p:nvSpPr>
        <p:spPr>
          <a:xfrm>
            <a:off x="685800" y="2139696"/>
            <a:ext cx="1463040" cy="41148"/>
          </a:xfrm>
          <a:prstGeom prst="rect">
            <a:avLst/>
          </a:prstGeom>
          <a:solidFill>
            <a:srgbClr val="1B7A8C"/>
          </a:solidFill>
          <a:ln w="12700">
            <a:solidFill>
              <a:srgbClr val="333333"/>
            </a:solidFill>
            <a:prstDash val="solid"/>
          </a:ln>
        </p:spPr>
      </p:sp>
      <p:sp>
        <p:nvSpPr>
          <p:cNvPr id="6" name="Text 4"/>
          <p:cNvSpPr txBox="1"/>
          <p:nvPr/>
        </p:nvSpPr>
        <p:spPr>
          <a:xfrm>
            <a:off x="868680" y="2432304"/>
            <a:ext cx="6949440" cy="237744"/>
          </a:xfrm>
          <a:prstGeom prst="rect">
            <a:avLst/>
          </a:prstGeom>
          <a:noFill/>
          <a:ln/>
        </p:spPr>
        <p:txBody>
          <a:bodyPr wrap="square" lIns="0" tIns="0" rIns="0" bIns="0" rtlCol="0" anchor="ctr"/>
          <a:lstStyle/>
          <a:p>
            <a:pPr indent="0" marL="0">
              <a:buNone/>
            </a:pPr>
            <a:r>
              <a:rPr lang="en-US" sz="850" b="1" spc="100" kern="0" dirty="0">
                <a:solidFill>
                  <a:srgbClr val="9DB2BF"/>
                </a:solidFill>
                <a:latin typeface="Consolas" pitchFamily="34" charset="0"/>
                <a:ea typeface="Consolas" pitchFamily="34" charset="-122"/>
                <a:cs typeface="Consolas" pitchFamily="34" charset="-120"/>
              </a:rPr>
              <a:t>ARM          GENERATOR          INDEPENDENCE FROM VALIDATOR          RESULT</a:t>
            </a:r>
            <a:endParaRPr lang="en-US" sz="850" dirty="0"/>
          </a:p>
        </p:txBody>
      </p:sp>
      <p:sp>
        <p:nvSpPr>
          <p:cNvPr id="7" name="Shape 5"/>
          <p:cNvSpPr/>
          <p:nvPr/>
        </p:nvSpPr>
        <p:spPr>
          <a:xfrm>
            <a:off x="685800" y="2743200"/>
            <a:ext cx="7223760" cy="713232"/>
          </a:xfrm>
          <a:prstGeom prst="rect">
            <a:avLst/>
          </a:prstGeom>
          <a:solidFill>
            <a:srgbClr val="FFFFFF"/>
          </a:solidFill>
          <a:ln w="12700">
            <a:solidFill>
              <a:srgbClr val="D3DFE6"/>
            </a:solidFill>
            <a:prstDash val="solid"/>
          </a:ln>
        </p:spPr>
      </p:sp>
      <p:sp>
        <p:nvSpPr>
          <p:cNvPr id="8" name="Shape 6"/>
          <p:cNvSpPr/>
          <p:nvPr/>
        </p:nvSpPr>
        <p:spPr>
          <a:xfrm>
            <a:off x="685800" y="2743200"/>
            <a:ext cx="36576" cy="713232"/>
          </a:xfrm>
          <a:prstGeom prst="rect">
            <a:avLst/>
          </a:prstGeom>
          <a:solidFill>
            <a:srgbClr val="9DB2BF"/>
          </a:solidFill>
          <a:ln w="12700">
            <a:solidFill>
              <a:srgbClr val="333333"/>
            </a:solidFill>
            <a:prstDash val="solid"/>
          </a:ln>
        </p:spPr>
      </p:sp>
      <p:sp>
        <p:nvSpPr>
          <p:cNvPr id="9" name="Text 7"/>
          <p:cNvSpPr txBox="1"/>
          <p:nvPr/>
        </p:nvSpPr>
        <p:spPr>
          <a:xfrm>
            <a:off x="914400" y="2926080"/>
            <a:ext cx="365760" cy="365760"/>
          </a:xfrm>
          <a:prstGeom prst="rect">
            <a:avLst/>
          </a:prstGeom>
          <a:noFill/>
          <a:ln/>
        </p:spPr>
        <p:txBody>
          <a:bodyPr wrap="square" lIns="0" tIns="0" rIns="0" bIns="0" rtlCol="0" anchor="ctr"/>
          <a:lstStyle/>
          <a:p>
            <a:pPr indent="0" marL="0">
              <a:buNone/>
            </a:pPr>
            <a:r>
              <a:rPr lang="en-US" sz="1800" b="1" dirty="0">
                <a:solidFill>
                  <a:srgbClr val="9DB2BF"/>
                </a:solidFill>
                <a:latin typeface="Georgia" pitchFamily="34" charset="0"/>
                <a:ea typeface="Georgia" pitchFamily="34" charset="-122"/>
                <a:cs typeface="Georgia" pitchFamily="34" charset="-120"/>
              </a:rPr>
              <a:t>A</a:t>
            </a:r>
            <a:endParaRPr lang="en-US" sz="1800" dirty="0"/>
          </a:p>
        </p:txBody>
      </p:sp>
      <p:sp>
        <p:nvSpPr>
          <p:cNvPr id="10" name="Text 8"/>
          <p:cNvSpPr txBox="1"/>
          <p:nvPr/>
        </p:nvSpPr>
        <p:spPr>
          <a:xfrm>
            <a:off x="1371600" y="2962656"/>
            <a:ext cx="2377440" cy="310896"/>
          </a:xfrm>
          <a:prstGeom prst="rect">
            <a:avLst/>
          </a:prstGeom>
          <a:noFill/>
          <a:ln/>
        </p:spPr>
        <p:txBody>
          <a:bodyPr wrap="square" lIns="0" tIns="0" rIns="0" bIns="0" rtlCol="0" anchor="ctr"/>
          <a:lstStyle/>
          <a:p>
            <a:pPr indent="0" marL="0">
              <a:buNone/>
            </a:pPr>
            <a:r>
              <a:rPr lang="en-US" sz="1200" dirty="0">
                <a:solidFill>
                  <a:srgbClr val="0C1A24"/>
                </a:solidFill>
                <a:latin typeface="Trebuchet MS" pitchFamily="34" charset="0"/>
                <a:ea typeface="Trebuchet MS" pitchFamily="34" charset="-122"/>
                <a:cs typeface="Trebuchet MS" pitchFamily="34" charset="-120"/>
              </a:rPr>
              <a:t>Deterministic template</a:t>
            </a:r>
            <a:endParaRPr lang="en-US" sz="1200" dirty="0"/>
          </a:p>
        </p:txBody>
      </p:sp>
      <p:sp>
        <p:nvSpPr>
          <p:cNvPr id="11" name="Text 9"/>
          <p:cNvSpPr txBox="1"/>
          <p:nvPr/>
        </p:nvSpPr>
        <p:spPr>
          <a:xfrm>
            <a:off x="3840480" y="2962656"/>
            <a:ext cx="2926080" cy="310896"/>
          </a:xfrm>
          <a:prstGeom prst="rect">
            <a:avLst/>
          </a:prstGeom>
          <a:noFill/>
          <a:ln/>
        </p:spPr>
        <p:txBody>
          <a:bodyPr wrap="square" lIns="0" tIns="0" rIns="0" bIns="0" rtlCol="0" anchor="ctr"/>
          <a:lstStyle/>
          <a:p>
            <a:pPr indent="0" marL="0">
              <a:buNone/>
            </a:pPr>
            <a:r>
              <a:rPr lang="en-US" sz="1050" dirty="0">
                <a:solidFill>
                  <a:srgbClr val="5A6E7B"/>
                </a:solidFill>
                <a:latin typeface="Trebuchet MS" pitchFamily="34" charset="0"/>
                <a:ea typeface="Trebuchet MS" pitchFamily="34" charset="-122"/>
                <a:cs typeface="Trebuchet MS" pitchFamily="34" charset="-120"/>
              </a:rPr>
              <a:t>Full independence</a:t>
            </a:r>
            <a:endParaRPr lang="en-US" sz="1050" dirty="0"/>
          </a:p>
        </p:txBody>
      </p:sp>
      <p:sp>
        <p:nvSpPr>
          <p:cNvPr id="12" name="Text 10"/>
          <p:cNvSpPr txBox="1"/>
          <p:nvPr/>
        </p:nvSpPr>
        <p:spPr>
          <a:xfrm>
            <a:off x="6720840" y="2926080"/>
            <a:ext cx="1143000" cy="365760"/>
          </a:xfrm>
          <a:prstGeom prst="rect">
            <a:avLst/>
          </a:prstGeom>
          <a:noFill/>
          <a:ln/>
        </p:spPr>
        <p:txBody>
          <a:bodyPr wrap="square" lIns="0" tIns="0" rIns="0" bIns="0" rtlCol="0" anchor="ctr"/>
          <a:lstStyle/>
          <a:p>
            <a:pPr indent="0" marL="0">
              <a:buNone/>
            </a:pPr>
            <a:r>
              <a:rPr lang="en-US" sz="1300" b="1" dirty="0">
                <a:solidFill>
                  <a:srgbClr val="9DB2BF"/>
                </a:solidFill>
                <a:latin typeface="Georgia" pitchFamily="34" charset="0"/>
                <a:ea typeface="Georgia" pitchFamily="34" charset="-122"/>
                <a:cs typeface="Georgia" pitchFamily="34" charset="-120"/>
              </a:rPr>
              <a:t>3/3</a:t>
            </a:r>
            <a:endParaRPr lang="en-US" sz="1300" dirty="0"/>
          </a:p>
        </p:txBody>
      </p:sp>
      <p:sp>
        <p:nvSpPr>
          <p:cNvPr id="13" name="Shape 11"/>
          <p:cNvSpPr/>
          <p:nvPr/>
        </p:nvSpPr>
        <p:spPr>
          <a:xfrm>
            <a:off x="685800" y="3584448"/>
            <a:ext cx="7223760" cy="713232"/>
          </a:xfrm>
          <a:prstGeom prst="rect">
            <a:avLst/>
          </a:prstGeom>
          <a:solidFill>
            <a:srgbClr val="FFFFFF"/>
          </a:solidFill>
          <a:ln w="12700">
            <a:solidFill>
              <a:srgbClr val="D3DFE6"/>
            </a:solidFill>
            <a:prstDash val="solid"/>
          </a:ln>
        </p:spPr>
      </p:sp>
      <p:sp>
        <p:nvSpPr>
          <p:cNvPr id="14" name="Shape 12"/>
          <p:cNvSpPr/>
          <p:nvPr/>
        </p:nvSpPr>
        <p:spPr>
          <a:xfrm>
            <a:off x="685800" y="3584448"/>
            <a:ext cx="36576" cy="713232"/>
          </a:xfrm>
          <a:prstGeom prst="rect">
            <a:avLst/>
          </a:prstGeom>
          <a:solidFill>
            <a:srgbClr val="E2574C"/>
          </a:solidFill>
          <a:ln w="12700">
            <a:solidFill>
              <a:srgbClr val="333333"/>
            </a:solidFill>
            <a:prstDash val="solid"/>
          </a:ln>
        </p:spPr>
      </p:sp>
      <p:sp>
        <p:nvSpPr>
          <p:cNvPr id="15" name="Text 13"/>
          <p:cNvSpPr txBox="1"/>
          <p:nvPr/>
        </p:nvSpPr>
        <p:spPr>
          <a:xfrm>
            <a:off x="914400" y="3767328"/>
            <a:ext cx="365760" cy="365760"/>
          </a:xfrm>
          <a:prstGeom prst="rect">
            <a:avLst/>
          </a:prstGeom>
          <a:noFill/>
          <a:ln/>
        </p:spPr>
        <p:txBody>
          <a:bodyPr wrap="square" lIns="0" tIns="0" rIns="0" bIns="0" rtlCol="0" anchor="ctr"/>
          <a:lstStyle/>
          <a:p>
            <a:pPr indent="0" marL="0">
              <a:buNone/>
            </a:pPr>
            <a:r>
              <a:rPr lang="en-US" sz="1800" b="1" dirty="0">
                <a:solidFill>
                  <a:srgbClr val="E2574C"/>
                </a:solidFill>
                <a:latin typeface="Georgia" pitchFamily="34" charset="0"/>
                <a:ea typeface="Georgia" pitchFamily="34" charset="-122"/>
                <a:cs typeface="Georgia" pitchFamily="34" charset="-120"/>
              </a:rPr>
              <a:t>B</a:t>
            </a:r>
            <a:endParaRPr lang="en-US" sz="1800" dirty="0"/>
          </a:p>
        </p:txBody>
      </p:sp>
      <p:sp>
        <p:nvSpPr>
          <p:cNvPr id="16" name="Text 14"/>
          <p:cNvSpPr txBox="1"/>
          <p:nvPr/>
        </p:nvSpPr>
        <p:spPr>
          <a:xfrm>
            <a:off x="1371600" y="3803904"/>
            <a:ext cx="2377440" cy="310896"/>
          </a:xfrm>
          <a:prstGeom prst="rect">
            <a:avLst/>
          </a:prstGeom>
          <a:noFill/>
          <a:ln/>
        </p:spPr>
        <p:txBody>
          <a:bodyPr wrap="square" lIns="0" tIns="0" rIns="0" bIns="0" rtlCol="0" anchor="ctr"/>
          <a:lstStyle/>
          <a:p>
            <a:pPr indent="0" marL="0">
              <a:buNone/>
            </a:pPr>
            <a:r>
              <a:rPr lang="en-US" sz="1200" dirty="0">
                <a:solidFill>
                  <a:srgbClr val="0C1A24"/>
                </a:solidFill>
                <a:latin typeface="Trebuchet MS" pitchFamily="34" charset="0"/>
                <a:ea typeface="Trebuchet MS" pitchFamily="34" charset="-122"/>
                <a:cs typeface="Trebuchet MS" pitchFamily="34" charset="-120"/>
              </a:rPr>
              <a:t>Claude, conversational</a:t>
            </a:r>
            <a:endParaRPr lang="en-US" sz="1200" dirty="0"/>
          </a:p>
        </p:txBody>
      </p:sp>
      <p:sp>
        <p:nvSpPr>
          <p:cNvPr id="17" name="Text 15"/>
          <p:cNvSpPr txBox="1"/>
          <p:nvPr/>
        </p:nvSpPr>
        <p:spPr>
          <a:xfrm>
            <a:off x="3840480" y="3803904"/>
            <a:ext cx="2926080" cy="310896"/>
          </a:xfrm>
          <a:prstGeom prst="rect">
            <a:avLst/>
          </a:prstGeom>
          <a:noFill/>
          <a:ln/>
        </p:spPr>
        <p:txBody>
          <a:bodyPr wrap="square" lIns="0" tIns="0" rIns="0" bIns="0" rtlCol="0" anchor="ctr"/>
          <a:lstStyle/>
          <a:p>
            <a:pPr indent="0" marL="0">
              <a:buNone/>
            </a:pPr>
            <a:r>
              <a:rPr lang="en-US" sz="1050" dirty="0">
                <a:solidFill>
                  <a:srgbClr val="5A6E7B"/>
                </a:solidFill>
                <a:latin typeface="Trebuchet MS" pitchFamily="34" charset="0"/>
                <a:ea typeface="Trebuchet MS" pitchFamily="34" charset="-122"/>
                <a:cs typeface="Trebuchet MS" pitchFamily="34" charset="-120"/>
              </a:rPr>
              <a:t>None: same family wrote the validator</a:t>
            </a:r>
            <a:endParaRPr lang="en-US" sz="1050" dirty="0"/>
          </a:p>
        </p:txBody>
      </p:sp>
      <p:sp>
        <p:nvSpPr>
          <p:cNvPr id="18" name="Text 16"/>
          <p:cNvSpPr txBox="1"/>
          <p:nvPr/>
        </p:nvSpPr>
        <p:spPr>
          <a:xfrm>
            <a:off x="6720840" y="3767328"/>
            <a:ext cx="1143000" cy="365760"/>
          </a:xfrm>
          <a:prstGeom prst="rect">
            <a:avLst/>
          </a:prstGeom>
          <a:noFill/>
          <a:ln/>
        </p:spPr>
        <p:txBody>
          <a:bodyPr wrap="square" lIns="0" tIns="0" rIns="0" bIns="0" rtlCol="0" anchor="ctr"/>
          <a:lstStyle/>
          <a:p>
            <a:pPr indent="0" marL="0">
              <a:buNone/>
            </a:pPr>
            <a:r>
              <a:rPr lang="en-US" sz="1300" b="1" dirty="0">
                <a:solidFill>
                  <a:srgbClr val="E2574C"/>
                </a:solidFill>
                <a:latin typeface="Georgia" pitchFamily="34" charset="0"/>
                <a:ea typeface="Georgia" pitchFamily="34" charset="-122"/>
                <a:cs typeface="Georgia" pitchFamily="34" charset="-120"/>
              </a:rPr>
              <a:t>1/3, then 3/3</a:t>
            </a:r>
            <a:endParaRPr lang="en-US" sz="1300" dirty="0"/>
          </a:p>
        </p:txBody>
      </p:sp>
      <p:sp>
        <p:nvSpPr>
          <p:cNvPr id="19" name="Shape 17"/>
          <p:cNvSpPr/>
          <p:nvPr/>
        </p:nvSpPr>
        <p:spPr>
          <a:xfrm>
            <a:off x="685800" y="4425696"/>
            <a:ext cx="7223760" cy="713232"/>
          </a:xfrm>
          <a:prstGeom prst="rect">
            <a:avLst/>
          </a:prstGeom>
          <a:solidFill>
            <a:srgbClr val="FFFFFF"/>
          </a:solidFill>
          <a:ln w="12700">
            <a:solidFill>
              <a:srgbClr val="D3DFE6"/>
            </a:solidFill>
            <a:prstDash val="solid"/>
          </a:ln>
        </p:spPr>
      </p:sp>
      <p:sp>
        <p:nvSpPr>
          <p:cNvPr id="20" name="Shape 18"/>
          <p:cNvSpPr/>
          <p:nvPr/>
        </p:nvSpPr>
        <p:spPr>
          <a:xfrm>
            <a:off x="685800" y="4425696"/>
            <a:ext cx="36576" cy="713232"/>
          </a:xfrm>
          <a:prstGeom prst="rect">
            <a:avLst/>
          </a:prstGeom>
          <a:solidFill>
            <a:srgbClr val="1B7A8C"/>
          </a:solidFill>
          <a:ln w="12700">
            <a:solidFill>
              <a:srgbClr val="333333"/>
            </a:solidFill>
            <a:prstDash val="solid"/>
          </a:ln>
        </p:spPr>
      </p:sp>
      <p:sp>
        <p:nvSpPr>
          <p:cNvPr id="21" name="Text 19"/>
          <p:cNvSpPr txBox="1"/>
          <p:nvPr/>
        </p:nvSpPr>
        <p:spPr>
          <a:xfrm>
            <a:off x="914400" y="4608576"/>
            <a:ext cx="365760" cy="365760"/>
          </a:xfrm>
          <a:prstGeom prst="rect">
            <a:avLst/>
          </a:prstGeom>
          <a:noFill/>
          <a:ln/>
        </p:spPr>
        <p:txBody>
          <a:bodyPr wrap="square" lIns="0" tIns="0" rIns="0" bIns="0" rtlCol="0" anchor="ctr"/>
          <a:lstStyle/>
          <a:p>
            <a:pPr indent="0" marL="0">
              <a:buNone/>
            </a:pPr>
            <a:r>
              <a:rPr lang="en-US" sz="1800" b="1" dirty="0">
                <a:solidFill>
                  <a:srgbClr val="1B7A8C"/>
                </a:solidFill>
                <a:latin typeface="Georgia" pitchFamily="34" charset="0"/>
                <a:ea typeface="Georgia" pitchFamily="34" charset="-122"/>
                <a:cs typeface="Georgia" pitchFamily="34" charset="-120"/>
              </a:rPr>
              <a:t>C</a:t>
            </a:r>
            <a:endParaRPr lang="en-US" sz="1800" dirty="0"/>
          </a:p>
        </p:txBody>
      </p:sp>
      <p:sp>
        <p:nvSpPr>
          <p:cNvPr id="22" name="Text 20"/>
          <p:cNvSpPr txBox="1"/>
          <p:nvPr/>
        </p:nvSpPr>
        <p:spPr>
          <a:xfrm>
            <a:off x="1371600" y="4645152"/>
            <a:ext cx="2377440" cy="310896"/>
          </a:xfrm>
          <a:prstGeom prst="rect">
            <a:avLst/>
          </a:prstGeom>
          <a:noFill/>
          <a:ln/>
        </p:spPr>
        <p:txBody>
          <a:bodyPr wrap="square" lIns="0" tIns="0" rIns="0" bIns="0" rtlCol="0" anchor="ctr"/>
          <a:lstStyle/>
          <a:p>
            <a:pPr indent="0" marL="0">
              <a:buNone/>
            </a:pPr>
            <a:r>
              <a:rPr lang="en-US" sz="1200" dirty="0">
                <a:solidFill>
                  <a:srgbClr val="0C1A24"/>
                </a:solidFill>
                <a:latin typeface="Trebuchet MS" pitchFamily="34" charset="0"/>
                <a:ea typeface="Trebuchet MS" pitchFamily="34" charset="-122"/>
                <a:cs typeface="Trebuchet MS" pitchFamily="34" charset="-120"/>
              </a:rPr>
              <a:t>GPT, conversational</a:t>
            </a:r>
            <a:endParaRPr lang="en-US" sz="1200" dirty="0"/>
          </a:p>
        </p:txBody>
      </p:sp>
      <p:sp>
        <p:nvSpPr>
          <p:cNvPr id="23" name="Text 21"/>
          <p:cNvSpPr txBox="1"/>
          <p:nvPr/>
        </p:nvSpPr>
        <p:spPr>
          <a:xfrm>
            <a:off x="3840480" y="4645152"/>
            <a:ext cx="2926080" cy="310896"/>
          </a:xfrm>
          <a:prstGeom prst="rect">
            <a:avLst/>
          </a:prstGeom>
          <a:noFill/>
          <a:ln/>
        </p:spPr>
        <p:txBody>
          <a:bodyPr wrap="square" lIns="0" tIns="0" rIns="0" bIns="0" rtlCol="0" anchor="ctr"/>
          <a:lstStyle/>
          <a:p>
            <a:pPr indent="0" marL="0">
              <a:buNone/>
            </a:pPr>
            <a:r>
              <a:rPr lang="en-US" sz="1050" dirty="0">
                <a:solidFill>
                  <a:srgbClr val="5A6E7B"/>
                </a:solidFill>
                <a:latin typeface="Trebuchet MS" pitchFamily="34" charset="0"/>
                <a:ea typeface="Trebuchet MS" pitchFamily="34" charset="-122"/>
                <a:cs typeface="Trebuchet MS" pitchFamily="34" charset="-120"/>
              </a:rPr>
              <a:t>Partial: different family</a:t>
            </a:r>
            <a:endParaRPr lang="en-US" sz="1050" dirty="0"/>
          </a:p>
        </p:txBody>
      </p:sp>
      <p:sp>
        <p:nvSpPr>
          <p:cNvPr id="24" name="Text 22"/>
          <p:cNvSpPr txBox="1"/>
          <p:nvPr/>
        </p:nvSpPr>
        <p:spPr>
          <a:xfrm>
            <a:off x="6720840" y="4608576"/>
            <a:ext cx="1143000" cy="365760"/>
          </a:xfrm>
          <a:prstGeom prst="rect">
            <a:avLst/>
          </a:prstGeom>
          <a:noFill/>
          <a:ln/>
        </p:spPr>
        <p:txBody>
          <a:bodyPr wrap="square" lIns="0" tIns="0" rIns="0" bIns="0" rtlCol="0" anchor="ctr"/>
          <a:lstStyle/>
          <a:p>
            <a:pPr indent="0" marL="0">
              <a:buNone/>
            </a:pPr>
            <a:r>
              <a:rPr lang="en-US" sz="1300" b="1" dirty="0">
                <a:solidFill>
                  <a:srgbClr val="1B7A8C"/>
                </a:solidFill>
                <a:latin typeface="Georgia" pitchFamily="34" charset="0"/>
                <a:ea typeface="Georgia" pitchFamily="34" charset="-122"/>
                <a:cs typeface="Georgia" pitchFamily="34" charset="-120"/>
              </a:rPr>
              <a:t>3/3</a:t>
            </a:r>
            <a:endParaRPr lang="en-US" sz="1300" dirty="0"/>
          </a:p>
        </p:txBody>
      </p:sp>
      <p:sp>
        <p:nvSpPr>
          <p:cNvPr id="25" name="Shape 23"/>
          <p:cNvSpPr/>
          <p:nvPr/>
        </p:nvSpPr>
        <p:spPr>
          <a:xfrm>
            <a:off x="8229600" y="2743200"/>
            <a:ext cx="3246120" cy="2395728"/>
          </a:xfrm>
          <a:prstGeom prst="rect">
            <a:avLst/>
          </a:prstGeom>
          <a:solidFill>
            <a:srgbClr val="FBECEA"/>
          </a:solidFill>
          <a:ln w="12700">
            <a:solidFill>
              <a:srgbClr val="E2574C"/>
            </a:solidFill>
            <a:prstDash val="solid"/>
          </a:ln>
        </p:spPr>
      </p:sp>
      <p:sp>
        <p:nvSpPr>
          <p:cNvPr id="26" name="Text 24"/>
          <p:cNvSpPr txBox="1"/>
          <p:nvPr/>
        </p:nvSpPr>
        <p:spPr>
          <a:xfrm>
            <a:off x="8503920" y="2971800"/>
            <a:ext cx="2743200" cy="365760"/>
          </a:xfrm>
          <a:prstGeom prst="rect">
            <a:avLst/>
          </a:prstGeom>
          <a:noFill/>
          <a:ln/>
        </p:spPr>
        <p:txBody>
          <a:bodyPr wrap="square" lIns="0" tIns="0" rIns="0" bIns="0" rtlCol="0" anchor="ctr"/>
          <a:lstStyle/>
          <a:p>
            <a:pPr indent="0" marL="0">
              <a:buNone/>
            </a:pPr>
            <a:r>
              <a:rPr lang="en-US" sz="1600" b="1" dirty="0">
                <a:solidFill>
                  <a:srgbClr val="E2574C"/>
                </a:solidFill>
                <a:latin typeface="Georgia" pitchFamily="34" charset="0"/>
                <a:ea typeface="Georgia" pitchFamily="34" charset="-122"/>
                <a:cs typeface="Georgia" pitchFamily="34" charset="-120"/>
              </a:rPr>
              <a:t>Three fabricated figures</a:t>
            </a:r>
            <a:endParaRPr lang="en-US" sz="1600" dirty="0"/>
          </a:p>
        </p:txBody>
      </p:sp>
      <p:sp>
        <p:nvSpPr>
          <p:cNvPr id="27" name="Text 25"/>
          <p:cNvSpPr txBox="1"/>
          <p:nvPr/>
        </p:nvSpPr>
        <p:spPr>
          <a:xfrm>
            <a:off x="8503920" y="3401568"/>
            <a:ext cx="2743200" cy="914400"/>
          </a:xfrm>
          <a:prstGeom prst="rect">
            <a:avLst/>
          </a:prstGeom>
          <a:noFill/>
          <a:ln/>
        </p:spPr>
        <p:txBody>
          <a:bodyPr wrap="square" lIns="0" tIns="0" rIns="0" bIns="0" rtlCol="0" anchor="ctr"/>
          <a:lstStyle/>
          <a:p>
            <a:pPr indent="0" marL="0">
              <a:lnSpc>
                <a:spcPts val="1600"/>
              </a:lnSpc>
              <a:buNone/>
            </a:pPr>
            <a:r>
              <a:rPr lang="en-US" sz="1000" dirty="0">
                <a:solidFill>
                  <a:srgbClr val="8A5049"/>
                </a:solidFill>
                <a:latin typeface="Consolas" pitchFamily="34" charset="0"/>
                <a:ea typeface="Consolas" pitchFamily="34" charset="-122"/>
                <a:cs typeface="Consolas" pitchFamily="34" charset="-120"/>
              </a:rPr>
              <a:t>2,079 minutes  vs  1,868</a:t>
            </a:r>
            <a:endParaRPr lang="en-US" sz="1000" dirty="0"/>
          </a:p>
          <a:p>
            <a:pPr indent="0" marL="0">
              <a:lnSpc>
                <a:spcPts val="1600"/>
              </a:lnSpc>
              <a:buNone/>
            </a:pPr>
            <a:r>
              <a:rPr lang="en-US" sz="1000" dirty="0">
                <a:solidFill>
                  <a:srgbClr val="8A5049"/>
                </a:solidFill>
                <a:latin typeface="Consolas" pitchFamily="34" charset="0"/>
                <a:ea typeface="Consolas" pitchFamily="34" charset="-122"/>
                <a:cs typeface="Consolas" pitchFamily="34" charset="-120"/>
              </a:rPr>
              <a:t>0.606 per 90  vs  0.819</a:t>
            </a:r>
            <a:endParaRPr lang="en-US" sz="1000" dirty="0"/>
          </a:p>
          <a:p>
            <a:pPr indent="0" marL="0">
              <a:lnSpc>
                <a:spcPts val="1600"/>
              </a:lnSpc>
              <a:buNone/>
            </a:pPr>
            <a:r>
              <a:rPr lang="en-US" sz="1000" dirty="0">
                <a:solidFill>
                  <a:srgbClr val="8A5049"/>
                </a:solidFill>
                <a:latin typeface="Consolas" pitchFamily="34" charset="0"/>
                <a:ea typeface="Consolas" pitchFamily="34" charset="-122"/>
                <a:cs typeface="Consolas" pitchFamily="34" charset="-120"/>
              </a:rPr>
              <a:t>0.560 uncertainty  vs  0.074</a:t>
            </a:r>
            <a:endParaRPr lang="en-US" sz="1000" dirty="0"/>
          </a:p>
        </p:txBody>
      </p:sp>
      <p:sp>
        <p:nvSpPr>
          <p:cNvPr id="28" name="Text 26"/>
          <p:cNvSpPr txBox="1"/>
          <p:nvPr/>
        </p:nvSpPr>
        <p:spPr>
          <a:xfrm>
            <a:off x="8503920" y="4315968"/>
            <a:ext cx="2743200" cy="731520"/>
          </a:xfrm>
          <a:prstGeom prst="rect">
            <a:avLst/>
          </a:prstGeom>
          <a:noFill/>
          <a:ln/>
        </p:spPr>
        <p:txBody>
          <a:bodyPr wrap="square" lIns="0" tIns="0" rIns="0" bIns="0" rtlCol="0" anchor="ctr"/>
          <a:lstStyle/>
          <a:p>
            <a:pPr indent="0" marL="0">
              <a:lnSpc>
                <a:spcPts val="1400"/>
              </a:lnSpc>
              <a:buNone/>
            </a:pPr>
            <a:r>
              <a:rPr lang="en-US" sz="1050" dirty="0">
                <a:solidFill>
                  <a:srgbClr val="41525E"/>
                </a:solidFill>
                <a:latin typeface="Trebuchet MS" pitchFamily="34" charset="0"/>
                <a:ea typeface="Trebuchet MS" pitchFamily="34" charset="-122"/>
                <a:cs typeface="Trebuchet MS" pitchFamily="34" charset="-120"/>
              </a:rPr>
              <a:t>The brief was fluent and structurally complete. It passed the other five checks. Nothing in the prose signalled it.</a:t>
            </a:r>
            <a:endParaRPr lang="en-US" sz="1050" dirty="0"/>
          </a:p>
        </p:txBody>
      </p:sp>
      <p:sp>
        <p:nvSpPr>
          <p:cNvPr id="29" name="Text 27"/>
          <p:cNvSpPr txBox="1"/>
          <p:nvPr/>
        </p:nvSpPr>
        <p:spPr>
          <a:xfrm>
            <a:off x="685800" y="5532120"/>
            <a:ext cx="10789920" cy="365760"/>
          </a:xfrm>
          <a:prstGeom prst="rect">
            <a:avLst/>
          </a:prstGeom>
          <a:noFill/>
          <a:ln/>
        </p:spPr>
        <p:txBody>
          <a:bodyPr wrap="square" lIns="0" tIns="0" rIns="0" bIns="0" rtlCol="0" anchor="ctr"/>
          <a:lstStyle/>
          <a:p>
            <a:pPr indent="0" marL="0">
              <a:buNone/>
            </a:pPr>
            <a:r>
              <a:rPr lang="en-US" sz="1400" i="1" dirty="0">
                <a:solidFill>
                  <a:srgbClr val="1B7A8C"/>
                </a:solidFill>
                <a:latin typeface="Georgia" pitchFamily="34" charset="0"/>
                <a:ea typeface="Georgia" pitchFamily="34" charset="-122"/>
                <a:cs typeface="Georgia" pitchFamily="34" charset="-120"/>
              </a:rPr>
              <a:t>Fluency carried no information about accuracy. Only comparison against the source payload exposed it.</a:t>
            </a:r>
            <a:endParaRPr lang="en-US" sz="1400" dirty="0"/>
          </a:p>
        </p:txBody>
      </p:sp>
      <p:sp>
        <p:nvSpPr>
          <p:cNvPr id="30" name="Text 28"/>
          <p:cNvSpPr txBox="1"/>
          <p:nvPr/>
        </p:nvSpPr>
        <p:spPr>
          <a:xfrm>
            <a:off x="685800" y="5925312"/>
            <a:ext cx="10789920" cy="274320"/>
          </a:xfrm>
          <a:prstGeom prst="rect">
            <a:avLst/>
          </a:prstGeom>
          <a:noFill/>
          <a:ln/>
        </p:spPr>
        <p:txBody>
          <a:bodyPr wrap="square" lIns="0" tIns="0" rIns="0" bIns="0" rtlCol="0" anchor="ctr"/>
          <a:lstStyle/>
          <a:p>
            <a:pPr indent="0" marL="0">
              <a:buNone/>
            </a:pPr>
            <a:r>
              <a:rPr lang="en-US" sz="900" dirty="0">
                <a:solidFill>
                  <a:srgbClr val="8FA5B2"/>
                </a:solidFill>
                <a:latin typeface="Consolas" pitchFamily="34" charset="0"/>
                <a:ea typeface="Consolas" pitchFamily="34" charset="-122"/>
                <a:cs typeface="Consolas" pitchFamily="34" charset="-120"/>
              </a:rPr>
              <a:t>Six checks: numerical fidelity  ·  unsupported claims  ·  speculation  ·  structure  ·  decision consistency  ·  uncertainty disclosure</a:t>
            </a:r>
            <a:endParaRPr lang="en-US" sz="900" dirty="0"/>
          </a:p>
        </p:txBody>
      </p:sp>
      <p:sp>
        <p:nvSpPr>
          <p:cNvPr id="31" name="Text 29"/>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13 / 16</a:t>
            </a:r>
            <a:endParaRPr lang="en-US" sz="900" dirty="0"/>
          </a:p>
        </p:txBody>
      </p:sp>
      <p:sp>
        <p:nvSpPr>
          <p:cNvPr id="32" name="Text 30"/>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A24"/>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1E3A4C">
              <a:alpha val="45000"/>
            </a:srgbClr>
          </a:solidFill>
          <a:ln w="12700">
            <a:solidFill>
              <a:srgbClr val="333333"/>
            </a:solidFill>
            <a:prstDash val="solid"/>
          </a:ln>
        </p:spPr>
      </p:sp>
      <p:sp>
        <p:nvSpPr>
          <p:cNvPr id="3" name="Shape 1"/>
          <p:cNvSpPr/>
          <p:nvPr/>
        </p:nvSpPr>
        <p:spPr>
          <a:xfrm>
            <a:off x="384048" y="6547104"/>
            <a:ext cx="11420856" cy="10973"/>
          </a:xfrm>
          <a:prstGeom prst="rect">
            <a:avLst/>
          </a:prstGeom>
          <a:solidFill>
            <a:srgbClr val="1E3A4C">
              <a:alpha val="45000"/>
            </a:srgbClr>
          </a:solidFill>
          <a:ln w="12700">
            <a:solidFill>
              <a:srgbClr val="333333"/>
            </a:solidFill>
            <a:prstDash val="solid"/>
          </a:ln>
        </p:spPr>
      </p:sp>
      <p:sp>
        <p:nvSpPr>
          <p:cNvPr id="4" name="Shape 2"/>
          <p:cNvSpPr/>
          <p:nvPr/>
        </p:nvSpPr>
        <p:spPr>
          <a:xfrm>
            <a:off x="384048" y="310896"/>
            <a:ext cx="10973" cy="6236208"/>
          </a:xfrm>
          <a:prstGeom prst="rect">
            <a:avLst/>
          </a:prstGeom>
          <a:solidFill>
            <a:srgbClr val="1E3A4C">
              <a:alpha val="45000"/>
            </a:srgbClr>
          </a:solidFill>
          <a:ln w="12700">
            <a:solidFill>
              <a:srgbClr val="333333"/>
            </a:solidFill>
            <a:prstDash val="solid"/>
          </a:ln>
        </p:spPr>
      </p:sp>
      <p:sp>
        <p:nvSpPr>
          <p:cNvPr id="5" name="Shape 3"/>
          <p:cNvSpPr/>
          <p:nvPr/>
        </p:nvSpPr>
        <p:spPr>
          <a:xfrm>
            <a:off x="11795760" y="310896"/>
            <a:ext cx="10973" cy="6236208"/>
          </a:xfrm>
          <a:prstGeom prst="rect">
            <a:avLst/>
          </a:prstGeom>
          <a:solidFill>
            <a:srgbClr val="1E3A4C">
              <a:alpha val="45000"/>
            </a:srgbClr>
          </a:solidFill>
          <a:ln w="12700">
            <a:solidFill>
              <a:srgbClr val="333333"/>
            </a:solidFill>
            <a:prstDash val="solid"/>
          </a:ln>
        </p:spPr>
      </p:sp>
      <p:sp>
        <p:nvSpPr>
          <p:cNvPr id="6" name="Shape 4"/>
          <p:cNvSpPr/>
          <p:nvPr/>
        </p:nvSpPr>
        <p:spPr>
          <a:xfrm>
            <a:off x="6080760" y="310896"/>
            <a:ext cx="10973" cy="6236208"/>
          </a:xfrm>
          <a:prstGeom prst="rect">
            <a:avLst/>
          </a:prstGeom>
          <a:solidFill>
            <a:srgbClr val="1E3A4C">
              <a:alpha val="45000"/>
            </a:srgbClr>
          </a:solidFill>
          <a:ln w="12700">
            <a:solidFill>
              <a:srgbClr val="333333"/>
            </a:solidFill>
            <a:prstDash val="solid"/>
          </a:ln>
        </p:spPr>
      </p:sp>
      <p:sp>
        <p:nvSpPr>
          <p:cNvPr id="7" name="Shape 5"/>
          <p:cNvSpPr/>
          <p:nvPr/>
        </p:nvSpPr>
        <p:spPr>
          <a:xfrm>
            <a:off x="5029200" y="3291840"/>
            <a:ext cx="2103120" cy="2103120"/>
          </a:xfrm>
          <a:prstGeom prst="ellipse">
            <a:avLst/>
          </a:prstGeom>
          <a:ln w="12700">
            <a:solidFill>
              <a:srgbClr val="1E3A4C">
                <a:alpha val="45000"/>
              </a:srgbClr>
            </a:solidFill>
            <a:prstDash val="solid"/>
          </a:ln>
        </p:spPr>
      </p:sp>
      <p:sp>
        <p:nvSpPr>
          <p:cNvPr id="8" name="Shape 6"/>
          <p:cNvSpPr/>
          <p:nvPr/>
        </p:nvSpPr>
        <p:spPr>
          <a:xfrm>
            <a:off x="384048" y="1965960"/>
            <a:ext cx="1600200" cy="10973"/>
          </a:xfrm>
          <a:prstGeom prst="rect">
            <a:avLst/>
          </a:prstGeom>
          <a:solidFill>
            <a:srgbClr val="1E3A4C">
              <a:alpha val="45000"/>
            </a:srgbClr>
          </a:solidFill>
          <a:ln w="12700">
            <a:solidFill>
              <a:srgbClr val="333333"/>
            </a:solidFill>
            <a:prstDash val="solid"/>
          </a:ln>
        </p:spPr>
      </p:sp>
      <p:sp>
        <p:nvSpPr>
          <p:cNvPr id="9" name="Shape 7"/>
          <p:cNvSpPr/>
          <p:nvPr/>
        </p:nvSpPr>
        <p:spPr>
          <a:xfrm>
            <a:off x="384048" y="4892040"/>
            <a:ext cx="1600200" cy="10973"/>
          </a:xfrm>
          <a:prstGeom prst="rect">
            <a:avLst/>
          </a:prstGeom>
          <a:solidFill>
            <a:srgbClr val="1E3A4C">
              <a:alpha val="45000"/>
            </a:srgbClr>
          </a:solidFill>
          <a:ln w="12700">
            <a:solidFill>
              <a:srgbClr val="333333"/>
            </a:solidFill>
            <a:prstDash val="solid"/>
          </a:ln>
        </p:spPr>
      </p:sp>
      <p:sp>
        <p:nvSpPr>
          <p:cNvPr id="10" name="Shape 8"/>
          <p:cNvSpPr/>
          <p:nvPr/>
        </p:nvSpPr>
        <p:spPr>
          <a:xfrm>
            <a:off x="1984248" y="1965960"/>
            <a:ext cx="10973" cy="2926080"/>
          </a:xfrm>
          <a:prstGeom prst="rect">
            <a:avLst/>
          </a:prstGeom>
          <a:solidFill>
            <a:srgbClr val="1E3A4C">
              <a:alpha val="45000"/>
            </a:srgbClr>
          </a:solidFill>
          <a:ln w="12700">
            <a:solidFill>
              <a:srgbClr val="333333"/>
            </a:solidFill>
            <a:prstDash val="solid"/>
          </a:ln>
        </p:spPr>
      </p:sp>
      <p:sp>
        <p:nvSpPr>
          <p:cNvPr id="11" name="Shape 9"/>
          <p:cNvSpPr/>
          <p:nvPr/>
        </p:nvSpPr>
        <p:spPr>
          <a:xfrm>
            <a:off x="10204704" y="1965960"/>
            <a:ext cx="1600200" cy="10973"/>
          </a:xfrm>
          <a:prstGeom prst="rect">
            <a:avLst/>
          </a:prstGeom>
          <a:solidFill>
            <a:srgbClr val="1E3A4C">
              <a:alpha val="45000"/>
            </a:srgbClr>
          </a:solidFill>
          <a:ln w="12700">
            <a:solidFill>
              <a:srgbClr val="333333"/>
            </a:solidFill>
            <a:prstDash val="solid"/>
          </a:ln>
        </p:spPr>
      </p:sp>
      <p:sp>
        <p:nvSpPr>
          <p:cNvPr id="12" name="Shape 10"/>
          <p:cNvSpPr/>
          <p:nvPr/>
        </p:nvSpPr>
        <p:spPr>
          <a:xfrm>
            <a:off x="10204704" y="4892040"/>
            <a:ext cx="1600200" cy="10973"/>
          </a:xfrm>
          <a:prstGeom prst="rect">
            <a:avLst/>
          </a:prstGeom>
          <a:solidFill>
            <a:srgbClr val="1E3A4C">
              <a:alpha val="45000"/>
            </a:srgbClr>
          </a:solidFill>
          <a:ln w="12700">
            <a:solidFill>
              <a:srgbClr val="333333"/>
            </a:solidFill>
            <a:prstDash val="solid"/>
          </a:ln>
        </p:spPr>
      </p:sp>
      <p:sp>
        <p:nvSpPr>
          <p:cNvPr id="13" name="Shape 11"/>
          <p:cNvSpPr/>
          <p:nvPr/>
        </p:nvSpPr>
        <p:spPr>
          <a:xfrm>
            <a:off x="10204704" y="1965960"/>
            <a:ext cx="10973" cy="2926080"/>
          </a:xfrm>
          <a:prstGeom prst="rect">
            <a:avLst/>
          </a:prstGeom>
          <a:solidFill>
            <a:srgbClr val="1E3A4C">
              <a:alpha val="45000"/>
            </a:srgbClr>
          </a:solidFill>
          <a:ln w="12700">
            <a:solidFill>
              <a:srgbClr val="333333"/>
            </a:solidFill>
            <a:prstDash val="solid"/>
          </a:ln>
        </p:spPr>
      </p:sp>
      <p:sp>
        <p:nvSpPr>
          <p:cNvPr id="14" name="Shape 12"/>
          <p:cNvSpPr/>
          <p:nvPr/>
        </p:nvSpPr>
        <p:spPr>
          <a:xfrm>
            <a:off x="384048" y="2788920"/>
            <a:ext cx="658368" cy="10973"/>
          </a:xfrm>
          <a:prstGeom prst="rect">
            <a:avLst/>
          </a:prstGeom>
          <a:solidFill>
            <a:srgbClr val="1E3A4C">
              <a:alpha val="45000"/>
            </a:srgbClr>
          </a:solidFill>
          <a:ln w="12700">
            <a:solidFill>
              <a:srgbClr val="333333"/>
            </a:solidFill>
            <a:prstDash val="solid"/>
          </a:ln>
        </p:spPr>
      </p:sp>
      <p:sp>
        <p:nvSpPr>
          <p:cNvPr id="15" name="Shape 13"/>
          <p:cNvSpPr/>
          <p:nvPr/>
        </p:nvSpPr>
        <p:spPr>
          <a:xfrm>
            <a:off x="384048" y="4069080"/>
            <a:ext cx="658368" cy="10973"/>
          </a:xfrm>
          <a:prstGeom prst="rect">
            <a:avLst/>
          </a:prstGeom>
          <a:solidFill>
            <a:srgbClr val="1E3A4C">
              <a:alpha val="45000"/>
            </a:srgbClr>
          </a:solidFill>
          <a:ln w="12700">
            <a:solidFill>
              <a:srgbClr val="333333"/>
            </a:solidFill>
            <a:prstDash val="solid"/>
          </a:ln>
        </p:spPr>
      </p:sp>
      <p:sp>
        <p:nvSpPr>
          <p:cNvPr id="16" name="Shape 14"/>
          <p:cNvSpPr/>
          <p:nvPr/>
        </p:nvSpPr>
        <p:spPr>
          <a:xfrm>
            <a:off x="1042416" y="2788920"/>
            <a:ext cx="10973" cy="1280160"/>
          </a:xfrm>
          <a:prstGeom prst="rect">
            <a:avLst/>
          </a:prstGeom>
          <a:solidFill>
            <a:srgbClr val="1E3A4C">
              <a:alpha val="45000"/>
            </a:srgbClr>
          </a:solidFill>
          <a:ln w="12700">
            <a:solidFill>
              <a:srgbClr val="333333"/>
            </a:solidFill>
            <a:prstDash val="solid"/>
          </a:ln>
        </p:spPr>
      </p:sp>
      <p:sp>
        <p:nvSpPr>
          <p:cNvPr id="17" name="Shape 15"/>
          <p:cNvSpPr/>
          <p:nvPr/>
        </p:nvSpPr>
        <p:spPr>
          <a:xfrm>
            <a:off x="11146536" y="2788920"/>
            <a:ext cx="658368" cy="10973"/>
          </a:xfrm>
          <a:prstGeom prst="rect">
            <a:avLst/>
          </a:prstGeom>
          <a:solidFill>
            <a:srgbClr val="1E3A4C">
              <a:alpha val="45000"/>
            </a:srgbClr>
          </a:solidFill>
          <a:ln w="12700">
            <a:solidFill>
              <a:srgbClr val="333333"/>
            </a:solidFill>
            <a:prstDash val="solid"/>
          </a:ln>
        </p:spPr>
      </p:sp>
      <p:sp>
        <p:nvSpPr>
          <p:cNvPr id="18" name="Shape 16"/>
          <p:cNvSpPr/>
          <p:nvPr/>
        </p:nvSpPr>
        <p:spPr>
          <a:xfrm>
            <a:off x="11146536" y="4069080"/>
            <a:ext cx="658368" cy="10973"/>
          </a:xfrm>
          <a:prstGeom prst="rect">
            <a:avLst/>
          </a:prstGeom>
          <a:solidFill>
            <a:srgbClr val="1E3A4C">
              <a:alpha val="45000"/>
            </a:srgbClr>
          </a:solidFill>
          <a:ln w="12700">
            <a:solidFill>
              <a:srgbClr val="333333"/>
            </a:solidFill>
            <a:prstDash val="solid"/>
          </a:ln>
        </p:spPr>
      </p:sp>
      <p:sp>
        <p:nvSpPr>
          <p:cNvPr id="19" name="Shape 17"/>
          <p:cNvSpPr/>
          <p:nvPr/>
        </p:nvSpPr>
        <p:spPr>
          <a:xfrm>
            <a:off x="11146536" y="2788920"/>
            <a:ext cx="10973" cy="1280160"/>
          </a:xfrm>
          <a:prstGeom prst="rect">
            <a:avLst/>
          </a:prstGeom>
          <a:solidFill>
            <a:srgbClr val="1E3A4C">
              <a:alpha val="45000"/>
            </a:srgbClr>
          </a:solidFill>
          <a:ln w="12700">
            <a:solidFill>
              <a:srgbClr val="333333"/>
            </a:solidFill>
            <a:prstDash val="solid"/>
          </a:ln>
        </p:spPr>
      </p:sp>
      <p:sp>
        <p:nvSpPr>
          <p:cNvPr id="20" name="Text 18"/>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38C6D9"/>
                </a:solidFill>
                <a:latin typeface="Consolas" pitchFamily="34" charset="0"/>
                <a:ea typeface="Consolas" pitchFamily="34" charset="-122"/>
                <a:cs typeface="Consolas" pitchFamily="34" charset="-120"/>
              </a:rPr>
              <a:t>THE DECISION-SUPPORT INTERFACE</a:t>
            </a:r>
            <a:endParaRPr lang="en-US" sz="1000" dirty="0"/>
          </a:p>
        </p:txBody>
      </p:sp>
      <p:sp>
        <p:nvSpPr>
          <p:cNvPr id="21" name="Text 19"/>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3000" b="1" dirty="0">
                <a:solidFill>
                  <a:srgbClr val="F2F6F8"/>
                </a:solidFill>
                <a:latin typeface="Georgia" pitchFamily="34" charset="0"/>
                <a:ea typeface="Georgia" pitchFamily="34" charset="-122"/>
                <a:cs typeface="Georgia" pitchFamily="34" charset="-120"/>
              </a:rPr>
              <a:t>What a recruitment committee actually sees</a:t>
            </a:r>
            <a:endParaRPr lang="en-US" sz="3000" dirty="0"/>
          </a:p>
        </p:txBody>
      </p:sp>
      <p:sp>
        <p:nvSpPr>
          <p:cNvPr id="22" name="Shape 20"/>
          <p:cNvSpPr/>
          <p:nvPr/>
        </p:nvSpPr>
        <p:spPr>
          <a:xfrm>
            <a:off x="685800" y="2139696"/>
            <a:ext cx="1463040" cy="41148"/>
          </a:xfrm>
          <a:prstGeom prst="rect">
            <a:avLst/>
          </a:prstGeom>
          <a:solidFill>
            <a:srgbClr val="38C6D9"/>
          </a:solidFill>
          <a:ln w="12700">
            <a:solidFill>
              <a:srgbClr val="333333"/>
            </a:solidFill>
            <a:prstDash val="solid"/>
          </a:ln>
        </p:spPr>
      </p:sp>
      <p:sp>
        <p:nvSpPr>
          <p:cNvPr id="23" name="Shape 21"/>
          <p:cNvSpPr/>
          <p:nvPr/>
        </p:nvSpPr>
        <p:spPr>
          <a:xfrm>
            <a:off x="685800" y="2514600"/>
            <a:ext cx="10789920" cy="603504"/>
          </a:xfrm>
          <a:prstGeom prst="rect">
            <a:avLst/>
          </a:prstGeom>
          <a:solidFill>
            <a:srgbClr val="112532"/>
          </a:solidFill>
          <a:ln w="12700">
            <a:solidFill>
              <a:srgbClr val="1E3A4C"/>
            </a:solidFill>
            <a:prstDash val="solid"/>
          </a:ln>
        </p:spPr>
      </p:sp>
      <p:sp>
        <p:nvSpPr>
          <p:cNvPr id="24" name="Shape 22"/>
          <p:cNvSpPr/>
          <p:nvPr/>
        </p:nvSpPr>
        <p:spPr>
          <a:xfrm>
            <a:off x="685800" y="2514600"/>
            <a:ext cx="41148" cy="603504"/>
          </a:xfrm>
          <a:prstGeom prst="rect">
            <a:avLst/>
          </a:prstGeom>
          <a:solidFill>
            <a:srgbClr val="38C6D9"/>
          </a:solidFill>
          <a:ln w="12700">
            <a:solidFill>
              <a:srgbClr val="333333"/>
            </a:solidFill>
            <a:prstDash val="solid"/>
          </a:ln>
        </p:spPr>
      </p:sp>
      <p:sp>
        <p:nvSpPr>
          <p:cNvPr id="25" name="Text 23"/>
          <p:cNvSpPr txBox="1"/>
          <p:nvPr/>
        </p:nvSpPr>
        <p:spPr>
          <a:xfrm>
            <a:off x="960120" y="2660904"/>
            <a:ext cx="320040" cy="310896"/>
          </a:xfrm>
          <a:prstGeom prst="rect">
            <a:avLst/>
          </a:prstGeom>
          <a:noFill/>
          <a:ln/>
        </p:spPr>
        <p:txBody>
          <a:bodyPr wrap="square" lIns="0" tIns="0" rIns="0" bIns="0" rtlCol="0" anchor="ctr"/>
          <a:lstStyle/>
          <a:p>
            <a:pPr indent="0" marL="0">
              <a:buNone/>
            </a:pPr>
            <a:r>
              <a:rPr lang="en-US" sz="1100" b="1" dirty="0">
                <a:solidFill>
                  <a:srgbClr val="38C6D9"/>
                </a:solidFill>
                <a:latin typeface="Consolas" pitchFamily="34" charset="0"/>
                <a:ea typeface="Consolas" pitchFamily="34" charset="-122"/>
                <a:cs typeface="Consolas" pitchFamily="34" charset="-120"/>
              </a:rPr>
              <a:t>1</a:t>
            </a:r>
            <a:endParaRPr lang="en-US" sz="1100" dirty="0"/>
          </a:p>
        </p:txBody>
      </p:sp>
      <p:sp>
        <p:nvSpPr>
          <p:cNvPr id="26" name="Text 24"/>
          <p:cNvSpPr txBox="1"/>
          <p:nvPr/>
        </p:nvSpPr>
        <p:spPr>
          <a:xfrm>
            <a:off x="1325880" y="2642616"/>
            <a:ext cx="3017520" cy="329184"/>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Executive transfer window</a:t>
            </a:r>
            <a:endParaRPr lang="en-US" sz="1500" dirty="0"/>
          </a:p>
        </p:txBody>
      </p:sp>
      <p:sp>
        <p:nvSpPr>
          <p:cNvPr id="27" name="Text 25"/>
          <p:cNvSpPr txBox="1"/>
          <p:nvPr/>
        </p:nvSpPr>
        <p:spPr>
          <a:xfrm>
            <a:off x="4480560" y="2670048"/>
            <a:ext cx="6766560" cy="329184"/>
          </a:xfrm>
          <a:prstGeom prst="rect">
            <a:avLst/>
          </a:prstGeom>
          <a:noFill/>
          <a:ln/>
        </p:spPr>
        <p:txBody>
          <a:bodyPr wrap="square" lIns="0" tIns="0" rIns="0" bIns="0" rtlCol="0" anchor="ctr"/>
          <a:lstStyle/>
          <a:p>
            <a:pPr indent="0" marL="0">
              <a:buNone/>
            </a:pPr>
            <a:r>
              <a:rPr lang="en-US" sz="1100" dirty="0">
                <a:solidFill>
                  <a:srgbClr val="AFC4CF"/>
                </a:solidFill>
                <a:latin typeface="Trebuchet MS" pitchFamily="34" charset="0"/>
                <a:ea typeface="Trebuchet MS" pitchFamily="34" charset="-122"/>
                <a:cs typeface="Trebuchet MS" pitchFamily="34" charset="-120"/>
              </a:rPr>
              <a:t>Set a budget and positional needs. The integer program solves live and returns the portfolio.</a:t>
            </a:r>
            <a:endParaRPr lang="en-US" sz="1100" dirty="0"/>
          </a:p>
        </p:txBody>
      </p:sp>
      <p:sp>
        <p:nvSpPr>
          <p:cNvPr id="28" name="Shape 26"/>
          <p:cNvSpPr/>
          <p:nvPr/>
        </p:nvSpPr>
        <p:spPr>
          <a:xfrm>
            <a:off x="685800" y="3227832"/>
            <a:ext cx="10789920" cy="603504"/>
          </a:xfrm>
          <a:prstGeom prst="rect">
            <a:avLst/>
          </a:prstGeom>
          <a:solidFill>
            <a:srgbClr val="112532"/>
          </a:solidFill>
          <a:ln w="12700">
            <a:solidFill>
              <a:srgbClr val="1E3A4C"/>
            </a:solidFill>
            <a:prstDash val="solid"/>
          </a:ln>
        </p:spPr>
      </p:sp>
      <p:sp>
        <p:nvSpPr>
          <p:cNvPr id="29" name="Shape 27"/>
          <p:cNvSpPr/>
          <p:nvPr/>
        </p:nvSpPr>
        <p:spPr>
          <a:xfrm>
            <a:off x="685800" y="3227832"/>
            <a:ext cx="41148" cy="603504"/>
          </a:xfrm>
          <a:prstGeom prst="rect">
            <a:avLst/>
          </a:prstGeom>
          <a:solidFill>
            <a:srgbClr val="1B7A8C"/>
          </a:solidFill>
          <a:ln w="12700">
            <a:solidFill>
              <a:srgbClr val="333333"/>
            </a:solidFill>
            <a:prstDash val="solid"/>
          </a:ln>
        </p:spPr>
      </p:sp>
      <p:sp>
        <p:nvSpPr>
          <p:cNvPr id="30" name="Text 28"/>
          <p:cNvSpPr txBox="1"/>
          <p:nvPr/>
        </p:nvSpPr>
        <p:spPr>
          <a:xfrm>
            <a:off x="960120" y="3374136"/>
            <a:ext cx="320040" cy="310896"/>
          </a:xfrm>
          <a:prstGeom prst="rect">
            <a:avLst/>
          </a:prstGeom>
          <a:noFill/>
          <a:ln/>
        </p:spPr>
        <p:txBody>
          <a:bodyPr wrap="square" lIns="0" tIns="0" rIns="0" bIns="0" rtlCol="0" anchor="ctr"/>
          <a:lstStyle/>
          <a:p>
            <a:pPr indent="0" marL="0">
              <a:buNone/>
            </a:pPr>
            <a:r>
              <a:rPr lang="en-US" sz="1100" b="1" dirty="0">
                <a:solidFill>
                  <a:srgbClr val="38C6D9"/>
                </a:solidFill>
                <a:latin typeface="Consolas" pitchFamily="34" charset="0"/>
                <a:ea typeface="Consolas" pitchFamily="34" charset="-122"/>
                <a:cs typeface="Consolas" pitchFamily="34" charset="-120"/>
              </a:rPr>
              <a:t>2</a:t>
            </a:r>
            <a:endParaRPr lang="en-US" sz="1100" dirty="0"/>
          </a:p>
        </p:txBody>
      </p:sp>
      <p:sp>
        <p:nvSpPr>
          <p:cNvPr id="31" name="Text 29"/>
          <p:cNvSpPr txBox="1"/>
          <p:nvPr/>
        </p:nvSpPr>
        <p:spPr>
          <a:xfrm>
            <a:off x="1325880" y="3355848"/>
            <a:ext cx="3017520" cy="329184"/>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Player explorer</a:t>
            </a:r>
            <a:endParaRPr lang="en-US" sz="1500" dirty="0"/>
          </a:p>
        </p:txBody>
      </p:sp>
      <p:sp>
        <p:nvSpPr>
          <p:cNvPr id="32" name="Text 30"/>
          <p:cNvSpPr txBox="1"/>
          <p:nvPr/>
        </p:nvSpPr>
        <p:spPr>
          <a:xfrm>
            <a:off x="4480560" y="3383280"/>
            <a:ext cx="6766560" cy="329184"/>
          </a:xfrm>
          <a:prstGeom prst="rect">
            <a:avLst/>
          </a:prstGeom>
          <a:noFill/>
          <a:ln/>
        </p:spPr>
        <p:txBody>
          <a:bodyPr wrap="square" lIns="0" tIns="0" rIns="0" bIns="0" rtlCol="0" anchor="ctr"/>
          <a:lstStyle/>
          <a:p>
            <a:pPr indent="0" marL="0">
              <a:buNone/>
            </a:pPr>
            <a:r>
              <a:rPr lang="en-US" sz="1100" dirty="0">
                <a:solidFill>
                  <a:srgbClr val="AFC4CF"/>
                </a:solidFill>
                <a:latin typeface="Trebuchet MS" pitchFamily="34" charset="0"/>
                <a:ea typeface="Trebuchet MS" pitchFamily="34" charset="-122"/>
                <a:cs typeface="Trebuchet MS" pitchFamily="34" charset="-120"/>
              </a:rPr>
              <a:t>Any of the 1,508 held-out players: market value, model-implied value, exit risk, and the gap-versus-risk quadrant.</a:t>
            </a:r>
            <a:endParaRPr lang="en-US" sz="1100" dirty="0"/>
          </a:p>
        </p:txBody>
      </p:sp>
      <p:sp>
        <p:nvSpPr>
          <p:cNvPr id="33" name="Shape 31"/>
          <p:cNvSpPr/>
          <p:nvPr/>
        </p:nvSpPr>
        <p:spPr>
          <a:xfrm>
            <a:off x="685800" y="3941064"/>
            <a:ext cx="10789920" cy="603504"/>
          </a:xfrm>
          <a:prstGeom prst="rect">
            <a:avLst/>
          </a:prstGeom>
          <a:solidFill>
            <a:srgbClr val="112532"/>
          </a:solidFill>
          <a:ln w="12700">
            <a:solidFill>
              <a:srgbClr val="1E3A4C"/>
            </a:solidFill>
            <a:prstDash val="solid"/>
          </a:ln>
        </p:spPr>
      </p:sp>
      <p:sp>
        <p:nvSpPr>
          <p:cNvPr id="34" name="Shape 32"/>
          <p:cNvSpPr/>
          <p:nvPr/>
        </p:nvSpPr>
        <p:spPr>
          <a:xfrm>
            <a:off x="685800" y="3941064"/>
            <a:ext cx="41148" cy="603504"/>
          </a:xfrm>
          <a:prstGeom prst="rect">
            <a:avLst/>
          </a:prstGeom>
          <a:solidFill>
            <a:srgbClr val="1B7A8C"/>
          </a:solidFill>
          <a:ln w="12700">
            <a:solidFill>
              <a:srgbClr val="333333"/>
            </a:solidFill>
            <a:prstDash val="solid"/>
          </a:ln>
        </p:spPr>
      </p:sp>
      <p:sp>
        <p:nvSpPr>
          <p:cNvPr id="35" name="Text 33"/>
          <p:cNvSpPr txBox="1"/>
          <p:nvPr/>
        </p:nvSpPr>
        <p:spPr>
          <a:xfrm>
            <a:off x="960120" y="4087368"/>
            <a:ext cx="320040" cy="310896"/>
          </a:xfrm>
          <a:prstGeom prst="rect">
            <a:avLst/>
          </a:prstGeom>
          <a:noFill/>
          <a:ln/>
        </p:spPr>
        <p:txBody>
          <a:bodyPr wrap="square" lIns="0" tIns="0" rIns="0" bIns="0" rtlCol="0" anchor="ctr"/>
          <a:lstStyle/>
          <a:p>
            <a:pPr indent="0" marL="0">
              <a:buNone/>
            </a:pPr>
            <a:r>
              <a:rPr lang="en-US" sz="1100" b="1" dirty="0">
                <a:solidFill>
                  <a:srgbClr val="38C6D9"/>
                </a:solidFill>
                <a:latin typeface="Consolas" pitchFamily="34" charset="0"/>
                <a:ea typeface="Consolas" pitchFamily="34" charset="-122"/>
                <a:cs typeface="Consolas" pitchFamily="34" charset="-120"/>
              </a:rPr>
              <a:t>3</a:t>
            </a:r>
            <a:endParaRPr lang="en-US" sz="1100" dirty="0"/>
          </a:p>
        </p:txBody>
      </p:sp>
      <p:sp>
        <p:nvSpPr>
          <p:cNvPr id="36" name="Text 34"/>
          <p:cNvSpPr txBox="1"/>
          <p:nvPr/>
        </p:nvSpPr>
        <p:spPr>
          <a:xfrm>
            <a:off x="1325880" y="4069080"/>
            <a:ext cx="3017520" cy="329184"/>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Why this player?</a:t>
            </a:r>
            <a:endParaRPr lang="en-US" sz="1500" dirty="0"/>
          </a:p>
        </p:txBody>
      </p:sp>
      <p:sp>
        <p:nvSpPr>
          <p:cNvPr id="37" name="Text 35"/>
          <p:cNvSpPr txBox="1"/>
          <p:nvPr/>
        </p:nvSpPr>
        <p:spPr>
          <a:xfrm>
            <a:off x="4480560" y="4096512"/>
            <a:ext cx="6766560" cy="329184"/>
          </a:xfrm>
          <a:prstGeom prst="rect">
            <a:avLst/>
          </a:prstGeom>
          <a:noFill/>
          <a:ln/>
        </p:spPr>
        <p:txBody>
          <a:bodyPr wrap="square" lIns="0" tIns="0" rIns="0" bIns="0" rtlCol="0" anchor="ctr"/>
          <a:lstStyle/>
          <a:p>
            <a:pPr indent="0" marL="0">
              <a:buNone/>
            </a:pPr>
            <a:r>
              <a:rPr lang="en-US" sz="1100" dirty="0">
                <a:solidFill>
                  <a:srgbClr val="AFC4CF"/>
                </a:solidFill>
                <a:latin typeface="Trebuchet MS" pitchFamily="34" charset="0"/>
                <a:ea typeface="Trebuchet MS" pitchFamily="34" charset="-122"/>
                <a:cs typeface="Trebuchet MS" pitchFamily="34" charset="-120"/>
              </a:rPr>
              <a:t>Prediction explanation and selection explanation, kept deliberately separate.</a:t>
            </a:r>
            <a:endParaRPr lang="en-US" sz="1100" dirty="0"/>
          </a:p>
        </p:txBody>
      </p:sp>
      <p:sp>
        <p:nvSpPr>
          <p:cNvPr id="38" name="Shape 36"/>
          <p:cNvSpPr/>
          <p:nvPr/>
        </p:nvSpPr>
        <p:spPr>
          <a:xfrm>
            <a:off x="685800" y="4654296"/>
            <a:ext cx="10789920" cy="603504"/>
          </a:xfrm>
          <a:prstGeom prst="rect">
            <a:avLst/>
          </a:prstGeom>
          <a:solidFill>
            <a:srgbClr val="112532"/>
          </a:solidFill>
          <a:ln w="12700">
            <a:solidFill>
              <a:srgbClr val="1E3A4C"/>
            </a:solidFill>
            <a:prstDash val="solid"/>
          </a:ln>
        </p:spPr>
      </p:sp>
      <p:sp>
        <p:nvSpPr>
          <p:cNvPr id="39" name="Shape 37"/>
          <p:cNvSpPr/>
          <p:nvPr/>
        </p:nvSpPr>
        <p:spPr>
          <a:xfrm>
            <a:off x="685800" y="4654296"/>
            <a:ext cx="41148" cy="603504"/>
          </a:xfrm>
          <a:prstGeom prst="rect">
            <a:avLst/>
          </a:prstGeom>
          <a:solidFill>
            <a:srgbClr val="1B7A8C"/>
          </a:solidFill>
          <a:ln w="12700">
            <a:solidFill>
              <a:srgbClr val="333333"/>
            </a:solidFill>
            <a:prstDash val="solid"/>
          </a:ln>
        </p:spPr>
      </p:sp>
      <p:sp>
        <p:nvSpPr>
          <p:cNvPr id="40" name="Text 38"/>
          <p:cNvSpPr txBox="1"/>
          <p:nvPr/>
        </p:nvSpPr>
        <p:spPr>
          <a:xfrm>
            <a:off x="960120" y="4800600"/>
            <a:ext cx="320040" cy="310896"/>
          </a:xfrm>
          <a:prstGeom prst="rect">
            <a:avLst/>
          </a:prstGeom>
          <a:noFill/>
          <a:ln/>
        </p:spPr>
        <p:txBody>
          <a:bodyPr wrap="square" lIns="0" tIns="0" rIns="0" bIns="0" rtlCol="0" anchor="ctr"/>
          <a:lstStyle/>
          <a:p>
            <a:pPr indent="0" marL="0">
              <a:buNone/>
            </a:pPr>
            <a:r>
              <a:rPr lang="en-US" sz="1100" b="1" dirty="0">
                <a:solidFill>
                  <a:srgbClr val="38C6D9"/>
                </a:solidFill>
                <a:latin typeface="Consolas" pitchFamily="34" charset="0"/>
                <a:ea typeface="Consolas" pitchFamily="34" charset="-122"/>
                <a:cs typeface="Consolas" pitchFamily="34" charset="-120"/>
              </a:rPr>
              <a:t>4</a:t>
            </a:r>
            <a:endParaRPr lang="en-US" sz="1100" dirty="0"/>
          </a:p>
        </p:txBody>
      </p:sp>
      <p:sp>
        <p:nvSpPr>
          <p:cNvPr id="41" name="Text 39"/>
          <p:cNvSpPr txBox="1"/>
          <p:nvPr/>
        </p:nvSpPr>
        <p:spPr>
          <a:xfrm>
            <a:off x="1325880" y="4782312"/>
            <a:ext cx="3017520" cy="329184"/>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Committee brief</a:t>
            </a:r>
            <a:endParaRPr lang="en-US" sz="1500" dirty="0"/>
          </a:p>
        </p:txBody>
      </p:sp>
      <p:sp>
        <p:nvSpPr>
          <p:cNvPr id="42" name="Text 40"/>
          <p:cNvSpPr txBox="1"/>
          <p:nvPr/>
        </p:nvSpPr>
        <p:spPr>
          <a:xfrm>
            <a:off x="4480560" y="4809744"/>
            <a:ext cx="6766560" cy="329184"/>
          </a:xfrm>
          <a:prstGeom prst="rect">
            <a:avLst/>
          </a:prstGeom>
          <a:noFill/>
          <a:ln/>
        </p:spPr>
        <p:txBody>
          <a:bodyPr wrap="square" lIns="0" tIns="0" rIns="0" bIns="0" rtlCol="0" anchor="ctr"/>
          <a:lstStyle/>
          <a:p>
            <a:pPr indent="0" marL="0">
              <a:buNone/>
            </a:pPr>
            <a:r>
              <a:rPr lang="en-US" sz="1100" dirty="0">
                <a:solidFill>
                  <a:srgbClr val="AFC4CF"/>
                </a:solidFill>
                <a:latin typeface="Trebuchet MS" pitchFamily="34" charset="0"/>
                <a:ea typeface="Trebuchet MS" pitchFamily="34" charset="-122"/>
                <a:cs typeface="Trebuchet MS" pitchFamily="34" charset="-120"/>
              </a:rPr>
              <a:t>The generated one-page document, labelled with the arm that produced it.</a:t>
            </a:r>
            <a:endParaRPr lang="en-US" sz="1100" dirty="0"/>
          </a:p>
        </p:txBody>
      </p:sp>
      <p:sp>
        <p:nvSpPr>
          <p:cNvPr id="43" name="Shape 41"/>
          <p:cNvSpPr/>
          <p:nvPr/>
        </p:nvSpPr>
        <p:spPr>
          <a:xfrm>
            <a:off x="685800" y="5367528"/>
            <a:ext cx="10789920" cy="603504"/>
          </a:xfrm>
          <a:prstGeom prst="rect">
            <a:avLst/>
          </a:prstGeom>
          <a:solidFill>
            <a:srgbClr val="112532"/>
          </a:solidFill>
          <a:ln w="12700">
            <a:solidFill>
              <a:srgbClr val="1E3A4C"/>
            </a:solidFill>
            <a:prstDash val="solid"/>
          </a:ln>
        </p:spPr>
      </p:sp>
      <p:sp>
        <p:nvSpPr>
          <p:cNvPr id="44" name="Shape 42"/>
          <p:cNvSpPr/>
          <p:nvPr/>
        </p:nvSpPr>
        <p:spPr>
          <a:xfrm>
            <a:off x="685800" y="5367528"/>
            <a:ext cx="41148" cy="603504"/>
          </a:xfrm>
          <a:prstGeom prst="rect">
            <a:avLst/>
          </a:prstGeom>
          <a:solidFill>
            <a:srgbClr val="1B7A8C"/>
          </a:solidFill>
          <a:ln w="12700">
            <a:solidFill>
              <a:srgbClr val="333333"/>
            </a:solidFill>
            <a:prstDash val="solid"/>
          </a:ln>
        </p:spPr>
      </p:sp>
      <p:sp>
        <p:nvSpPr>
          <p:cNvPr id="45" name="Text 43"/>
          <p:cNvSpPr txBox="1"/>
          <p:nvPr/>
        </p:nvSpPr>
        <p:spPr>
          <a:xfrm>
            <a:off x="960120" y="5513832"/>
            <a:ext cx="320040" cy="310896"/>
          </a:xfrm>
          <a:prstGeom prst="rect">
            <a:avLst/>
          </a:prstGeom>
          <a:noFill/>
          <a:ln/>
        </p:spPr>
        <p:txBody>
          <a:bodyPr wrap="square" lIns="0" tIns="0" rIns="0" bIns="0" rtlCol="0" anchor="ctr"/>
          <a:lstStyle/>
          <a:p>
            <a:pPr indent="0" marL="0">
              <a:buNone/>
            </a:pPr>
            <a:r>
              <a:rPr lang="en-US" sz="1100" b="1" dirty="0">
                <a:solidFill>
                  <a:srgbClr val="38C6D9"/>
                </a:solidFill>
                <a:latin typeface="Consolas" pitchFamily="34" charset="0"/>
                <a:ea typeface="Consolas" pitchFamily="34" charset="-122"/>
                <a:cs typeface="Consolas" pitchFamily="34" charset="-120"/>
              </a:rPr>
              <a:t>5</a:t>
            </a:r>
            <a:endParaRPr lang="en-US" sz="1100" dirty="0"/>
          </a:p>
        </p:txBody>
      </p:sp>
      <p:sp>
        <p:nvSpPr>
          <p:cNvPr id="46" name="Text 44"/>
          <p:cNvSpPr txBox="1"/>
          <p:nvPr/>
        </p:nvSpPr>
        <p:spPr>
          <a:xfrm>
            <a:off x="1325880" y="5495544"/>
            <a:ext cx="3017520" cy="329184"/>
          </a:xfrm>
          <a:prstGeom prst="rect">
            <a:avLst/>
          </a:prstGeom>
          <a:noFill/>
          <a:ln/>
        </p:spPr>
        <p:txBody>
          <a:bodyPr wrap="square" lIns="0" tIns="0" rIns="0" bIns="0" rtlCol="0" anchor="ctr"/>
          <a:lstStyle/>
          <a:p>
            <a:pPr indent="0" marL="0">
              <a:buNone/>
            </a:pPr>
            <a:r>
              <a:rPr lang="en-US" sz="1500" b="1" dirty="0">
                <a:solidFill>
                  <a:srgbClr val="F2F6F8"/>
                </a:solidFill>
                <a:latin typeface="Georgia" pitchFamily="34" charset="0"/>
                <a:ea typeface="Georgia" pitchFamily="34" charset="-122"/>
                <a:cs typeface="Georgia" pitchFamily="34" charset="-120"/>
              </a:rPr>
              <a:t>How to read this system</a:t>
            </a:r>
            <a:endParaRPr lang="en-US" sz="1500" dirty="0"/>
          </a:p>
        </p:txBody>
      </p:sp>
      <p:sp>
        <p:nvSpPr>
          <p:cNvPr id="47" name="Text 45"/>
          <p:cNvSpPr txBox="1"/>
          <p:nvPr/>
        </p:nvSpPr>
        <p:spPr>
          <a:xfrm>
            <a:off x="4480560" y="5522976"/>
            <a:ext cx="6766560" cy="329184"/>
          </a:xfrm>
          <a:prstGeom prst="rect">
            <a:avLst/>
          </a:prstGeom>
          <a:noFill/>
          <a:ln/>
        </p:spPr>
        <p:txBody>
          <a:bodyPr wrap="square" lIns="0" tIns="0" rIns="0" bIns="0" rtlCol="0" anchor="ctr"/>
          <a:lstStyle/>
          <a:p>
            <a:pPr indent="0" marL="0">
              <a:buNone/>
            </a:pPr>
            <a:r>
              <a:rPr lang="en-US" sz="1100" dirty="0">
                <a:solidFill>
                  <a:srgbClr val="AFC4CF"/>
                </a:solidFill>
                <a:latin typeface="Trebuchet MS" pitchFamily="34" charset="0"/>
                <a:ea typeface="Trebuchet MS" pitchFamily="34" charset="-122"/>
                <a:cs typeface="Trebuchet MS" pitchFamily="34" charset="-120"/>
              </a:rPr>
              <a:t>What the system does, and what it explicitly does not claim.</a:t>
            </a:r>
            <a:endParaRPr lang="en-US" sz="1100" dirty="0"/>
          </a:p>
        </p:txBody>
      </p:sp>
      <p:sp>
        <p:nvSpPr>
          <p:cNvPr id="48" name="Text 46"/>
          <p:cNvSpPr txBox="1"/>
          <p:nvPr/>
        </p:nvSpPr>
        <p:spPr>
          <a:xfrm>
            <a:off x="685800" y="6172200"/>
            <a:ext cx="10789920" cy="329184"/>
          </a:xfrm>
          <a:prstGeom prst="rect">
            <a:avLst/>
          </a:prstGeom>
          <a:noFill/>
          <a:ln/>
        </p:spPr>
        <p:txBody>
          <a:bodyPr wrap="square" lIns="0" tIns="0" rIns="0" bIns="0" rtlCol="0" anchor="ctr"/>
          <a:lstStyle/>
          <a:p>
            <a:pPr indent="0" marL="0">
              <a:buNone/>
            </a:pPr>
            <a:r>
              <a:rPr lang="en-US" sz="1100" i="1" dirty="0">
                <a:solidFill>
                  <a:srgbClr val="7C97A8"/>
                </a:solidFill>
                <a:latin typeface="Trebuchet MS" pitchFamily="34" charset="0"/>
                <a:ea typeface="Trebuchet MS" pitchFamily="34" charset="-122"/>
                <a:cs typeface="Trebuchet MS" pitchFamily="34" charset="-120"/>
              </a:rPr>
              <a:t>Built with Streamlit, driven by the same frozen artifacts as this deck. The interactive optimizer reproduces the EUR 48.0M portfolio exactly.</a:t>
            </a:r>
            <a:endParaRPr lang="en-US" sz="1100" dirty="0"/>
          </a:p>
        </p:txBody>
      </p:sp>
      <p:sp>
        <p:nvSpPr>
          <p:cNvPr id="49" name="Text 47"/>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1B7A8C"/>
                </a:solidFill>
                <a:latin typeface="Consolas" pitchFamily="34" charset="0"/>
                <a:ea typeface="Consolas" pitchFamily="34" charset="-122"/>
                <a:cs typeface="Consolas" pitchFamily="34" charset="-120"/>
              </a:rPr>
              <a:t>14 / 16</a:t>
            </a:r>
            <a:endParaRPr lang="en-US" sz="900" dirty="0"/>
          </a:p>
        </p:txBody>
      </p:sp>
      <p:sp>
        <p:nvSpPr>
          <p:cNvPr id="50" name="Text 48"/>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2C4A5C"/>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1B7A8C"/>
          </a:solidFill>
          <a:ln w="12700">
            <a:solidFill>
              <a:srgbClr val="333333"/>
            </a:solidFill>
            <a:prstDash val="solid"/>
          </a:ln>
        </p:spPr>
      </p:sp>
      <p:sp>
        <p:nvSpPr>
          <p:cNvPr id="3" name="Text 1"/>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1B7A8C"/>
                </a:solidFill>
                <a:latin typeface="Consolas" pitchFamily="34" charset="0"/>
                <a:ea typeface="Consolas" pitchFamily="34" charset="-122"/>
                <a:cs typeface="Consolas" pitchFamily="34" charset="-120"/>
              </a:rPr>
              <a:t>HOW THE WORK WAS VERIFIED</a:t>
            </a:r>
            <a:endParaRPr lang="en-US" sz="1000" dirty="0"/>
          </a:p>
        </p:txBody>
      </p:sp>
      <p:sp>
        <p:nvSpPr>
          <p:cNvPr id="4" name="Text 2"/>
          <p:cNvSpPr txBox="1"/>
          <p:nvPr/>
        </p:nvSpPr>
        <p:spPr>
          <a:xfrm>
            <a:off x="685800" y="841248"/>
            <a:ext cx="10789920" cy="1005840"/>
          </a:xfrm>
          <a:prstGeom prst="rect">
            <a:avLst/>
          </a:prstGeom>
          <a:noFill/>
          <a:ln/>
        </p:spPr>
        <p:txBody>
          <a:bodyPr wrap="square" lIns="0" tIns="0" rIns="0" bIns="0" rtlCol="0" anchor="t"/>
          <a:lstStyle/>
          <a:p>
            <a:pPr indent="0" marL="0">
              <a:lnSpc>
                <a:spcPts val="4200"/>
              </a:lnSpc>
              <a:buNone/>
            </a:pPr>
            <a:r>
              <a:rPr lang="en-US" sz="3000" b="1" dirty="0">
                <a:solidFill>
                  <a:srgbClr val="0C1A24"/>
                </a:solidFill>
                <a:latin typeface="Georgia" pitchFamily="34" charset="0"/>
                <a:ea typeface="Georgia" pitchFamily="34" charset="-122"/>
                <a:cs typeface="Georgia" pitchFamily="34" charset="-120"/>
              </a:rPr>
              <a:t>Two AI systems, audited against each other</a:t>
            </a:r>
            <a:endParaRPr lang="en-US" sz="3000" dirty="0"/>
          </a:p>
        </p:txBody>
      </p:sp>
      <p:sp>
        <p:nvSpPr>
          <p:cNvPr id="5" name="Shape 3"/>
          <p:cNvSpPr/>
          <p:nvPr/>
        </p:nvSpPr>
        <p:spPr>
          <a:xfrm>
            <a:off x="685800" y="2139696"/>
            <a:ext cx="1463040" cy="41148"/>
          </a:xfrm>
          <a:prstGeom prst="rect">
            <a:avLst/>
          </a:prstGeom>
          <a:solidFill>
            <a:srgbClr val="1B7A8C"/>
          </a:solidFill>
          <a:ln w="12700">
            <a:solidFill>
              <a:srgbClr val="333333"/>
            </a:solidFill>
            <a:prstDash val="solid"/>
          </a:ln>
        </p:spPr>
      </p:sp>
      <p:sp>
        <p:nvSpPr>
          <p:cNvPr id="6" name="Text 4"/>
          <p:cNvSpPr txBox="1"/>
          <p:nvPr/>
        </p:nvSpPr>
        <p:spPr>
          <a:xfrm>
            <a:off x="685800" y="2468880"/>
            <a:ext cx="1737360" cy="914400"/>
          </a:xfrm>
          <a:prstGeom prst="rect">
            <a:avLst/>
          </a:prstGeom>
          <a:noFill/>
          <a:ln/>
        </p:spPr>
        <p:txBody>
          <a:bodyPr wrap="square" lIns="0" tIns="0" rIns="0" bIns="0" rtlCol="0" anchor="ctr"/>
          <a:lstStyle/>
          <a:p>
            <a:pPr indent="0" marL="0">
              <a:buNone/>
            </a:pPr>
            <a:r>
              <a:rPr lang="en-US" sz="6200" b="1" dirty="0">
                <a:solidFill>
                  <a:srgbClr val="E2574C"/>
                </a:solidFill>
                <a:latin typeface="Georgia" pitchFamily="34" charset="0"/>
                <a:ea typeface="Georgia" pitchFamily="34" charset="-122"/>
                <a:cs typeface="Georgia" pitchFamily="34" charset="-120"/>
              </a:rPr>
              <a:t>39</a:t>
            </a:r>
            <a:endParaRPr lang="en-US" sz="6200" dirty="0"/>
          </a:p>
        </p:txBody>
      </p:sp>
      <p:sp>
        <p:nvSpPr>
          <p:cNvPr id="7" name="Text 5"/>
          <p:cNvSpPr txBox="1"/>
          <p:nvPr/>
        </p:nvSpPr>
        <p:spPr>
          <a:xfrm>
            <a:off x="685800" y="3346704"/>
            <a:ext cx="2194560" cy="256032"/>
          </a:xfrm>
          <a:prstGeom prst="rect">
            <a:avLst/>
          </a:prstGeom>
          <a:noFill/>
          <a:ln/>
        </p:spPr>
        <p:txBody>
          <a:bodyPr wrap="square" lIns="0" tIns="0" rIns="0" bIns="0" rtlCol="0" anchor="ctr"/>
          <a:lstStyle/>
          <a:p>
            <a:pPr indent="0" marL="0">
              <a:buNone/>
            </a:pPr>
            <a:r>
              <a:rPr lang="en-US" sz="950" b="1" spc="140" kern="0" dirty="0">
                <a:solidFill>
                  <a:srgbClr val="0C1A24"/>
                </a:solidFill>
                <a:latin typeface="Consolas" pitchFamily="34" charset="0"/>
                <a:ea typeface="Consolas" pitchFamily="34" charset="-122"/>
                <a:cs typeface="Consolas" pitchFamily="34" charset="-120"/>
              </a:rPr>
              <a:t>DEFECTS FOUND</a:t>
            </a:r>
            <a:endParaRPr lang="en-US" sz="950" dirty="0"/>
          </a:p>
        </p:txBody>
      </p:sp>
      <p:sp>
        <p:nvSpPr>
          <p:cNvPr id="8" name="Text 6"/>
          <p:cNvSpPr txBox="1"/>
          <p:nvPr/>
        </p:nvSpPr>
        <p:spPr>
          <a:xfrm>
            <a:off x="685800" y="3657600"/>
            <a:ext cx="2743200" cy="914400"/>
          </a:xfrm>
          <a:prstGeom prst="rect">
            <a:avLst/>
          </a:prstGeom>
          <a:noFill/>
          <a:ln/>
        </p:spPr>
        <p:txBody>
          <a:bodyPr wrap="square" lIns="0" tIns="0" rIns="0" bIns="0" rtlCol="0" anchor="ctr"/>
          <a:lstStyle/>
          <a:p>
            <a:pPr indent="0" marL="0">
              <a:lnSpc>
                <a:spcPts val="1500"/>
              </a:lnSpc>
              <a:buNone/>
            </a:pPr>
            <a:r>
              <a:rPr lang="en-US" sz="1100" dirty="0">
                <a:solidFill>
                  <a:srgbClr val="41525E"/>
                </a:solidFill>
                <a:latin typeface="Trebuchet MS" pitchFamily="34" charset="0"/>
                <a:ea typeface="Trebuchet MS" pitchFamily="34" charset="-122"/>
                <a:cs typeface="Trebuchet MS" pitchFamily="34" charset="-120"/>
              </a:rPr>
              <a:t>None produced a runtime error. Every one surfaced by comparing an artifact against the thing that produced it.</a:t>
            </a:r>
            <a:endParaRPr lang="en-US" sz="1100" dirty="0"/>
          </a:p>
        </p:txBody>
      </p:sp>
      <p:sp>
        <p:nvSpPr>
          <p:cNvPr id="9" name="Text 7"/>
          <p:cNvSpPr txBox="1"/>
          <p:nvPr/>
        </p:nvSpPr>
        <p:spPr>
          <a:xfrm>
            <a:off x="3840480" y="2606040"/>
            <a:ext cx="2651760" cy="310896"/>
          </a:xfrm>
          <a:prstGeom prst="rect">
            <a:avLst/>
          </a:prstGeom>
          <a:noFill/>
          <a:ln/>
        </p:spPr>
        <p:txBody>
          <a:bodyPr wrap="square" lIns="0" tIns="0" rIns="0" bIns="0" rtlCol="0" anchor="ctr"/>
          <a:lstStyle/>
          <a:p>
            <a:pPr indent="0" marL="0">
              <a:buNone/>
            </a:pPr>
            <a:r>
              <a:rPr lang="en-US" sz="1150" dirty="0">
                <a:solidFill>
                  <a:srgbClr val="41525E"/>
                </a:solidFill>
                <a:latin typeface="Trebuchet MS" pitchFamily="34" charset="0"/>
                <a:ea typeface="Trebuchet MS" pitchFamily="34" charset="-122"/>
                <a:cs typeface="Trebuchet MS" pitchFamily="34" charset="-120"/>
              </a:rPr>
              <a:t>Model A, self-check</a:t>
            </a:r>
            <a:endParaRPr lang="en-US" sz="1150" dirty="0"/>
          </a:p>
        </p:txBody>
      </p:sp>
      <p:sp>
        <p:nvSpPr>
          <p:cNvPr id="10" name="Shape 8"/>
          <p:cNvSpPr/>
          <p:nvPr/>
        </p:nvSpPr>
        <p:spPr>
          <a:xfrm>
            <a:off x="6583680" y="2660904"/>
            <a:ext cx="3657600" cy="219456"/>
          </a:xfrm>
          <a:prstGeom prst="rect">
            <a:avLst/>
          </a:prstGeom>
          <a:solidFill>
            <a:srgbClr val="1B7A8C"/>
          </a:solidFill>
          <a:ln w="12700">
            <a:solidFill>
              <a:srgbClr val="333333"/>
            </a:solidFill>
            <a:prstDash val="solid"/>
          </a:ln>
        </p:spPr>
      </p:sp>
      <p:sp>
        <p:nvSpPr>
          <p:cNvPr id="11" name="Text 9"/>
          <p:cNvSpPr txBox="1"/>
          <p:nvPr/>
        </p:nvSpPr>
        <p:spPr>
          <a:xfrm>
            <a:off x="10378440" y="2587752"/>
            <a:ext cx="548640" cy="329184"/>
          </a:xfrm>
          <a:prstGeom prst="rect">
            <a:avLst/>
          </a:prstGeom>
          <a:noFill/>
          <a:ln/>
        </p:spPr>
        <p:txBody>
          <a:bodyPr wrap="square" lIns="0" tIns="0" rIns="0" bIns="0" rtlCol="0" anchor="ctr"/>
          <a:lstStyle/>
          <a:p>
            <a:pPr indent="0" marL="0">
              <a:buNone/>
            </a:pPr>
            <a:r>
              <a:rPr lang="en-US" sz="1400" b="1" dirty="0">
                <a:solidFill>
                  <a:srgbClr val="1B7A8C"/>
                </a:solidFill>
                <a:latin typeface="Georgia" pitchFamily="34" charset="0"/>
                <a:ea typeface="Georgia" pitchFamily="34" charset="-122"/>
                <a:cs typeface="Georgia" pitchFamily="34" charset="-120"/>
              </a:rPr>
              <a:t>20</a:t>
            </a:r>
            <a:endParaRPr lang="en-US" sz="1400" dirty="0"/>
          </a:p>
        </p:txBody>
      </p:sp>
      <p:sp>
        <p:nvSpPr>
          <p:cNvPr id="12" name="Text 10"/>
          <p:cNvSpPr txBox="1"/>
          <p:nvPr/>
        </p:nvSpPr>
        <p:spPr>
          <a:xfrm>
            <a:off x="3840480" y="3172968"/>
            <a:ext cx="2651760" cy="310896"/>
          </a:xfrm>
          <a:prstGeom prst="rect">
            <a:avLst/>
          </a:prstGeom>
          <a:noFill/>
          <a:ln/>
        </p:spPr>
        <p:txBody>
          <a:bodyPr wrap="square" lIns="0" tIns="0" rIns="0" bIns="0" rtlCol="0" anchor="ctr"/>
          <a:lstStyle/>
          <a:p>
            <a:pPr indent="0" marL="0">
              <a:buNone/>
            </a:pPr>
            <a:r>
              <a:rPr lang="en-US" sz="1150" dirty="0">
                <a:solidFill>
                  <a:srgbClr val="41525E"/>
                </a:solidFill>
                <a:latin typeface="Trebuchet MS" pitchFamily="34" charset="0"/>
                <a:ea typeface="Trebuchet MS" pitchFamily="34" charset="-122"/>
                <a:cs typeface="Trebuchet MS" pitchFamily="34" charset="-120"/>
              </a:rPr>
              <a:t>Model B, artifact review</a:t>
            </a:r>
            <a:endParaRPr lang="en-US" sz="1150" dirty="0"/>
          </a:p>
        </p:txBody>
      </p:sp>
      <p:sp>
        <p:nvSpPr>
          <p:cNvPr id="13" name="Shape 11"/>
          <p:cNvSpPr/>
          <p:nvPr/>
        </p:nvSpPr>
        <p:spPr>
          <a:xfrm>
            <a:off x="6583680" y="3227832"/>
            <a:ext cx="2926080" cy="219456"/>
          </a:xfrm>
          <a:prstGeom prst="rect">
            <a:avLst/>
          </a:prstGeom>
          <a:solidFill>
            <a:srgbClr val="F0A63C"/>
          </a:solidFill>
          <a:ln w="12700">
            <a:solidFill>
              <a:srgbClr val="333333"/>
            </a:solidFill>
            <a:prstDash val="solid"/>
          </a:ln>
        </p:spPr>
      </p:sp>
      <p:sp>
        <p:nvSpPr>
          <p:cNvPr id="14" name="Text 12"/>
          <p:cNvSpPr txBox="1"/>
          <p:nvPr/>
        </p:nvSpPr>
        <p:spPr>
          <a:xfrm>
            <a:off x="10378440" y="3154680"/>
            <a:ext cx="548640" cy="329184"/>
          </a:xfrm>
          <a:prstGeom prst="rect">
            <a:avLst/>
          </a:prstGeom>
          <a:noFill/>
          <a:ln/>
        </p:spPr>
        <p:txBody>
          <a:bodyPr wrap="square" lIns="0" tIns="0" rIns="0" bIns="0" rtlCol="0" anchor="ctr"/>
          <a:lstStyle/>
          <a:p>
            <a:pPr indent="0" marL="0">
              <a:buNone/>
            </a:pPr>
            <a:r>
              <a:rPr lang="en-US" sz="1400" b="1" dirty="0">
                <a:solidFill>
                  <a:srgbClr val="F0A63C"/>
                </a:solidFill>
                <a:latin typeface="Georgia" pitchFamily="34" charset="0"/>
                <a:ea typeface="Georgia" pitchFamily="34" charset="-122"/>
                <a:cs typeface="Georgia" pitchFamily="34" charset="-120"/>
              </a:rPr>
              <a:t>16</a:t>
            </a:r>
            <a:endParaRPr lang="en-US" sz="1400" dirty="0"/>
          </a:p>
        </p:txBody>
      </p:sp>
      <p:sp>
        <p:nvSpPr>
          <p:cNvPr id="15" name="Text 13"/>
          <p:cNvSpPr txBox="1"/>
          <p:nvPr/>
        </p:nvSpPr>
        <p:spPr>
          <a:xfrm>
            <a:off x="3840480" y="3739896"/>
            <a:ext cx="2651760" cy="310896"/>
          </a:xfrm>
          <a:prstGeom prst="rect">
            <a:avLst/>
          </a:prstGeom>
          <a:noFill/>
          <a:ln/>
        </p:spPr>
        <p:txBody>
          <a:bodyPr wrap="square" lIns="0" tIns="0" rIns="0" bIns="0" rtlCol="0" anchor="ctr"/>
          <a:lstStyle/>
          <a:p>
            <a:pPr indent="0" marL="0">
              <a:buNone/>
            </a:pPr>
            <a:r>
              <a:rPr lang="en-US" sz="1150" dirty="0">
                <a:solidFill>
                  <a:srgbClr val="41525E"/>
                </a:solidFill>
                <a:latin typeface="Trebuchet MS" pitchFamily="34" charset="0"/>
                <a:ea typeface="Trebuchet MS" pitchFamily="34" charset="-122"/>
                <a:cs typeface="Trebuchet MS" pitchFamily="34" charset="-120"/>
              </a:rPr>
              <a:t>Frozen validator</a:t>
            </a:r>
            <a:endParaRPr lang="en-US" sz="1150" dirty="0"/>
          </a:p>
        </p:txBody>
      </p:sp>
      <p:sp>
        <p:nvSpPr>
          <p:cNvPr id="16" name="Shape 14"/>
          <p:cNvSpPr/>
          <p:nvPr/>
        </p:nvSpPr>
        <p:spPr>
          <a:xfrm>
            <a:off x="6583680" y="3794760"/>
            <a:ext cx="182880" cy="219456"/>
          </a:xfrm>
          <a:prstGeom prst="rect">
            <a:avLst/>
          </a:prstGeom>
          <a:solidFill>
            <a:srgbClr val="9DB2BF"/>
          </a:solidFill>
          <a:ln w="12700">
            <a:solidFill>
              <a:srgbClr val="333333"/>
            </a:solidFill>
            <a:prstDash val="solid"/>
          </a:ln>
        </p:spPr>
      </p:sp>
      <p:sp>
        <p:nvSpPr>
          <p:cNvPr id="17" name="Text 15"/>
          <p:cNvSpPr txBox="1"/>
          <p:nvPr/>
        </p:nvSpPr>
        <p:spPr>
          <a:xfrm>
            <a:off x="10378440" y="3721608"/>
            <a:ext cx="548640" cy="329184"/>
          </a:xfrm>
          <a:prstGeom prst="rect">
            <a:avLst/>
          </a:prstGeom>
          <a:noFill/>
          <a:ln/>
        </p:spPr>
        <p:txBody>
          <a:bodyPr wrap="square" lIns="0" tIns="0" rIns="0" bIns="0" rtlCol="0" anchor="ctr"/>
          <a:lstStyle/>
          <a:p>
            <a:pPr indent="0" marL="0">
              <a:buNone/>
            </a:pPr>
            <a:r>
              <a:rPr lang="en-US" sz="1400" b="1" dirty="0">
                <a:solidFill>
                  <a:srgbClr val="9DB2BF"/>
                </a:solidFill>
                <a:latin typeface="Georgia" pitchFamily="34" charset="0"/>
                <a:ea typeface="Georgia" pitchFamily="34" charset="-122"/>
                <a:cs typeface="Georgia" pitchFamily="34" charset="-120"/>
              </a:rPr>
              <a:t>1</a:t>
            </a:r>
            <a:endParaRPr lang="en-US" sz="1400" dirty="0"/>
          </a:p>
        </p:txBody>
      </p:sp>
      <p:sp>
        <p:nvSpPr>
          <p:cNvPr id="18" name="Text 16"/>
          <p:cNvSpPr txBox="1"/>
          <p:nvPr/>
        </p:nvSpPr>
        <p:spPr>
          <a:xfrm>
            <a:off x="3840480" y="4306824"/>
            <a:ext cx="2651760" cy="310896"/>
          </a:xfrm>
          <a:prstGeom prst="rect">
            <a:avLst/>
          </a:prstGeom>
          <a:noFill/>
          <a:ln/>
        </p:spPr>
        <p:txBody>
          <a:bodyPr wrap="square" lIns="0" tIns="0" rIns="0" bIns="0" rtlCol="0" anchor="ctr"/>
          <a:lstStyle/>
          <a:p>
            <a:pPr indent="0" marL="0">
              <a:buNone/>
            </a:pPr>
            <a:r>
              <a:rPr lang="en-US" sz="1150" dirty="0">
                <a:solidFill>
                  <a:srgbClr val="41525E"/>
                </a:solidFill>
                <a:latin typeface="Trebuchet MS" pitchFamily="34" charset="0"/>
                <a:ea typeface="Trebuchet MS" pitchFamily="34" charset="-122"/>
                <a:cs typeface="Trebuchet MS" pitchFamily="34" charset="-120"/>
              </a:rPr>
              <a:t>Audit staleness sweep</a:t>
            </a:r>
            <a:endParaRPr lang="en-US" sz="1150" dirty="0"/>
          </a:p>
        </p:txBody>
      </p:sp>
      <p:sp>
        <p:nvSpPr>
          <p:cNvPr id="19" name="Shape 17"/>
          <p:cNvSpPr/>
          <p:nvPr/>
        </p:nvSpPr>
        <p:spPr>
          <a:xfrm>
            <a:off x="6583680" y="4361688"/>
            <a:ext cx="182880" cy="219456"/>
          </a:xfrm>
          <a:prstGeom prst="rect">
            <a:avLst/>
          </a:prstGeom>
          <a:solidFill>
            <a:srgbClr val="9DB2BF"/>
          </a:solidFill>
          <a:ln w="12700">
            <a:solidFill>
              <a:srgbClr val="333333"/>
            </a:solidFill>
            <a:prstDash val="solid"/>
          </a:ln>
        </p:spPr>
      </p:sp>
      <p:sp>
        <p:nvSpPr>
          <p:cNvPr id="20" name="Text 18"/>
          <p:cNvSpPr txBox="1"/>
          <p:nvPr/>
        </p:nvSpPr>
        <p:spPr>
          <a:xfrm>
            <a:off x="10378440" y="4288536"/>
            <a:ext cx="548640" cy="329184"/>
          </a:xfrm>
          <a:prstGeom prst="rect">
            <a:avLst/>
          </a:prstGeom>
          <a:noFill/>
          <a:ln/>
        </p:spPr>
        <p:txBody>
          <a:bodyPr wrap="square" lIns="0" tIns="0" rIns="0" bIns="0" rtlCol="0" anchor="ctr"/>
          <a:lstStyle/>
          <a:p>
            <a:pPr indent="0" marL="0">
              <a:buNone/>
            </a:pPr>
            <a:r>
              <a:rPr lang="en-US" sz="1400" b="1" dirty="0">
                <a:solidFill>
                  <a:srgbClr val="9DB2BF"/>
                </a:solidFill>
                <a:latin typeface="Georgia" pitchFamily="34" charset="0"/>
                <a:ea typeface="Georgia" pitchFamily="34" charset="-122"/>
                <a:cs typeface="Georgia" pitchFamily="34" charset="-120"/>
              </a:rPr>
              <a:t>1</a:t>
            </a:r>
            <a:endParaRPr lang="en-US" sz="1400" dirty="0"/>
          </a:p>
        </p:txBody>
      </p:sp>
      <p:sp>
        <p:nvSpPr>
          <p:cNvPr id="21" name="Text 19"/>
          <p:cNvSpPr txBox="1"/>
          <p:nvPr/>
        </p:nvSpPr>
        <p:spPr>
          <a:xfrm>
            <a:off x="3840480" y="4873752"/>
            <a:ext cx="2651760" cy="310896"/>
          </a:xfrm>
          <a:prstGeom prst="rect">
            <a:avLst/>
          </a:prstGeom>
          <a:noFill/>
          <a:ln/>
        </p:spPr>
        <p:txBody>
          <a:bodyPr wrap="square" lIns="0" tIns="0" rIns="0" bIns="0" rtlCol="0" anchor="ctr"/>
          <a:lstStyle/>
          <a:p>
            <a:pPr indent="0" marL="0">
              <a:buNone/>
            </a:pPr>
            <a:r>
              <a:rPr lang="en-US" sz="1150" dirty="0">
                <a:solidFill>
                  <a:srgbClr val="41525E"/>
                </a:solidFill>
                <a:latin typeface="Trebuchet MS" pitchFamily="34" charset="0"/>
                <a:ea typeface="Trebuchet MS" pitchFamily="34" charset="-122"/>
                <a:cs typeface="Trebuchet MS" pitchFamily="34" charset="-120"/>
              </a:rPr>
              <a:t>My adjudication</a:t>
            </a:r>
            <a:endParaRPr lang="en-US" sz="1150" dirty="0"/>
          </a:p>
        </p:txBody>
      </p:sp>
      <p:sp>
        <p:nvSpPr>
          <p:cNvPr id="22" name="Shape 20"/>
          <p:cNvSpPr/>
          <p:nvPr/>
        </p:nvSpPr>
        <p:spPr>
          <a:xfrm>
            <a:off x="6583680" y="4928616"/>
            <a:ext cx="182880" cy="219456"/>
          </a:xfrm>
          <a:prstGeom prst="rect">
            <a:avLst/>
          </a:prstGeom>
          <a:solidFill>
            <a:srgbClr val="E2574C"/>
          </a:solidFill>
          <a:ln w="12700">
            <a:solidFill>
              <a:srgbClr val="333333"/>
            </a:solidFill>
            <a:prstDash val="solid"/>
          </a:ln>
        </p:spPr>
      </p:sp>
      <p:sp>
        <p:nvSpPr>
          <p:cNvPr id="23" name="Text 21"/>
          <p:cNvSpPr txBox="1"/>
          <p:nvPr/>
        </p:nvSpPr>
        <p:spPr>
          <a:xfrm>
            <a:off x="10378440" y="4855464"/>
            <a:ext cx="548640" cy="329184"/>
          </a:xfrm>
          <a:prstGeom prst="rect">
            <a:avLst/>
          </a:prstGeom>
          <a:noFill/>
          <a:ln/>
        </p:spPr>
        <p:txBody>
          <a:bodyPr wrap="square" lIns="0" tIns="0" rIns="0" bIns="0" rtlCol="0" anchor="ctr"/>
          <a:lstStyle/>
          <a:p>
            <a:pPr indent="0" marL="0">
              <a:buNone/>
            </a:pPr>
            <a:r>
              <a:rPr lang="en-US" sz="1400" b="1" dirty="0">
                <a:solidFill>
                  <a:srgbClr val="E2574C"/>
                </a:solidFill>
                <a:latin typeface="Georgia" pitchFamily="34" charset="0"/>
                <a:ea typeface="Georgia" pitchFamily="34" charset="-122"/>
                <a:cs typeface="Georgia" pitchFamily="34" charset="-120"/>
              </a:rPr>
              <a:t>1</a:t>
            </a:r>
            <a:endParaRPr lang="en-US" sz="1400" dirty="0"/>
          </a:p>
        </p:txBody>
      </p:sp>
      <p:sp>
        <p:nvSpPr>
          <p:cNvPr id="24" name="Shape 22"/>
          <p:cNvSpPr/>
          <p:nvPr/>
        </p:nvSpPr>
        <p:spPr>
          <a:xfrm>
            <a:off x="3840480" y="5486400"/>
            <a:ext cx="7635240" cy="658368"/>
          </a:xfrm>
          <a:prstGeom prst="rect">
            <a:avLst/>
          </a:prstGeom>
          <a:solidFill>
            <a:srgbClr val="E1F1F4"/>
          </a:solidFill>
          <a:ln w="12700">
            <a:solidFill>
              <a:srgbClr val="1B7A8C"/>
            </a:solidFill>
            <a:prstDash val="solid"/>
          </a:ln>
        </p:spPr>
      </p:sp>
      <p:sp>
        <p:nvSpPr>
          <p:cNvPr id="25" name="Text 23"/>
          <p:cNvSpPr txBox="1"/>
          <p:nvPr/>
        </p:nvSpPr>
        <p:spPr>
          <a:xfrm>
            <a:off x="4114800" y="5632704"/>
            <a:ext cx="7223760" cy="365760"/>
          </a:xfrm>
          <a:prstGeom prst="rect">
            <a:avLst/>
          </a:prstGeom>
          <a:noFill/>
          <a:ln/>
        </p:spPr>
        <p:txBody>
          <a:bodyPr wrap="square" lIns="0" tIns="0" rIns="0" bIns="0" rtlCol="0" anchor="ctr"/>
          <a:lstStyle/>
          <a:p>
            <a:pPr indent="0" marL="0">
              <a:buNone/>
            </a:pPr>
            <a:r>
              <a:rPr lang="en-US" sz="1300" i="1" dirty="0">
                <a:solidFill>
                  <a:srgbClr val="1F5560"/>
                </a:solidFill>
                <a:latin typeface="Georgia" pitchFamily="34" charset="0"/>
                <a:ea typeface="Georgia" pitchFamily="34" charset="-122"/>
                <a:cs typeface="Georgia" pitchFamily="34" charset="-120"/>
              </a:rPr>
              <a:t>One model built. A second model audited the delivered files, not the summary. I adjudicated, and overruled both.</a:t>
            </a:r>
            <a:endParaRPr lang="en-US" sz="1300" dirty="0"/>
          </a:p>
        </p:txBody>
      </p:sp>
      <p:sp>
        <p:nvSpPr>
          <p:cNvPr id="26" name="Text 24"/>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9DB2BF"/>
                </a:solidFill>
                <a:latin typeface="Consolas" pitchFamily="34" charset="0"/>
                <a:ea typeface="Consolas" pitchFamily="34" charset="-122"/>
                <a:cs typeface="Consolas" pitchFamily="34" charset="-120"/>
              </a:rPr>
              <a:t>15 / 16</a:t>
            </a:r>
            <a:endParaRPr lang="en-US" sz="900" dirty="0"/>
          </a:p>
        </p:txBody>
      </p:sp>
      <p:sp>
        <p:nvSpPr>
          <p:cNvPr id="27" name="Text 25"/>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C2CFD8"/>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A24"/>
        </a:solidFill>
      </p:bgPr>
    </p:bg>
    <p:spTree>
      <p:nvGrpSpPr>
        <p:cNvPr id="1" name=""/>
        <p:cNvGrpSpPr/>
        <p:nvPr/>
      </p:nvGrpSpPr>
      <p:grpSpPr>
        <a:xfrm>
          <a:off x="0" y="0"/>
          <a:ext cx="0" cy="0"/>
          <a:chOff x="0" y="0"/>
          <a:chExt cx="0" cy="0"/>
        </a:xfrm>
      </p:grpSpPr>
      <p:sp>
        <p:nvSpPr>
          <p:cNvPr id="2" name="Shape 0"/>
          <p:cNvSpPr/>
          <p:nvPr/>
        </p:nvSpPr>
        <p:spPr>
          <a:xfrm>
            <a:off x="384048" y="310896"/>
            <a:ext cx="11420856" cy="10973"/>
          </a:xfrm>
          <a:prstGeom prst="rect">
            <a:avLst/>
          </a:prstGeom>
          <a:solidFill>
            <a:srgbClr val="1E3A4C">
              <a:alpha val="45000"/>
            </a:srgbClr>
          </a:solidFill>
          <a:ln w="12700">
            <a:solidFill>
              <a:srgbClr val="333333"/>
            </a:solidFill>
            <a:prstDash val="solid"/>
          </a:ln>
        </p:spPr>
      </p:sp>
      <p:sp>
        <p:nvSpPr>
          <p:cNvPr id="3" name="Shape 1"/>
          <p:cNvSpPr/>
          <p:nvPr/>
        </p:nvSpPr>
        <p:spPr>
          <a:xfrm>
            <a:off x="384048" y="6547104"/>
            <a:ext cx="11420856" cy="10973"/>
          </a:xfrm>
          <a:prstGeom prst="rect">
            <a:avLst/>
          </a:prstGeom>
          <a:solidFill>
            <a:srgbClr val="1E3A4C">
              <a:alpha val="45000"/>
            </a:srgbClr>
          </a:solidFill>
          <a:ln w="12700">
            <a:solidFill>
              <a:srgbClr val="333333"/>
            </a:solidFill>
            <a:prstDash val="solid"/>
          </a:ln>
        </p:spPr>
      </p:sp>
      <p:sp>
        <p:nvSpPr>
          <p:cNvPr id="4" name="Shape 2"/>
          <p:cNvSpPr/>
          <p:nvPr/>
        </p:nvSpPr>
        <p:spPr>
          <a:xfrm>
            <a:off x="384048" y="310896"/>
            <a:ext cx="10973" cy="6236208"/>
          </a:xfrm>
          <a:prstGeom prst="rect">
            <a:avLst/>
          </a:prstGeom>
          <a:solidFill>
            <a:srgbClr val="1E3A4C">
              <a:alpha val="45000"/>
            </a:srgbClr>
          </a:solidFill>
          <a:ln w="12700">
            <a:solidFill>
              <a:srgbClr val="333333"/>
            </a:solidFill>
            <a:prstDash val="solid"/>
          </a:ln>
        </p:spPr>
      </p:sp>
      <p:sp>
        <p:nvSpPr>
          <p:cNvPr id="5" name="Shape 3"/>
          <p:cNvSpPr/>
          <p:nvPr/>
        </p:nvSpPr>
        <p:spPr>
          <a:xfrm>
            <a:off x="11795760" y="310896"/>
            <a:ext cx="10973" cy="6236208"/>
          </a:xfrm>
          <a:prstGeom prst="rect">
            <a:avLst/>
          </a:prstGeom>
          <a:solidFill>
            <a:srgbClr val="1E3A4C">
              <a:alpha val="45000"/>
            </a:srgbClr>
          </a:solidFill>
          <a:ln w="12700">
            <a:solidFill>
              <a:srgbClr val="333333"/>
            </a:solidFill>
            <a:prstDash val="solid"/>
          </a:ln>
        </p:spPr>
      </p:sp>
      <p:sp>
        <p:nvSpPr>
          <p:cNvPr id="6" name="Shape 4"/>
          <p:cNvSpPr/>
          <p:nvPr/>
        </p:nvSpPr>
        <p:spPr>
          <a:xfrm>
            <a:off x="6080760" y="310896"/>
            <a:ext cx="10973" cy="6236208"/>
          </a:xfrm>
          <a:prstGeom prst="rect">
            <a:avLst/>
          </a:prstGeom>
          <a:solidFill>
            <a:srgbClr val="1E3A4C">
              <a:alpha val="45000"/>
            </a:srgbClr>
          </a:solidFill>
          <a:ln w="12700">
            <a:solidFill>
              <a:srgbClr val="333333"/>
            </a:solidFill>
            <a:prstDash val="solid"/>
          </a:ln>
        </p:spPr>
      </p:sp>
      <p:sp>
        <p:nvSpPr>
          <p:cNvPr id="7" name="Shape 5"/>
          <p:cNvSpPr/>
          <p:nvPr/>
        </p:nvSpPr>
        <p:spPr>
          <a:xfrm>
            <a:off x="5029200" y="3291840"/>
            <a:ext cx="2103120" cy="2103120"/>
          </a:xfrm>
          <a:prstGeom prst="ellipse">
            <a:avLst/>
          </a:prstGeom>
          <a:ln w="12700">
            <a:solidFill>
              <a:srgbClr val="1E3A4C">
                <a:alpha val="45000"/>
              </a:srgbClr>
            </a:solidFill>
            <a:prstDash val="solid"/>
          </a:ln>
        </p:spPr>
      </p:sp>
      <p:sp>
        <p:nvSpPr>
          <p:cNvPr id="8" name="Shape 6"/>
          <p:cNvSpPr/>
          <p:nvPr/>
        </p:nvSpPr>
        <p:spPr>
          <a:xfrm>
            <a:off x="384048" y="1965960"/>
            <a:ext cx="1600200" cy="10973"/>
          </a:xfrm>
          <a:prstGeom prst="rect">
            <a:avLst/>
          </a:prstGeom>
          <a:solidFill>
            <a:srgbClr val="1E3A4C">
              <a:alpha val="45000"/>
            </a:srgbClr>
          </a:solidFill>
          <a:ln w="12700">
            <a:solidFill>
              <a:srgbClr val="333333"/>
            </a:solidFill>
            <a:prstDash val="solid"/>
          </a:ln>
        </p:spPr>
      </p:sp>
      <p:sp>
        <p:nvSpPr>
          <p:cNvPr id="9" name="Shape 7"/>
          <p:cNvSpPr/>
          <p:nvPr/>
        </p:nvSpPr>
        <p:spPr>
          <a:xfrm>
            <a:off x="384048" y="4892040"/>
            <a:ext cx="1600200" cy="10973"/>
          </a:xfrm>
          <a:prstGeom prst="rect">
            <a:avLst/>
          </a:prstGeom>
          <a:solidFill>
            <a:srgbClr val="1E3A4C">
              <a:alpha val="45000"/>
            </a:srgbClr>
          </a:solidFill>
          <a:ln w="12700">
            <a:solidFill>
              <a:srgbClr val="333333"/>
            </a:solidFill>
            <a:prstDash val="solid"/>
          </a:ln>
        </p:spPr>
      </p:sp>
      <p:sp>
        <p:nvSpPr>
          <p:cNvPr id="10" name="Shape 8"/>
          <p:cNvSpPr/>
          <p:nvPr/>
        </p:nvSpPr>
        <p:spPr>
          <a:xfrm>
            <a:off x="1984248" y="1965960"/>
            <a:ext cx="10973" cy="2926080"/>
          </a:xfrm>
          <a:prstGeom prst="rect">
            <a:avLst/>
          </a:prstGeom>
          <a:solidFill>
            <a:srgbClr val="1E3A4C">
              <a:alpha val="45000"/>
            </a:srgbClr>
          </a:solidFill>
          <a:ln w="12700">
            <a:solidFill>
              <a:srgbClr val="333333"/>
            </a:solidFill>
            <a:prstDash val="solid"/>
          </a:ln>
        </p:spPr>
      </p:sp>
      <p:sp>
        <p:nvSpPr>
          <p:cNvPr id="11" name="Shape 9"/>
          <p:cNvSpPr/>
          <p:nvPr/>
        </p:nvSpPr>
        <p:spPr>
          <a:xfrm>
            <a:off x="10204704" y="1965960"/>
            <a:ext cx="1600200" cy="10973"/>
          </a:xfrm>
          <a:prstGeom prst="rect">
            <a:avLst/>
          </a:prstGeom>
          <a:solidFill>
            <a:srgbClr val="1E3A4C">
              <a:alpha val="45000"/>
            </a:srgbClr>
          </a:solidFill>
          <a:ln w="12700">
            <a:solidFill>
              <a:srgbClr val="333333"/>
            </a:solidFill>
            <a:prstDash val="solid"/>
          </a:ln>
        </p:spPr>
      </p:sp>
      <p:sp>
        <p:nvSpPr>
          <p:cNvPr id="12" name="Shape 10"/>
          <p:cNvSpPr/>
          <p:nvPr/>
        </p:nvSpPr>
        <p:spPr>
          <a:xfrm>
            <a:off x="10204704" y="4892040"/>
            <a:ext cx="1600200" cy="10973"/>
          </a:xfrm>
          <a:prstGeom prst="rect">
            <a:avLst/>
          </a:prstGeom>
          <a:solidFill>
            <a:srgbClr val="1E3A4C">
              <a:alpha val="45000"/>
            </a:srgbClr>
          </a:solidFill>
          <a:ln w="12700">
            <a:solidFill>
              <a:srgbClr val="333333"/>
            </a:solidFill>
            <a:prstDash val="solid"/>
          </a:ln>
        </p:spPr>
      </p:sp>
      <p:sp>
        <p:nvSpPr>
          <p:cNvPr id="13" name="Shape 11"/>
          <p:cNvSpPr/>
          <p:nvPr/>
        </p:nvSpPr>
        <p:spPr>
          <a:xfrm>
            <a:off x="10204704" y="1965960"/>
            <a:ext cx="10973" cy="2926080"/>
          </a:xfrm>
          <a:prstGeom prst="rect">
            <a:avLst/>
          </a:prstGeom>
          <a:solidFill>
            <a:srgbClr val="1E3A4C">
              <a:alpha val="45000"/>
            </a:srgbClr>
          </a:solidFill>
          <a:ln w="12700">
            <a:solidFill>
              <a:srgbClr val="333333"/>
            </a:solidFill>
            <a:prstDash val="solid"/>
          </a:ln>
        </p:spPr>
      </p:sp>
      <p:sp>
        <p:nvSpPr>
          <p:cNvPr id="14" name="Shape 12"/>
          <p:cNvSpPr/>
          <p:nvPr/>
        </p:nvSpPr>
        <p:spPr>
          <a:xfrm>
            <a:off x="384048" y="2788920"/>
            <a:ext cx="658368" cy="10973"/>
          </a:xfrm>
          <a:prstGeom prst="rect">
            <a:avLst/>
          </a:prstGeom>
          <a:solidFill>
            <a:srgbClr val="1E3A4C">
              <a:alpha val="45000"/>
            </a:srgbClr>
          </a:solidFill>
          <a:ln w="12700">
            <a:solidFill>
              <a:srgbClr val="333333"/>
            </a:solidFill>
            <a:prstDash val="solid"/>
          </a:ln>
        </p:spPr>
      </p:sp>
      <p:sp>
        <p:nvSpPr>
          <p:cNvPr id="15" name="Shape 13"/>
          <p:cNvSpPr/>
          <p:nvPr/>
        </p:nvSpPr>
        <p:spPr>
          <a:xfrm>
            <a:off x="384048" y="4069080"/>
            <a:ext cx="658368" cy="10973"/>
          </a:xfrm>
          <a:prstGeom prst="rect">
            <a:avLst/>
          </a:prstGeom>
          <a:solidFill>
            <a:srgbClr val="1E3A4C">
              <a:alpha val="45000"/>
            </a:srgbClr>
          </a:solidFill>
          <a:ln w="12700">
            <a:solidFill>
              <a:srgbClr val="333333"/>
            </a:solidFill>
            <a:prstDash val="solid"/>
          </a:ln>
        </p:spPr>
      </p:sp>
      <p:sp>
        <p:nvSpPr>
          <p:cNvPr id="16" name="Shape 14"/>
          <p:cNvSpPr/>
          <p:nvPr/>
        </p:nvSpPr>
        <p:spPr>
          <a:xfrm>
            <a:off x="1042416" y="2788920"/>
            <a:ext cx="10973" cy="1280160"/>
          </a:xfrm>
          <a:prstGeom prst="rect">
            <a:avLst/>
          </a:prstGeom>
          <a:solidFill>
            <a:srgbClr val="1E3A4C">
              <a:alpha val="45000"/>
            </a:srgbClr>
          </a:solidFill>
          <a:ln w="12700">
            <a:solidFill>
              <a:srgbClr val="333333"/>
            </a:solidFill>
            <a:prstDash val="solid"/>
          </a:ln>
        </p:spPr>
      </p:sp>
      <p:sp>
        <p:nvSpPr>
          <p:cNvPr id="17" name="Shape 15"/>
          <p:cNvSpPr/>
          <p:nvPr/>
        </p:nvSpPr>
        <p:spPr>
          <a:xfrm>
            <a:off x="11146536" y="2788920"/>
            <a:ext cx="658368" cy="10973"/>
          </a:xfrm>
          <a:prstGeom prst="rect">
            <a:avLst/>
          </a:prstGeom>
          <a:solidFill>
            <a:srgbClr val="1E3A4C">
              <a:alpha val="45000"/>
            </a:srgbClr>
          </a:solidFill>
          <a:ln w="12700">
            <a:solidFill>
              <a:srgbClr val="333333"/>
            </a:solidFill>
            <a:prstDash val="solid"/>
          </a:ln>
        </p:spPr>
      </p:sp>
      <p:sp>
        <p:nvSpPr>
          <p:cNvPr id="18" name="Shape 16"/>
          <p:cNvSpPr/>
          <p:nvPr/>
        </p:nvSpPr>
        <p:spPr>
          <a:xfrm>
            <a:off x="11146536" y="4069080"/>
            <a:ext cx="658368" cy="10973"/>
          </a:xfrm>
          <a:prstGeom prst="rect">
            <a:avLst/>
          </a:prstGeom>
          <a:solidFill>
            <a:srgbClr val="1E3A4C">
              <a:alpha val="45000"/>
            </a:srgbClr>
          </a:solidFill>
          <a:ln w="12700">
            <a:solidFill>
              <a:srgbClr val="333333"/>
            </a:solidFill>
            <a:prstDash val="solid"/>
          </a:ln>
        </p:spPr>
      </p:sp>
      <p:sp>
        <p:nvSpPr>
          <p:cNvPr id="19" name="Shape 17"/>
          <p:cNvSpPr/>
          <p:nvPr/>
        </p:nvSpPr>
        <p:spPr>
          <a:xfrm>
            <a:off x="11146536" y="2788920"/>
            <a:ext cx="10973" cy="1280160"/>
          </a:xfrm>
          <a:prstGeom prst="rect">
            <a:avLst/>
          </a:prstGeom>
          <a:solidFill>
            <a:srgbClr val="1E3A4C">
              <a:alpha val="45000"/>
            </a:srgbClr>
          </a:solidFill>
          <a:ln w="12700">
            <a:solidFill>
              <a:srgbClr val="333333"/>
            </a:solidFill>
            <a:prstDash val="solid"/>
          </a:ln>
        </p:spPr>
      </p:sp>
      <p:sp>
        <p:nvSpPr>
          <p:cNvPr id="20" name="Text 18"/>
          <p:cNvSpPr txBox="1"/>
          <p:nvPr/>
        </p:nvSpPr>
        <p:spPr>
          <a:xfrm>
            <a:off x="685800" y="475488"/>
            <a:ext cx="10789920" cy="237744"/>
          </a:xfrm>
          <a:prstGeom prst="rect">
            <a:avLst/>
          </a:prstGeom>
          <a:noFill/>
          <a:ln/>
        </p:spPr>
        <p:txBody>
          <a:bodyPr wrap="square" lIns="0" tIns="0" rIns="0" bIns="0" rtlCol="0" anchor="ctr"/>
          <a:lstStyle/>
          <a:p>
            <a:pPr indent="0" marL="0">
              <a:buNone/>
            </a:pPr>
            <a:r>
              <a:rPr lang="en-US" sz="1000" b="1" spc="320" kern="0" dirty="0">
                <a:solidFill>
                  <a:srgbClr val="38C6D9"/>
                </a:solidFill>
                <a:latin typeface="Consolas" pitchFamily="34" charset="0"/>
                <a:ea typeface="Consolas" pitchFamily="34" charset="-122"/>
                <a:cs typeface="Consolas" pitchFamily="34" charset="-120"/>
              </a:rPr>
              <a:t>THE MANAGERIAL TAKEAWAY</a:t>
            </a:r>
            <a:endParaRPr lang="en-US" sz="1000" dirty="0"/>
          </a:p>
        </p:txBody>
      </p:sp>
      <p:sp>
        <p:nvSpPr>
          <p:cNvPr id="21" name="Text 19"/>
          <p:cNvSpPr txBox="1"/>
          <p:nvPr/>
        </p:nvSpPr>
        <p:spPr>
          <a:xfrm>
            <a:off x="685800" y="822960"/>
            <a:ext cx="10789920" cy="685800"/>
          </a:xfrm>
          <a:prstGeom prst="rect">
            <a:avLst/>
          </a:prstGeom>
          <a:noFill/>
          <a:ln/>
        </p:spPr>
        <p:txBody>
          <a:bodyPr wrap="square" lIns="0" tIns="0" rIns="0" bIns="0" rtlCol="0" anchor="ctr"/>
          <a:lstStyle/>
          <a:p>
            <a:pPr indent="0" marL="0">
              <a:buNone/>
            </a:pPr>
            <a:r>
              <a:rPr lang="en-US" sz="3200" b="1" dirty="0">
                <a:solidFill>
                  <a:srgbClr val="F2F6F8"/>
                </a:solidFill>
                <a:latin typeface="Georgia" pitchFamily="34" charset="0"/>
                <a:ea typeface="Georgia" pitchFamily="34" charset="-122"/>
                <a:cs typeface="Georgia" pitchFamily="34" charset="-120"/>
              </a:rPr>
              <a:t>Where analytics ends and judgement begins</a:t>
            </a:r>
            <a:endParaRPr lang="en-US" sz="3200" dirty="0"/>
          </a:p>
        </p:txBody>
      </p:sp>
      <p:sp>
        <p:nvSpPr>
          <p:cNvPr id="22" name="Shape 20"/>
          <p:cNvSpPr/>
          <p:nvPr/>
        </p:nvSpPr>
        <p:spPr>
          <a:xfrm>
            <a:off x="685800" y="1664208"/>
            <a:ext cx="2011680" cy="41148"/>
          </a:xfrm>
          <a:prstGeom prst="rect">
            <a:avLst/>
          </a:prstGeom>
          <a:solidFill>
            <a:srgbClr val="38C6D9"/>
          </a:solidFill>
          <a:ln w="12700">
            <a:solidFill>
              <a:srgbClr val="333333"/>
            </a:solidFill>
            <a:prstDash val="solid"/>
          </a:ln>
        </p:spPr>
      </p:sp>
      <p:sp>
        <p:nvSpPr>
          <p:cNvPr id="23" name="Shape 21"/>
          <p:cNvSpPr/>
          <p:nvPr/>
        </p:nvSpPr>
        <p:spPr>
          <a:xfrm>
            <a:off x="685800" y="2057400"/>
            <a:ext cx="4846320" cy="493776"/>
          </a:xfrm>
          <a:prstGeom prst="rect">
            <a:avLst/>
          </a:prstGeom>
          <a:solidFill>
            <a:srgbClr val="112532"/>
          </a:solidFill>
          <a:ln w="12700">
            <a:solidFill>
              <a:srgbClr val="1E3A4C"/>
            </a:solidFill>
            <a:prstDash val="solid"/>
          </a:ln>
        </p:spPr>
      </p:sp>
      <p:sp>
        <p:nvSpPr>
          <p:cNvPr id="24" name="Shape 22"/>
          <p:cNvSpPr/>
          <p:nvPr/>
        </p:nvSpPr>
        <p:spPr>
          <a:xfrm>
            <a:off x="685800" y="2057400"/>
            <a:ext cx="41148" cy="493776"/>
          </a:xfrm>
          <a:prstGeom prst="rect">
            <a:avLst/>
          </a:prstGeom>
          <a:solidFill>
            <a:srgbClr val="1B7A8C"/>
          </a:solidFill>
          <a:ln w="12700">
            <a:solidFill>
              <a:srgbClr val="333333"/>
            </a:solidFill>
            <a:prstDash val="solid"/>
          </a:ln>
        </p:spPr>
      </p:sp>
      <p:sp>
        <p:nvSpPr>
          <p:cNvPr id="25" name="Text 23"/>
          <p:cNvSpPr txBox="1"/>
          <p:nvPr/>
        </p:nvSpPr>
        <p:spPr>
          <a:xfrm>
            <a:off x="1005840" y="2157984"/>
            <a:ext cx="4297680" cy="310896"/>
          </a:xfrm>
          <a:prstGeom prst="rect">
            <a:avLst/>
          </a:prstGeom>
          <a:noFill/>
          <a:ln/>
        </p:spPr>
        <p:txBody>
          <a:bodyPr wrap="square" lIns="0" tIns="0" rIns="0" bIns="0" rtlCol="0" anchor="ctr"/>
          <a:lstStyle/>
          <a:p>
            <a:pPr indent="0" marL="0">
              <a:buNone/>
            </a:pPr>
            <a:r>
              <a:rPr lang="en-US" sz="1300" dirty="0">
                <a:solidFill>
                  <a:srgbClr val="F2F6F8"/>
                </a:solidFill>
                <a:latin typeface="Trebuchet MS" pitchFamily="34" charset="0"/>
                <a:ea typeface="Trebuchet MS" pitchFamily="34" charset="-122"/>
                <a:cs typeface="Trebuchet MS" pitchFamily="34" charset="-120"/>
              </a:rPr>
              <a:t>Analytics screening</a:t>
            </a:r>
            <a:endParaRPr lang="en-US" sz="1300" dirty="0"/>
          </a:p>
        </p:txBody>
      </p:sp>
      <p:sp>
        <p:nvSpPr>
          <p:cNvPr id="26" name="Shape 24"/>
          <p:cNvSpPr/>
          <p:nvPr/>
        </p:nvSpPr>
        <p:spPr>
          <a:xfrm>
            <a:off x="685800" y="2660904"/>
            <a:ext cx="4846320" cy="493776"/>
          </a:xfrm>
          <a:prstGeom prst="rect">
            <a:avLst/>
          </a:prstGeom>
          <a:solidFill>
            <a:srgbClr val="112532"/>
          </a:solidFill>
          <a:ln w="12700">
            <a:solidFill>
              <a:srgbClr val="1E3A4C"/>
            </a:solidFill>
            <a:prstDash val="solid"/>
          </a:ln>
        </p:spPr>
      </p:sp>
      <p:sp>
        <p:nvSpPr>
          <p:cNvPr id="27" name="Shape 25"/>
          <p:cNvSpPr/>
          <p:nvPr/>
        </p:nvSpPr>
        <p:spPr>
          <a:xfrm>
            <a:off x="685800" y="2660904"/>
            <a:ext cx="41148" cy="493776"/>
          </a:xfrm>
          <a:prstGeom prst="rect">
            <a:avLst/>
          </a:prstGeom>
          <a:solidFill>
            <a:srgbClr val="1B7A8C"/>
          </a:solidFill>
          <a:ln w="12700">
            <a:solidFill>
              <a:srgbClr val="333333"/>
            </a:solidFill>
            <a:prstDash val="solid"/>
          </a:ln>
        </p:spPr>
      </p:sp>
      <p:sp>
        <p:nvSpPr>
          <p:cNvPr id="28" name="Text 26"/>
          <p:cNvSpPr txBox="1"/>
          <p:nvPr/>
        </p:nvSpPr>
        <p:spPr>
          <a:xfrm>
            <a:off x="1005840" y="2761488"/>
            <a:ext cx="4297680" cy="310896"/>
          </a:xfrm>
          <a:prstGeom prst="rect">
            <a:avLst/>
          </a:prstGeom>
          <a:noFill/>
          <a:ln/>
        </p:spPr>
        <p:txBody>
          <a:bodyPr wrap="square" lIns="0" tIns="0" rIns="0" bIns="0" rtlCol="0" anchor="ctr"/>
          <a:lstStyle/>
          <a:p>
            <a:pPr indent="0" marL="0">
              <a:buNone/>
            </a:pPr>
            <a:r>
              <a:rPr lang="en-US" sz="1300" dirty="0">
                <a:solidFill>
                  <a:srgbClr val="F2F6F8"/>
                </a:solidFill>
                <a:latin typeface="Trebuchet MS" pitchFamily="34" charset="0"/>
                <a:ea typeface="Trebuchet MS" pitchFamily="34" charset="-122"/>
                <a:cs typeface="Trebuchet MS" pitchFamily="34" charset="-120"/>
              </a:rPr>
              <a:t>Model explanation</a:t>
            </a:r>
            <a:endParaRPr lang="en-US" sz="1300" dirty="0"/>
          </a:p>
        </p:txBody>
      </p:sp>
      <p:sp>
        <p:nvSpPr>
          <p:cNvPr id="29" name="Shape 27"/>
          <p:cNvSpPr/>
          <p:nvPr/>
        </p:nvSpPr>
        <p:spPr>
          <a:xfrm>
            <a:off x="685800" y="3264408"/>
            <a:ext cx="4846320" cy="493776"/>
          </a:xfrm>
          <a:prstGeom prst="rect">
            <a:avLst/>
          </a:prstGeom>
          <a:solidFill>
            <a:srgbClr val="112532"/>
          </a:solidFill>
          <a:ln w="12700">
            <a:solidFill>
              <a:srgbClr val="1E3A4C"/>
            </a:solidFill>
            <a:prstDash val="solid"/>
          </a:ln>
        </p:spPr>
      </p:sp>
      <p:sp>
        <p:nvSpPr>
          <p:cNvPr id="30" name="Shape 28"/>
          <p:cNvSpPr/>
          <p:nvPr/>
        </p:nvSpPr>
        <p:spPr>
          <a:xfrm>
            <a:off x="685800" y="3264408"/>
            <a:ext cx="41148" cy="493776"/>
          </a:xfrm>
          <a:prstGeom prst="rect">
            <a:avLst/>
          </a:prstGeom>
          <a:solidFill>
            <a:srgbClr val="1B7A8C"/>
          </a:solidFill>
          <a:ln w="12700">
            <a:solidFill>
              <a:srgbClr val="333333"/>
            </a:solidFill>
            <a:prstDash val="solid"/>
          </a:ln>
        </p:spPr>
      </p:sp>
      <p:sp>
        <p:nvSpPr>
          <p:cNvPr id="31" name="Text 29"/>
          <p:cNvSpPr txBox="1"/>
          <p:nvPr/>
        </p:nvSpPr>
        <p:spPr>
          <a:xfrm>
            <a:off x="1005840" y="3364992"/>
            <a:ext cx="4297680" cy="310896"/>
          </a:xfrm>
          <a:prstGeom prst="rect">
            <a:avLst/>
          </a:prstGeom>
          <a:noFill/>
          <a:ln/>
        </p:spPr>
        <p:txBody>
          <a:bodyPr wrap="square" lIns="0" tIns="0" rIns="0" bIns="0" rtlCol="0" anchor="ctr"/>
          <a:lstStyle/>
          <a:p>
            <a:pPr indent="0" marL="0">
              <a:buNone/>
            </a:pPr>
            <a:r>
              <a:rPr lang="en-US" sz="1300" dirty="0">
                <a:solidFill>
                  <a:srgbClr val="F2F6F8"/>
                </a:solidFill>
                <a:latin typeface="Trebuchet MS" pitchFamily="34" charset="0"/>
                <a:ea typeface="Trebuchet MS" pitchFamily="34" charset="-122"/>
                <a:cs typeface="Trebuchet MS" pitchFamily="34" charset="-120"/>
              </a:rPr>
              <a:t>Risk assessment</a:t>
            </a:r>
            <a:endParaRPr lang="en-US" sz="1300" dirty="0"/>
          </a:p>
        </p:txBody>
      </p:sp>
      <p:sp>
        <p:nvSpPr>
          <p:cNvPr id="32" name="Shape 30"/>
          <p:cNvSpPr/>
          <p:nvPr/>
        </p:nvSpPr>
        <p:spPr>
          <a:xfrm>
            <a:off x="685800" y="3867912"/>
            <a:ext cx="4846320" cy="493776"/>
          </a:xfrm>
          <a:prstGeom prst="rect">
            <a:avLst/>
          </a:prstGeom>
          <a:solidFill>
            <a:srgbClr val="112532"/>
          </a:solidFill>
          <a:ln w="12700">
            <a:solidFill>
              <a:srgbClr val="1E3A4C"/>
            </a:solidFill>
            <a:prstDash val="solid"/>
          </a:ln>
        </p:spPr>
      </p:sp>
      <p:sp>
        <p:nvSpPr>
          <p:cNvPr id="33" name="Shape 31"/>
          <p:cNvSpPr/>
          <p:nvPr/>
        </p:nvSpPr>
        <p:spPr>
          <a:xfrm>
            <a:off x="685800" y="3867912"/>
            <a:ext cx="41148" cy="493776"/>
          </a:xfrm>
          <a:prstGeom prst="rect">
            <a:avLst/>
          </a:prstGeom>
          <a:solidFill>
            <a:srgbClr val="1B7A8C"/>
          </a:solidFill>
          <a:ln w="12700">
            <a:solidFill>
              <a:srgbClr val="333333"/>
            </a:solidFill>
            <a:prstDash val="solid"/>
          </a:ln>
        </p:spPr>
      </p:sp>
      <p:sp>
        <p:nvSpPr>
          <p:cNvPr id="34" name="Text 32"/>
          <p:cNvSpPr txBox="1"/>
          <p:nvPr/>
        </p:nvSpPr>
        <p:spPr>
          <a:xfrm>
            <a:off x="1005840" y="3968496"/>
            <a:ext cx="4297680" cy="310896"/>
          </a:xfrm>
          <a:prstGeom prst="rect">
            <a:avLst/>
          </a:prstGeom>
          <a:noFill/>
          <a:ln/>
        </p:spPr>
        <p:txBody>
          <a:bodyPr wrap="square" lIns="0" tIns="0" rIns="0" bIns="0" rtlCol="0" anchor="ctr"/>
          <a:lstStyle/>
          <a:p>
            <a:pPr indent="0" marL="0">
              <a:buNone/>
            </a:pPr>
            <a:r>
              <a:rPr lang="en-US" sz="1300" dirty="0">
                <a:solidFill>
                  <a:srgbClr val="F2F6F8"/>
                </a:solidFill>
                <a:latin typeface="Trebuchet MS" pitchFamily="34" charset="0"/>
                <a:ea typeface="Trebuchet MS" pitchFamily="34" charset="-122"/>
                <a:cs typeface="Trebuchet MS" pitchFamily="34" charset="-120"/>
              </a:rPr>
              <a:t>Portfolio optimisation</a:t>
            </a:r>
            <a:endParaRPr lang="en-US" sz="1300" dirty="0"/>
          </a:p>
        </p:txBody>
      </p:sp>
      <p:sp>
        <p:nvSpPr>
          <p:cNvPr id="35" name="Shape 33"/>
          <p:cNvSpPr/>
          <p:nvPr/>
        </p:nvSpPr>
        <p:spPr>
          <a:xfrm>
            <a:off x="685800" y="4572000"/>
            <a:ext cx="4846320" cy="22860"/>
          </a:xfrm>
          <a:prstGeom prst="rect">
            <a:avLst/>
          </a:prstGeom>
          <a:solidFill>
            <a:srgbClr val="F0A63C"/>
          </a:solidFill>
          <a:ln w="12700">
            <a:solidFill>
              <a:srgbClr val="333333"/>
            </a:solidFill>
            <a:prstDash val="solid"/>
          </a:ln>
        </p:spPr>
      </p:sp>
      <p:sp>
        <p:nvSpPr>
          <p:cNvPr id="36" name="Text 34"/>
          <p:cNvSpPr txBox="1"/>
          <p:nvPr/>
        </p:nvSpPr>
        <p:spPr>
          <a:xfrm>
            <a:off x="685800" y="4654296"/>
            <a:ext cx="4846320" cy="274320"/>
          </a:xfrm>
          <a:prstGeom prst="rect">
            <a:avLst/>
          </a:prstGeom>
          <a:noFill/>
          <a:ln/>
        </p:spPr>
        <p:txBody>
          <a:bodyPr wrap="square" lIns="0" tIns="0" rIns="0" bIns="0" rtlCol="0" anchor="ctr"/>
          <a:lstStyle/>
          <a:p>
            <a:pPr algn="ctr" indent="0" marL="0">
              <a:buNone/>
            </a:pPr>
            <a:r>
              <a:rPr lang="en-US" sz="900" b="1" spc="200" kern="0" dirty="0">
                <a:solidFill>
                  <a:srgbClr val="F0A63C"/>
                </a:solidFill>
                <a:latin typeface="Consolas" pitchFamily="34" charset="0"/>
                <a:ea typeface="Consolas" pitchFamily="34" charset="-122"/>
                <a:cs typeface="Consolas" pitchFamily="34" charset="-120"/>
              </a:rPr>
              <a:t>ANALYTICS ENDS HERE</a:t>
            </a:r>
            <a:endParaRPr lang="en-US" sz="900" dirty="0"/>
          </a:p>
        </p:txBody>
      </p:sp>
      <p:sp>
        <p:nvSpPr>
          <p:cNvPr id="37" name="Shape 35"/>
          <p:cNvSpPr/>
          <p:nvPr/>
        </p:nvSpPr>
        <p:spPr>
          <a:xfrm>
            <a:off x="685800" y="5029200"/>
            <a:ext cx="4846320" cy="411480"/>
          </a:xfrm>
          <a:prstGeom prst="rect">
            <a:avLst/>
          </a:prstGeom>
          <a:solidFill>
            <a:srgbClr val="2B2318"/>
          </a:solidFill>
          <a:ln w="12700">
            <a:solidFill>
              <a:srgbClr val="5A4526"/>
            </a:solidFill>
            <a:prstDash val="solid"/>
          </a:ln>
        </p:spPr>
      </p:sp>
      <p:sp>
        <p:nvSpPr>
          <p:cNvPr id="38" name="Shape 36"/>
          <p:cNvSpPr/>
          <p:nvPr/>
        </p:nvSpPr>
        <p:spPr>
          <a:xfrm>
            <a:off x="685800" y="5029200"/>
            <a:ext cx="41148" cy="411480"/>
          </a:xfrm>
          <a:prstGeom prst="rect">
            <a:avLst/>
          </a:prstGeom>
          <a:solidFill>
            <a:srgbClr val="F0A63C"/>
          </a:solidFill>
          <a:ln w="12700">
            <a:solidFill>
              <a:srgbClr val="333333"/>
            </a:solidFill>
            <a:prstDash val="solid"/>
          </a:ln>
        </p:spPr>
      </p:sp>
      <p:sp>
        <p:nvSpPr>
          <p:cNvPr id="39" name="Text 37"/>
          <p:cNvSpPr txBox="1"/>
          <p:nvPr/>
        </p:nvSpPr>
        <p:spPr>
          <a:xfrm>
            <a:off x="1005840" y="5093208"/>
            <a:ext cx="4297680" cy="292608"/>
          </a:xfrm>
          <a:prstGeom prst="rect">
            <a:avLst/>
          </a:prstGeom>
          <a:noFill/>
          <a:ln/>
        </p:spPr>
        <p:txBody>
          <a:bodyPr wrap="square" lIns="0" tIns="0" rIns="0" bIns="0" rtlCol="0" anchor="ctr"/>
          <a:lstStyle/>
          <a:p>
            <a:pPr indent="0" marL="0">
              <a:buNone/>
            </a:pPr>
            <a:r>
              <a:rPr lang="en-US" sz="1250" dirty="0">
                <a:solidFill>
                  <a:srgbClr val="F0DFC4"/>
                </a:solidFill>
                <a:latin typeface="Trebuchet MS" pitchFamily="34" charset="0"/>
                <a:ea typeface="Trebuchet MS" pitchFamily="34" charset="-122"/>
                <a:cs typeface="Trebuchet MS" pitchFamily="34" charset="-120"/>
              </a:rPr>
              <a:t>Scouting</a:t>
            </a:r>
            <a:endParaRPr lang="en-US" sz="1250" dirty="0"/>
          </a:p>
        </p:txBody>
      </p:sp>
      <p:sp>
        <p:nvSpPr>
          <p:cNvPr id="40" name="Shape 38"/>
          <p:cNvSpPr/>
          <p:nvPr/>
        </p:nvSpPr>
        <p:spPr>
          <a:xfrm>
            <a:off x="685800" y="5532120"/>
            <a:ext cx="4846320" cy="411480"/>
          </a:xfrm>
          <a:prstGeom prst="rect">
            <a:avLst/>
          </a:prstGeom>
          <a:solidFill>
            <a:srgbClr val="2B2318"/>
          </a:solidFill>
          <a:ln w="12700">
            <a:solidFill>
              <a:srgbClr val="5A4526"/>
            </a:solidFill>
            <a:prstDash val="solid"/>
          </a:ln>
        </p:spPr>
      </p:sp>
      <p:sp>
        <p:nvSpPr>
          <p:cNvPr id="41" name="Shape 39"/>
          <p:cNvSpPr/>
          <p:nvPr/>
        </p:nvSpPr>
        <p:spPr>
          <a:xfrm>
            <a:off x="685800" y="5532120"/>
            <a:ext cx="41148" cy="411480"/>
          </a:xfrm>
          <a:prstGeom prst="rect">
            <a:avLst/>
          </a:prstGeom>
          <a:solidFill>
            <a:srgbClr val="F0A63C"/>
          </a:solidFill>
          <a:ln w="12700">
            <a:solidFill>
              <a:srgbClr val="333333"/>
            </a:solidFill>
            <a:prstDash val="solid"/>
          </a:ln>
        </p:spPr>
      </p:sp>
      <p:sp>
        <p:nvSpPr>
          <p:cNvPr id="42" name="Text 40"/>
          <p:cNvSpPr txBox="1"/>
          <p:nvPr/>
        </p:nvSpPr>
        <p:spPr>
          <a:xfrm>
            <a:off x="1005840" y="5596128"/>
            <a:ext cx="4297680" cy="292608"/>
          </a:xfrm>
          <a:prstGeom prst="rect">
            <a:avLst/>
          </a:prstGeom>
          <a:noFill/>
          <a:ln/>
        </p:spPr>
        <p:txBody>
          <a:bodyPr wrap="square" lIns="0" tIns="0" rIns="0" bIns="0" rtlCol="0" anchor="ctr"/>
          <a:lstStyle/>
          <a:p>
            <a:pPr indent="0" marL="0">
              <a:buNone/>
            </a:pPr>
            <a:r>
              <a:rPr lang="en-US" sz="1250" dirty="0">
                <a:solidFill>
                  <a:srgbClr val="F0DFC4"/>
                </a:solidFill>
                <a:latin typeface="Trebuchet MS" pitchFamily="34" charset="0"/>
                <a:ea typeface="Trebuchet MS" pitchFamily="34" charset="-122"/>
                <a:cs typeface="Trebuchet MS" pitchFamily="34" charset="-120"/>
              </a:rPr>
              <a:t>Medical · contract · tactical</a:t>
            </a:r>
            <a:endParaRPr lang="en-US" sz="1250" dirty="0"/>
          </a:p>
        </p:txBody>
      </p:sp>
      <p:sp>
        <p:nvSpPr>
          <p:cNvPr id="43" name="Shape 41"/>
          <p:cNvSpPr/>
          <p:nvPr/>
        </p:nvSpPr>
        <p:spPr>
          <a:xfrm>
            <a:off x="685800" y="6035040"/>
            <a:ext cx="4846320" cy="411480"/>
          </a:xfrm>
          <a:prstGeom prst="rect">
            <a:avLst/>
          </a:prstGeom>
          <a:solidFill>
            <a:srgbClr val="2B2318"/>
          </a:solidFill>
          <a:ln w="12700">
            <a:solidFill>
              <a:srgbClr val="5A4526"/>
            </a:solidFill>
            <a:prstDash val="solid"/>
          </a:ln>
        </p:spPr>
      </p:sp>
      <p:sp>
        <p:nvSpPr>
          <p:cNvPr id="44" name="Shape 42"/>
          <p:cNvSpPr/>
          <p:nvPr/>
        </p:nvSpPr>
        <p:spPr>
          <a:xfrm>
            <a:off x="685800" y="6035040"/>
            <a:ext cx="41148" cy="411480"/>
          </a:xfrm>
          <a:prstGeom prst="rect">
            <a:avLst/>
          </a:prstGeom>
          <a:solidFill>
            <a:srgbClr val="F0A63C"/>
          </a:solidFill>
          <a:ln w="12700">
            <a:solidFill>
              <a:srgbClr val="333333"/>
            </a:solidFill>
            <a:prstDash val="solid"/>
          </a:ln>
        </p:spPr>
      </p:sp>
      <p:sp>
        <p:nvSpPr>
          <p:cNvPr id="45" name="Text 43"/>
          <p:cNvSpPr txBox="1"/>
          <p:nvPr/>
        </p:nvSpPr>
        <p:spPr>
          <a:xfrm>
            <a:off x="1005840" y="6099048"/>
            <a:ext cx="4297680" cy="292608"/>
          </a:xfrm>
          <a:prstGeom prst="rect">
            <a:avLst/>
          </a:prstGeom>
          <a:noFill/>
          <a:ln/>
        </p:spPr>
        <p:txBody>
          <a:bodyPr wrap="square" lIns="0" tIns="0" rIns="0" bIns="0" rtlCol="0" anchor="ctr"/>
          <a:lstStyle/>
          <a:p>
            <a:pPr indent="0" marL="0">
              <a:buNone/>
            </a:pPr>
            <a:r>
              <a:rPr lang="en-US" sz="1250" dirty="0">
                <a:solidFill>
                  <a:srgbClr val="F0DFC4"/>
                </a:solidFill>
                <a:latin typeface="Trebuchet MS" pitchFamily="34" charset="0"/>
                <a:ea typeface="Trebuchet MS" pitchFamily="34" charset="-122"/>
                <a:cs typeface="Trebuchet MS" pitchFamily="34" charset="-120"/>
              </a:rPr>
              <a:t>Transfer committee decision</a:t>
            </a:r>
            <a:endParaRPr lang="en-US" sz="1250" dirty="0"/>
          </a:p>
        </p:txBody>
      </p:sp>
      <p:sp>
        <p:nvSpPr>
          <p:cNvPr id="46" name="Text 44"/>
          <p:cNvSpPr txBox="1"/>
          <p:nvPr/>
        </p:nvSpPr>
        <p:spPr>
          <a:xfrm>
            <a:off x="6355080" y="2377440"/>
            <a:ext cx="5120640" cy="1828800"/>
          </a:xfrm>
          <a:prstGeom prst="rect">
            <a:avLst/>
          </a:prstGeom>
          <a:noFill/>
          <a:ln/>
        </p:spPr>
        <p:txBody>
          <a:bodyPr wrap="square" lIns="0" tIns="0" rIns="0" bIns="0" rtlCol="0" anchor="ctr"/>
          <a:lstStyle/>
          <a:p>
            <a:pPr indent="0" marL="0">
              <a:lnSpc>
                <a:spcPts val="3300"/>
              </a:lnSpc>
              <a:buNone/>
            </a:pPr>
            <a:r>
              <a:rPr lang="en-US" sz="2300" b="1" dirty="0">
                <a:solidFill>
                  <a:srgbClr val="F2F6F8"/>
                </a:solidFill>
                <a:latin typeface="Georgia" pitchFamily="34" charset="0"/>
                <a:ea typeface="Georgia" pitchFamily="34" charset="-122"/>
                <a:cs typeface="Georgia" pitchFamily="34" charset="-120"/>
              </a:rPr>
              <a:t>AI does not replace the recruitment committee.</a:t>
            </a:r>
            <a:endParaRPr lang="en-US" sz="2300" dirty="0"/>
          </a:p>
          <a:p>
            <a:pPr indent="0" marL="0">
              <a:lnSpc>
                <a:spcPts val="3300"/>
              </a:lnSpc>
              <a:buNone/>
            </a:pPr>
            <a:r>
              <a:rPr lang="en-US" sz="2300" b="1" dirty="0">
                <a:solidFill>
                  <a:srgbClr val="F2F6F8"/>
                </a:solidFill>
                <a:latin typeface="Georgia" pitchFamily="34" charset="0"/>
                <a:ea typeface="Georgia" pitchFamily="34" charset="-122"/>
                <a:cs typeface="Georgia" pitchFamily="34" charset="-120"/>
              </a:rPr>
              <a:t>It helps the committee investigate the right players for the right reasons.</a:t>
            </a:r>
            <a:endParaRPr lang="en-US" sz="2300" dirty="0"/>
          </a:p>
        </p:txBody>
      </p:sp>
      <p:sp>
        <p:nvSpPr>
          <p:cNvPr id="47" name="Shape 45"/>
          <p:cNvSpPr/>
          <p:nvPr/>
        </p:nvSpPr>
        <p:spPr>
          <a:xfrm>
            <a:off x="6355080" y="4434840"/>
            <a:ext cx="1828800" cy="41148"/>
          </a:xfrm>
          <a:prstGeom prst="rect">
            <a:avLst/>
          </a:prstGeom>
          <a:solidFill>
            <a:srgbClr val="38C6D9"/>
          </a:solidFill>
          <a:ln w="12700">
            <a:solidFill>
              <a:srgbClr val="333333"/>
            </a:solidFill>
            <a:prstDash val="solid"/>
          </a:ln>
        </p:spPr>
      </p:sp>
      <p:sp>
        <p:nvSpPr>
          <p:cNvPr id="48" name="Text 46"/>
          <p:cNvSpPr txBox="1"/>
          <p:nvPr/>
        </p:nvSpPr>
        <p:spPr>
          <a:xfrm>
            <a:off x="6355080" y="4663440"/>
            <a:ext cx="5120640" cy="1280160"/>
          </a:xfrm>
          <a:prstGeom prst="rect">
            <a:avLst/>
          </a:prstGeom>
          <a:noFill/>
          <a:ln/>
        </p:spPr>
        <p:txBody>
          <a:bodyPr wrap="square" lIns="0" tIns="0" rIns="0" bIns="0" rtlCol="0" anchor="ctr"/>
          <a:lstStyle/>
          <a:p>
            <a:pPr indent="0" marL="0">
              <a:lnSpc>
                <a:spcPts val="1900"/>
              </a:lnSpc>
              <a:buNone/>
            </a:pPr>
            <a:r>
              <a:rPr lang="en-US" sz="1250" dirty="0">
                <a:solidFill>
                  <a:srgbClr val="AFC4CF"/>
                </a:solidFill>
                <a:latin typeface="Trebuchet MS" pitchFamily="34" charset="0"/>
                <a:ea typeface="Trebuchet MS" pitchFamily="34" charset="-122"/>
                <a:cs typeface="Trebuchet MS" pitchFamily="34" charset="-120"/>
              </a:rPr>
              <a:t>The project began by asking whether AI could find undervalued footballers. It ends with a more useful answer: a valuation model's disagreement with the market is a question to investigate, not an opportunity to exploit.</a:t>
            </a:r>
            <a:endParaRPr lang="en-US" sz="1250" dirty="0"/>
          </a:p>
        </p:txBody>
      </p:sp>
      <p:sp>
        <p:nvSpPr>
          <p:cNvPr id="49" name="Text 47"/>
          <p:cNvSpPr txBox="1"/>
          <p:nvPr/>
        </p:nvSpPr>
        <p:spPr>
          <a:xfrm>
            <a:off x="10972800" y="6355080"/>
            <a:ext cx="822960" cy="256032"/>
          </a:xfrm>
          <a:prstGeom prst="rect">
            <a:avLst/>
          </a:prstGeom>
          <a:noFill/>
          <a:ln/>
        </p:spPr>
        <p:txBody>
          <a:bodyPr wrap="square" lIns="0" tIns="0" rIns="0" bIns="0" rtlCol="0" anchor="ctr"/>
          <a:lstStyle/>
          <a:p>
            <a:pPr algn="r" indent="0" marL="0">
              <a:buNone/>
            </a:pPr>
            <a:r>
              <a:rPr lang="en-US" sz="900" spc="120" kern="0" dirty="0">
                <a:solidFill>
                  <a:srgbClr val="1B7A8C"/>
                </a:solidFill>
                <a:latin typeface="Consolas" pitchFamily="34" charset="0"/>
                <a:ea typeface="Consolas" pitchFamily="34" charset="-122"/>
                <a:cs typeface="Consolas" pitchFamily="34" charset="-120"/>
              </a:rPr>
              <a:t>16 / 16</a:t>
            </a:r>
            <a:endParaRPr lang="en-US" sz="900" dirty="0"/>
          </a:p>
        </p:txBody>
      </p:sp>
      <p:sp>
        <p:nvSpPr>
          <p:cNvPr id="50" name="Text 48"/>
          <p:cNvSpPr txBox="1"/>
          <p:nvPr/>
        </p:nvSpPr>
        <p:spPr>
          <a:xfrm>
            <a:off x="685800" y="6355080"/>
            <a:ext cx="3657600" cy="256032"/>
          </a:xfrm>
          <a:prstGeom prst="rect">
            <a:avLst/>
          </a:prstGeom>
          <a:noFill/>
          <a:ln/>
        </p:spPr>
        <p:txBody>
          <a:bodyPr wrap="square" lIns="0" tIns="0" rIns="0" bIns="0" rtlCol="0" anchor="ctr"/>
          <a:lstStyle/>
          <a:p>
            <a:pPr indent="0" marL="0">
              <a:buNone/>
            </a:pPr>
            <a:r>
              <a:rPr lang="en-US" sz="850" spc="200" kern="0" dirty="0">
                <a:solidFill>
                  <a:srgbClr val="2C4A5C"/>
                </a:solidFill>
                <a:latin typeface="Consolas" pitchFamily="34" charset="0"/>
                <a:ea typeface="Consolas" pitchFamily="34" charset="-122"/>
                <a:cs typeface="Consolas" pitchFamily="34" charset="-120"/>
              </a:rPr>
              <a:t>BEYOND THE PRICE TAG</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Price Tag</dc:title>
  <dc:subject>PptxGenJS Presentation</dc:subject>
  <dc:creator>Gudladona Venkata Rahul</dc:creator>
  <cp:lastModifiedBy>Gudladona Venkata Rahul</cp:lastModifiedBy>
  <cp:revision>1</cp:revision>
  <dcterms:created xsi:type="dcterms:W3CDTF">2026-09-05T15:55:39Z</dcterms:created>
  <dcterms:modified xsi:type="dcterms:W3CDTF">2026-09-05T15:55:39Z</dcterms:modified>
</cp:coreProperties>
</file>